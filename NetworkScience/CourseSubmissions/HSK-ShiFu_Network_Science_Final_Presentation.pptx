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4.xml" ContentType="application/vnd.openxmlformats-officedocument.drawingml.chart+xml"/>
  <Override PartName="/ppt/notesSlides/notesSlide6.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7.xml" ContentType="application/vnd.openxmlformats-officedocument.presentationml.notesSlide+xml"/>
  <Override PartName="/ppt/charts/chart7.xml" ContentType="application/vnd.openxmlformats-officedocument.drawingml.chart+xml"/>
  <Override PartName="/ppt/notesSlides/notesSlide8.xml" ContentType="application/vnd.openxmlformats-officedocument.presentationml.notesSlide+xml"/>
  <Override PartName="/ppt/charts/chart8.xml" ContentType="application/vnd.openxmlformats-officedocument.drawingml.chart+xml"/>
  <Override PartName="/ppt/notesSlides/notesSlide9.xml" ContentType="application/vnd.openxmlformats-officedocument.presentationml.notesSlide+xml"/>
  <Override PartName="/ppt/charts/chart9.xml" ContentType="application/vnd.openxmlformats-officedocument.drawingml.chart+xml"/>
  <Override PartName="/ppt/notesSlides/notesSlide10.xml" ContentType="application/vnd.openxmlformats-officedocument.presentationml.notesSlide+xml"/>
  <Override PartName="/ppt/charts/chart10.xml" ContentType="application/vnd.openxmlformats-officedocument.drawingml.chart+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3552" autoAdjust="0"/>
  </p:normalViewPr>
  <p:slideViewPr>
    <p:cSldViewPr snapToGrid="0" snapToObjects="1">
      <p:cViewPr varScale="1">
        <p:scale>
          <a:sx n="117" d="100"/>
          <a:sy n="117" d="100"/>
        </p:scale>
        <p:origin x="643"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bar"/>
        <c:grouping val="clustered"/>
        <c:varyColors val="0"/>
        <c:ser>
          <c:idx val="0"/>
          <c:order val="0"/>
          <c:tx>
            <c:strRef>
              <c:f>Sheet1!$B$1</c:f>
              <c:strCache>
                <c:ptCount val="1"/>
                <c:pt idx="0">
                  <c:v>Nodes</c:v>
                </c:pt>
              </c:strCache>
            </c:strRef>
          </c:tx>
          <c:spPr>
            <a:solidFill>
              <a:srgbClr val="3987E5"/>
            </a:solidFill>
            <a:effectLst/>
          </c:spPr>
          <c:invertIfNegative val="0"/>
          <c:dLbls>
            <c:numFmt formatCode="#,##0" sourceLinked="0"/>
            <c:spPr>
              <a:noFill/>
              <a:ln>
                <a:noFill/>
              </a:ln>
              <a:effectLst/>
            </c:spPr>
            <c:txPr>
              <a:bodyPr/>
              <a:lstStyle/>
              <a:p>
                <a:pPr>
                  <a:defRPr sz="1200" b="0" i="0" u="none" strike="noStrike">
                    <a:solidFill>
                      <a:srgbClr val="F2F4F8"/>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Sentence</c:v>
                </c:pt>
                <c:pt idx="1">
                  <c:v>Character</c:v>
                </c:pt>
                <c:pt idx="2">
                  <c:v>Word</c:v>
                </c:pt>
                <c:pt idx="3">
                  <c:v>Grammar point</c:v>
                </c:pt>
                <c:pt idx="4">
                  <c:v>Pronunciation</c:v>
                </c:pt>
                <c:pt idx="5">
                  <c:v>Text (dialogue)</c:v>
                </c:pt>
                <c:pt idx="6">
                  <c:v>Radical</c:v>
                </c:pt>
                <c:pt idx="7">
                  <c:v>Culture note</c:v>
                </c:pt>
                <c:pt idx="8">
                  <c:v>Lesson</c:v>
                </c:pt>
                <c:pt idx="9">
                  <c:v>Book</c:v>
                </c:pt>
              </c:strCache>
            </c:strRef>
          </c:cat>
          <c:val>
            <c:numRef>
              <c:f>Sheet1!$B$2:$B$11</c:f>
              <c:numCache>
                <c:formatCode>General</c:formatCode>
                <c:ptCount val="10"/>
                <c:pt idx="0">
                  <c:v>2850</c:v>
                </c:pt>
                <c:pt idx="1">
                  <c:v>932</c:v>
                </c:pt>
                <c:pt idx="2">
                  <c:v>651</c:v>
                </c:pt>
                <c:pt idx="3">
                  <c:v>311</c:v>
                </c:pt>
                <c:pt idx="4">
                  <c:v>197</c:v>
                </c:pt>
                <c:pt idx="5">
                  <c:v>190</c:v>
                </c:pt>
                <c:pt idx="6">
                  <c:v>122</c:v>
                </c:pt>
                <c:pt idx="7">
                  <c:v>73</c:v>
                </c:pt>
                <c:pt idx="8">
                  <c:v>50</c:v>
                </c:pt>
                <c:pt idx="9">
                  <c:v>3</c:v>
                </c:pt>
              </c:numCache>
            </c:numRef>
          </c:val>
          <c:extLst>
            <c:ext xmlns:c16="http://schemas.microsoft.com/office/drawing/2014/chart" uri="{C3380CC4-5D6E-409C-BE32-E72D297353CC}">
              <c16:uniqueId val="{00000000-F4D2-4AC9-864C-082F90F1758C}"/>
            </c:ext>
          </c:extLst>
        </c:ser>
        <c:dLbls>
          <c:showLegendKey val="0"/>
          <c:showVal val="1"/>
          <c:showCatName val="0"/>
          <c:showSerName val="0"/>
          <c:showPercent val="0"/>
          <c:showBubbleSize val="0"/>
        </c:dLbls>
        <c:gapWidth val="70"/>
        <c:axId val="2094734554"/>
        <c:axId val="2094734552"/>
      </c:barChart>
      <c:catAx>
        <c:axId val="2094734554"/>
        <c:scaling>
          <c:orientation val="maxMin"/>
        </c:scaling>
        <c:delete val="0"/>
        <c:axPos val="l"/>
        <c:numFmt formatCode="General" sourceLinked="1"/>
        <c:majorTickMark val="none"/>
        <c:minorTickMark val="none"/>
        <c:tickLblPos val="nextTo"/>
        <c:spPr>
          <a:ln w="12700" cap="flat">
            <a:noFill/>
            <a:prstDash val="solid"/>
            <a:round/>
          </a:ln>
        </c:spPr>
        <c:txPr>
          <a:bodyPr/>
          <a:lstStyle/>
          <a:p>
            <a:pPr>
              <a:defRPr sz="1200" b="0" i="0" u="none" strike="noStrike">
                <a:solidFill>
                  <a:srgbClr val="B4BCCB"/>
                </a:solidFill>
                <a:latin typeface="+mn-lt"/>
              </a:defRPr>
            </a:pPr>
            <a:endParaRPr lang="en-US"/>
          </a:p>
        </c:txPr>
        <c:crossAx val="2094734552"/>
        <c:crosses val="autoZero"/>
        <c:auto val="1"/>
        <c:lblAlgn val="ctr"/>
        <c:lblOffset val="100"/>
        <c:noMultiLvlLbl val="1"/>
      </c:catAx>
      <c:valAx>
        <c:axId val="2094734552"/>
        <c:scaling>
          <c:orientation val="minMax"/>
          <c:max val="360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bar"/>
        <c:grouping val="clustered"/>
        <c:varyColors val="0"/>
        <c:ser>
          <c:idx val="0"/>
          <c:order val="0"/>
          <c:tx>
            <c:strRef>
              <c:f>Sheet1!$B$1</c:f>
              <c:strCache>
                <c:ptCount val="1"/>
                <c:pt idx="0">
                  <c:v>Links</c:v>
                </c:pt>
              </c:strCache>
            </c:strRef>
          </c:tx>
          <c:spPr>
            <a:solidFill>
              <a:srgbClr val="3987E5"/>
            </a:solidFill>
            <a:effectLst/>
          </c:spPr>
          <c:invertIfNegative val="0"/>
          <c:dLbls>
            <c:numFmt formatCode="#,##0" sourceLinked="0"/>
            <c:spPr>
              <a:noFill/>
              <a:ln>
                <a:noFill/>
              </a:ln>
              <a:effectLst/>
            </c:spPr>
            <c:txPr>
              <a:bodyPr/>
              <a:lstStyle/>
              <a:p>
                <a:pPr>
                  <a:defRPr sz="1200" b="0" i="0" u="none" strike="noStrike">
                    <a:solidFill>
                      <a:srgbClr val="F2F4F8"/>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Sentence → character</c:v>
                </c:pt>
                <c:pt idx="1">
                  <c:v>Sentence → word</c:v>
                </c:pt>
                <c:pt idx="2">
                  <c:v>Lesson → word</c:v>
                </c:pt>
                <c:pt idx="3">
                  <c:v>Sentence → lesson</c:v>
                </c:pt>
                <c:pt idx="4">
                  <c:v>Sentence → grammar</c:v>
                </c:pt>
                <c:pt idx="5">
                  <c:v>Character → word</c:v>
                </c:pt>
                <c:pt idx="6">
                  <c:v>47 other relation types</c:v>
                </c:pt>
              </c:strCache>
            </c:strRef>
          </c:cat>
          <c:val>
            <c:numRef>
              <c:f>Sheet1!$B$2:$B$8</c:f>
              <c:numCache>
                <c:formatCode>General</c:formatCode>
                <c:ptCount val="7"/>
                <c:pt idx="0">
                  <c:v>14057</c:v>
                </c:pt>
                <c:pt idx="1">
                  <c:v>6651</c:v>
                </c:pt>
                <c:pt idx="2">
                  <c:v>3415</c:v>
                </c:pt>
                <c:pt idx="3">
                  <c:v>2845</c:v>
                </c:pt>
                <c:pt idx="4">
                  <c:v>1699</c:v>
                </c:pt>
                <c:pt idx="5">
                  <c:v>1440</c:v>
                </c:pt>
                <c:pt idx="6">
                  <c:v>6312</c:v>
                </c:pt>
              </c:numCache>
            </c:numRef>
          </c:val>
          <c:extLst>
            <c:ext xmlns:c16="http://schemas.microsoft.com/office/drawing/2014/chart" uri="{C3380CC4-5D6E-409C-BE32-E72D297353CC}">
              <c16:uniqueId val="{00000000-574E-4222-ABBE-3549FDFA9D0B}"/>
            </c:ext>
          </c:extLst>
        </c:ser>
        <c:dLbls>
          <c:showLegendKey val="0"/>
          <c:showVal val="1"/>
          <c:showCatName val="0"/>
          <c:showSerName val="0"/>
          <c:showPercent val="0"/>
          <c:showBubbleSize val="0"/>
        </c:dLbls>
        <c:gapWidth val="70"/>
        <c:axId val="2094734554"/>
        <c:axId val="2094734552"/>
      </c:barChart>
      <c:catAx>
        <c:axId val="2094734554"/>
        <c:scaling>
          <c:orientation val="maxMin"/>
        </c:scaling>
        <c:delete val="0"/>
        <c:axPos val="l"/>
        <c:numFmt formatCode="General" sourceLinked="1"/>
        <c:majorTickMark val="none"/>
        <c:minorTickMark val="none"/>
        <c:tickLblPos val="nextTo"/>
        <c:spPr>
          <a:ln w="12700" cap="flat">
            <a:noFill/>
            <a:prstDash val="solid"/>
            <a:round/>
          </a:ln>
        </c:spPr>
        <c:txPr>
          <a:bodyPr/>
          <a:lstStyle/>
          <a:p>
            <a:pPr>
              <a:defRPr sz="1200" b="0" i="0" u="none" strike="noStrike">
                <a:solidFill>
                  <a:srgbClr val="B4BCCB"/>
                </a:solidFill>
                <a:latin typeface="+mn-lt"/>
              </a:defRPr>
            </a:pPr>
            <a:endParaRPr lang="en-US"/>
          </a:p>
        </c:txPr>
        <c:crossAx val="2094734552"/>
        <c:crosses val="autoZero"/>
        <c:auto val="1"/>
        <c:lblAlgn val="ctr"/>
        <c:lblOffset val="100"/>
        <c:noMultiLvlLbl val="1"/>
      </c:catAx>
      <c:valAx>
        <c:axId val="2094734552"/>
        <c:scaling>
          <c:orientation val="minMax"/>
          <c:max val="1750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
          <c:y val="0"/>
          <c:w val="1"/>
          <c:h val="1"/>
        </c:manualLayout>
      </c:layout>
      <c:barChart>
        <c:barDir val="bar"/>
        <c:grouping val="percentStacked"/>
        <c:varyColors val="0"/>
        <c:ser>
          <c:idx val="0"/>
          <c:order val="0"/>
          <c:tx>
            <c:strRef>
              <c:f>Sheet1!$B$1</c:f>
              <c:strCache>
                <c:ptCount val="1"/>
                <c:pt idx="0">
                  <c:v>Stated in the text</c:v>
                </c:pt>
              </c:strCache>
            </c:strRef>
          </c:tx>
          <c:spPr>
            <a:solidFill>
              <a:srgbClr val="3987E5"/>
            </a:solidFill>
            <a:effectLst/>
          </c:spPr>
          <c:invertIfNegative val="0"/>
          <c:cat>
            <c:strRef>
              <c:f>Sheet1!$A$2:$A$2</c:f>
              <c:strCache>
                <c:ptCount val="1"/>
                <c:pt idx="0">
                  <c:v>Links</c:v>
                </c:pt>
              </c:strCache>
            </c:strRef>
          </c:cat>
          <c:val>
            <c:numRef>
              <c:f>Sheet1!$B$2:$B$2</c:f>
              <c:numCache>
                <c:formatCode>General</c:formatCode>
                <c:ptCount val="1"/>
                <c:pt idx="0">
                  <c:v>78.400000000000006</c:v>
                </c:pt>
              </c:numCache>
            </c:numRef>
          </c:val>
          <c:extLst>
            <c:ext xmlns:c16="http://schemas.microsoft.com/office/drawing/2014/chart" uri="{C3380CC4-5D6E-409C-BE32-E72D297353CC}">
              <c16:uniqueId val="{00000000-B124-4410-AEC4-E5719A0DA765}"/>
            </c:ext>
          </c:extLst>
        </c:ser>
        <c:ser>
          <c:idx val="1"/>
          <c:order val="1"/>
          <c:tx>
            <c:strRef>
              <c:f>Sheet1!$C$1</c:f>
              <c:strCache>
                <c:ptCount val="1"/>
                <c:pt idx="0">
                  <c:v>String matching</c:v>
                </c:pt>
              </c:strCache>
            </c:strRef>
          </c:tx>
          <c:spPr>
            <a:solidFill>
              <a:srgbClr val="7FB0EF"/>
            </a:solidFill>
            <a:effectLst/>
          </c:spPr>
          <c:invertIfNegative val="0"/>
          <c:cat>
            <c:strRef>
              <c:f>Sheet1!$A$2:$A$2</c:f>
              <c:strCache>
                <c:ptCount val="1"/>
                <c:pt idx="0">
                  <c:v>Links</c:v>
                </c:pt>
              </c:strCache>
            </c:strRef>
          </c:cat>
          <c:val>
            <c:numRef>
              <c:f>Sheet1!$C$2:$C$2</c:f>
              <c:numCache>
                <c:formatCode>General</c:formatCode>
                <c:ptCount val="1"/>
                <c:pt idx="0">
                  <c:v>18.3</c:v>
                </c:pt>
              </c:numCache>
            </c:numRef>
          </c:val>
          <c:extLst>
            <c:ext xmlns:c16="http://schemas.microsoft.com/office/drawing/2014/chart" uri="{C3380CC4-5D6E-409C-BE32-E72D297353CC}">
              <c16:uniqueId val="{00000001-B124-4410-AEC4-E5719A0DA765}"/>
            </c:ext>
          </c:extLst>
        </c:ser>
        <c:ser>
          <c:idx val="2"/>
          <c:order val="2"/>
          <c:tx>
            <c:strRef>
              <c:f>Sheet1!$D$1</c:f>
              <c:strCache>
                <c:ptCount val="1"/>
                <c:pt idx="0">
                  <c:v>Language model</c:v>
                </c:pt>
              </c:strCache>
            </c:strRef>
          </c:tx>
          <c:spPr>
            <a:solidFill>
              <a:srgbClr val="C6DCF7"/>
            </a:solidFill>
            <a:effectLst/>
          </c:spPr>
          <c:invertIfNegative val="0"/>
          <c:cat>
            <c:strRef>
              <c:f>Sheet1!$A$2:$A$2</c:f>
              <c:strCache>
                <c:ptCount val="1"/>
                <c:pt idx="0">
                  <c:v>Links</c:v>
                </c:pt>
              </c:strCache>
            </c:strRef>
          </c:cat>
          <c:val>
            <c:numRef>
              <c:f>Sheet1!$D$2:$D$2</c:f>
              <c:numCache>
                <c:formatCode>General</c:formatCode>
                <c:ptCount val="1"/>
                <c:pt idx="0">
                  <c:v>3.3</c:v>
                </c:pt>
              </c:numCache>
            </c:numRef>
          </c:val>
          <c:extLst>
            <c:ext xmlns:c16="http://schemas.microsoft.com/office/drawing/2014/chart" uri="{C3380CC4-5D6E-409C-BE32-E72D297353CC}">
              <c16:uniqueId val="{00000002-B124-4410-AEC4-E5719A0DA765}"/>
            </c:ext>
          </c:extLst>
        </c:ser>
        <c:dLbls>
          <c:showLegendKey val="0"/>
          <c:showVal val="0"/>
          <c:showCatName val="0"/>
          <c:showSerName val="0"/>
          <c:showPercent val="0"/>
          <c:showBubbleSize val="0"/>
        </c:dLbls>
        <c:gapWidth val="50"/>
        <c:overlap val="100"/>
        <c:axId val="2094734554"/>
        <c:axId val="2094734552"/>
      </c:barChart>
      <c:catAx>
        <c:axId val="2094734554"/>
        <c:scaling>
          <c:orientation val="minMax"/>
        </c:scaling>
        <c:delete val="1"/>
        <c:axPos val="l"/>
        <c:numFmt formatCode="General" sourceLinked="1"/>
        <c:majorTickMark val="none"/>
        <c:minorTickMark val="none"/>
        <c:tickLblPos val="nextTo"/>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scatterChart>
        <c:scatterStyle val="lineMarker"/>
        <c:varyColors val="0"/>
        <c:ser>
          <c:idx val="0"/>
          <c:order val="0"/>
          <c:tx>
            <c:strRef>
              <c:f>Sheet1!$B$1</c:f>
              <c:strCache>
                <c:ptCount val="1"/>
                <c:pt idx="0">
                  <c:v>Observed distribution</c:v>
                </c:pt>
              </c:strCache>
            </c:strRef>
          </c:tx>
          <c:spPr>
            <a:ln w="28575" cap="flat">
              <a:solidFill>
                <a:srgbClr val="3987E5"/>
              </a:solidFill>
              <a:prstDash val="solid"/>
              <a:round/>
            </a:ln>
            <a:effectLst/>
          </c:spPr>
          <c:marker>
            <c:symbol val="none"/>
          </c:marker>
          <c:xVal>
            <c:numRef>
              <c:f>Sheet1!$A$2:$A$139</c:f>
              <c:numCache>
                <c:formatCode>General</c:formatCode>
                <c:ptCount val="13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52</c:v>
                </c:pt>
                <c:pt idx="51">
                  <c:v>53</c:v>
                </c:pt>
                <c:pt idx="52">
                  <c:v>54</c:v>
                </c:pt>
                <c:pt idx="53">
                  <c:v>55</c:v>
                </c:pt>
                <c:pt idx="54">
                  <c:v>56</c:v>
                </c:pt>
                <c:pt idx="55">
                  <c:v>58</c:v>
                </c:pt>
                <c:pt idx="56">
                  <c:v>60</c:v>
                </c:pt>
                <c:pt idx="57">
                  <c:v>61</c:v>
                </c:pt>
                <c:pt idx="58">
                  <c:v>63</c:v>
                </c:pt>
                <c:pt idx="59">
                  <c:v>64</c:v>
                </c:pt>
                <c:pt idx="60">
                  <c:v>67</c:v>
                </c:pt>
                <c:pt idx="61">
                  <c:v>68</c:v>
                </c:pt>
                <c:pt idx="62">
                  <c:v>70</c:v>
                </c:pt>
                <c:pt idx="63">
                  <c:v>71</c:v>
                </c:pt>
                <c:pt idx="64">
                  <c:v>72</c:v>
                </c:pt>
                <c:pt idx="65">
                  <c:v>73</c:v>
                </c:pt>
                <c:pt idx="66">
                  <c:v>74</c:v>
                </c:pt>
                <c:pt idx="67">
                  <c:v>75</c:v>
                </c:pt>
                <c:pt idx="68">
                  <c:v>76</c:v>
                </c:pt>
                <c:pt idx="69">
                  <c:v>77</c:v>
                </c:pt>
                <c:pt idx="70">
                  <c:v>78</c:v>
                </c:pt>
                <c:pt idx="71">
                  <c:v>79</c:v>
                </c:pt>
                <c:pt idx="72">
                  <c:v>80</c:v>
                </c:pt>
                <c:pt idx="73">
                  <c:v>81</c:v>
                </c:pt>
                <c:pt idx="74">
                  <c:v>82</c:v>
                </c:pt>
                <c:pt idx="75">
                  <c:v>83</c:v>
                </c:pt>
                <c:pt idx="76">
                  <c:v>85</c:v>
                </c:pt>
                <c:pt idx="77">
                  <c:v>86</c:v>
                </c:pt>
                <c:pt idx="78">
                  <c:v>88</c:v>
                </c:pt>
                <c:pt idx="79">
                  <c:v>89</c:v>
                </c:pt>
                <c:pt idx="80">
                  <c:v>91</c:v>
                </c:pt>
                <c:pt idx="81">
                  <c:v>94</c:v>
                </c:pt>
                <c:pt idx="82">
                  <c:v>95</c:v>
                </c:pt>
                <c:pt idx="83">
                  <c:v>96</c:v>
                </c:pt>
                <c:pt idx="84">
                  <c:v>97</c:v>
                </c:pt>
                <c:pt idx="85">
                  <c:v>98</c:v>
                </c:pt>
                <c:pt idx="86">
                  <c:v>99</c:v>
                </c:pt>
                <c:pt idx="87">
                  <c:v>100</c:v>
                </c:pt>
                <c:pt idx="88">
                  <c:v>101</c:v>
                </c:pt>
                <c:pt idx="89">
                  <c:v>102</c:v>
                </c:pt>
                <c:pt idx="90">
                  <c:v>103</c:v>
                </c:pt>
                <c:pt idx="91">
                  <c:v>105</c:v>
                </c:pt>
                <c:pt idx="92">
                  <c:v>106</c:v>
                </c:pt>
                <c:pt idx="93">
                  <c:v>109</c:v>
                </c:pt>
                <c:pt idx="94">
                  <c:v>110</c:v>
                </c:pt>
                <c:pt idx="95">
                  <c:v>112</c:v>
                </c:pt>
                <c:pt idx="96">
                  <c:v>115</c:v>
                </c:pt>
                <c:pt idx="97">
                  <c:v>116</c:v>
                </c:pt>
                <c:pt idx="98">
                  <c:v>118</c:v>
                </c:pt>
                <c:pt idx="99">
                  <c:v>119</c:v>
                </c:pt>
                <c:pt idx="100">
                  <c:v>120</c:v>
                </c:pt>
                <c:pt idx="101">
                  <c:v>121</c:v>
                </c:pt>
                <c:pt idx="102">
                  <c:v>122</c:v>
                </c:pt>
                <c:pt idx="103">
                  <c:v>124</c:v>
                </c:pt>
                <c:pt idx="104">
                  <c:v>125</c:v>
                </c:pt>
                <c:pt idx="105">
                  <c:v>132</c:v>
                </c:pt>
                <c:pt idx="106">
                  <c:v>134</c:v>
                </c:pt>
                <c:pt idx="107">
                  <c:v>135</c:v>
                </c:pt>
                <c:pt idx="108">
                  <c:v>138</c:v>
                </c:pt>
                <c:pt idx="109">
                  <c:v>139</c:v>
                </c:pt>
                <c:pt idx="110">
                  <c:v>141</c:v>
                </c:pt>
                <c:pt idx="111">
                  <c:v>143</c:v>
                </c:pt>
                <c:pt idx="112">
                  <c:v>144</c:v>
                </c:pt>
                <c:pt idx="113">
                  <c:v>148</c:v>
                </c:pt>
                <c:pt idx="114">
                  <c:v>149</c:v>
                </c:pt>
                <c:pt idx="115">
                  <c:v>152</c:v>
                </c:pt>
                <c:pt idx="116">
                  <c:v>153</c:v>
                </c:pt>
                <c:pt idx="117">
                  <c:v>154</c:v>
                </c:pt>
                <c:pt idx="118">
                  <c:v>156</c:v>
                </c:pt>
                <c:pt idx="119">
                  <c:v>161</c:v>
                </c:pt>
                <c:pt idx="120">
                  <c:v>164</c:v>
                </c:pt>
                <c:pt idx="121">
                  <c:v>170</c:v>
                </c:pt>
                <c:pt idx="122">
                  <c:v>174</c:v>
                </c:pt>
                <c:pt idx="123">
                  <c:v>194</c:v>
                </c:pt>
                <c:pt idx="124">
                  <c:v>196</c:v>
                </c:pt>
                <c:pt idx="125">
                  <c:v>224</c:v>
                </c:pt>
                <c:pt idx="126">
                  <c:v>241</c:v>
                </c:pt>
                <c:pt idx="127">
                  <c:v>244</c:v>
                </c:pt>
                <c:pt idx="128">
                  <c:v>258</c:v>
                </c:pt>
                <c:pt idx="129">
                  <c:v>263</c:v>
                </c:pt>
                <c:pt idx="130">
                  <c:v>301</c:v>
                </c:pt>
                <c:pt idx="131">
                  <c:v>330</c:v>
                </c:pt>
                <c:pt idx="132">
                  <c:v>376</c:v>
                </c:pt>
                <c:pt idx="133">
                  <c:v>417</c:v>
                </c:pt>
                <c:pt idx="134">
                  <c:v>632</c:v>
                </c:pt>
                <c:pt idx="135">
                  <c:v>645</c:v>
                </c:pt>
                <c:pt idx="136">
                  <c:v>680</c:v>
                </c:pt>
                <c:pt idx="137">
                  <c:v>745</c:v>
                </c:pt>
              </c:numCache>
            </c:numRef>
          </c:xVal>
          <c:yVal>
            <c:numRef>
              <c:f>Sheet1!$B$2:$B$139</c:f>
              <c:numCache>
                <c:formatCode>General</c:formatCode>
                <c:ptCount val="138"/>
                <c:pt idx="0">
                  <c:v>1</c:v>
                </c:pt>
                <c:pt idx="1">
                  <c:v>0.91820000000000002</c:v>
                </c:pt>
                <c:pt idx="2">
                  <c:v>0.86521700000000001</c:v>
                </c:pt>
                <c:pt idx="3">
                  <c:v>0.82580399999999998</c:v>
                </c:pt>
                <c:pt idx="4">
                  <c:v>0.77560899999999999</c:v>
                </c:pt>
                <c:pt idx="5">
                  <c:v>0.71109900000000004</c:v>
                </c:pt>
                <c:pt idx="6">
                  <c:v>0.62669600000000003</c:v>
                </c:pt>
                <c:pt idx="7">
                  <c:v>0.52760700000000005</c:v>
                </c:pt>
                <c:pt idx="8">
                  <c:v>0.43892900000000001</c:v>
                </c:pt>
                <c:pt idx="9">
                  <c:v>0.35322599999999998</c:v>
                </c:pt>
                <c:pt idx="10">
                  <c:v>0.28295199999999998</c:v>
                </c:pt>
                <c:pt idx="11">
                  <c:v>0.23461599999999999</c:v>
                </c:pt>
                <c:pt idx="12">
                  <c:v>0.198736</c:v>
                </c:pt>
                <c:pt idx="13">
                  <c:v>0.167875</c:v>
                </c:pt>
                <c:pt idx="14">
                  <c:v>0.145008</c:v>
                </c:pt>
                <c:pt idx="15">
                  <c:v>0.126975</c:v>
                </c:pt>
                <c:pt idx="16">
                  <c:v>0.110987</c:v>
                </c:pt>
                <c:pt idx="17">
                  <c:v>9.9833000000000005E-2</c:v>
                </c:pt>
                <c:pt idx="18">
                  <c:v>9.1652999999999998E-2</c:v>
                </c:pt>
                <c:pt idx="19">
                  <c:v>8.4774000000000002E-2</c:v>
                </c:pt>
                <c:pt idx="20">
                  <c:v>7.8080999999999998E-2</c:v>
                </c:pt>
                <c:pt idx="21">
                  <c:v>7.4362999999999999E-2</c:v>
                </c:pt>
                <c:pt idx="22">
                  <c:v>7.1203000000000002E-2</c:v>
                </c:pt>
                <c:pt idx="23">
                  <c:v>6.6740999999999995E-2</c:v>
                </c:pt>
                <c:pt idx="24">
                  <c:v>6.2279000000000001E-2</c:v>
                </c:pt>
                <c:pt idx="25">
                  <c:v>5.9118999999999998E-2</c:v>
                </c:pt>
                <c:pt idx="26">
                  <c:v>5.6143999999999999E-2</c:v>
                </c:pt>
                <c:pt idx="27">
                  <c:v>5.4470999999999999E-2</c:v>
                </c:pt>
                <c:pt idx="28">
                  <c:v>5.2797999999999998E-2</c:v>
                </c:pt>
                <c:pt idx="29">
                  <c:v>5.0567000000000001E-2</c:v>
                </c:pt>
                <c:pt idx="30">
                  <c:v>4.6105E-2</c:v>
                </c:pt>
                <c:pt idx="31">
                  <c:v>4.4990000000000002E-2</c:v>
                </c:pt>
                <c:pt idx="32">
                  <c:v>4.3874000000000003E-2</c:v>
                </c:pt>
                <c:pt idx="33">
                  <c:v>4.2387000000000001E-2</c:v>
                </c:pt>
                <c:pt idx="34">
                  <c:v>4.2014999999999997E-2</c:v>
                </c:pt>
                <c:pt idx="35">
                  <c:v>3.9598000000000001E-2</c:v>
                </c:pt>
                <c:pt idx="36">
                  <c:v>3.8296999999999998E-2</c:v>
                </c:pt>
                <c:pt idx="37">
                  <c:v>3.6437999999999998E-2</c:v>
                </c:pt>
                <c:pt idx="38">
                  <c:v>3.5693999999999997E-2</c:v>
                </c:pt>
                <c:pt idx="39">
                  <c:v>3.4764999999999997E-2</c:v>
                </c:pt>
                <c:pt idx="40">
                  <c:v>3.3648999999999998E-2</c:v>
                </c:pt>
                <c:pt idx="41">
                  <c:v>3.2905999999999998E-2</c:v>
                </c:pt>
                <c:pt idx="42">
                  <c:v>3.2162000000000003E-2</c:v>
                </c:pt>
                <c:pt idx="43">
                  <c:v>3.1604E-2</c:v>
                </c:pt>
                <c:pt idx="44">
                  <c:v>3.0675000000000001E-2</c:v>
                </c:pt>
                <c:pt idx="45">
                  <c:v>3.0303E-2</c:v>
                </c:pt>
                <c:pt idx="46">
                  <c:v>2.9558999999999998E-2</c:v>
                </c:pt>
                <c:pt idx="47">
                  <c:v>2.8816000000000001E-2</c:v>
                </c:pt>
                <c:pt idx="48">
                  <c:v>2.7886000000000001E-2</c:v>
                </c:pt>
                <c:pt idx="49">
                  <c:v>2.7143E-2</c:v>
                </c:pt>
                <c:pt idx="50">
                  <c:v>2.6585000000000001E-2</c:v>
                </c:pt>
                <c:pt idx="51">
                  <c:v>2.6027000000000002E-2</c:v>
                </c:pt>
                <c:pt idx="52">
                  <c:v>2.5284000000000001E-2</c:v>
                </c:pt>
                <c:pt idx="53">
                  <c:v>2.4912E-2</c:v>
                </c:pt>
                <c:pt idx="54">
                  <c:v>2.4354000000000001E-2</c:v>
                </c:pt>
                <c:pt idx="55">
                  <c:v>2.4167999999999999E-2</c:v>
                </c:pt>
                <c:pt idx="56">
                  <c:v>2.3796000000000001E-2</c:v>
                </c:pt>
                <c:pt idx="57">
                  <c:v>2.3609999999999999E-2</c:v>
                </c:pt>
                <c:pt idx="58">
                  <c:v>2.3238999999999999E-2</c:v>
                </c:pt>
                <c:pt idx="59">
                  <c:v>2.2681E-2</c:v>
                </c:pt>
                <c:pt idx="60">
                  <c:v>2.1937000000000002E-2</c:v>
                </c:pt>
                <c:pt idx="61">
                  <c:v>2.1751E-2</c:v>
                </c:pt>
                <c:pt idx="62">
                  <c:v>2.1378999999999999E-2</c:v>
                </c:pt>
                <c:pt idx="63">
                  <c:v>2.1194000000000001E-2</c:v>
                </c:pt>
                <c:pt idx="64">
                  <c:v>2.1007999999999999E-2</c:v>
                </c:pt>
                <c:pt idx="65">
                  <c:v>2.0636000000000002E-2</c:v>
                </c:pt>
                <c:pt idx="66">
                  <c:v>2.0264000000000001E-2</c:v>
                </c:pt>
                <c:pt idx="67">
                  <c:v>2.0077999999999999E-2</c:v>
                </c:pt>
                <c:pt idx="68">
                  <c:v>1.9519999999999999E-2</c:v>
                </c:pt>
                <c:pt idx="69">
                  <c:v>1.9148999999999999E-2</c:v>
                </c:pt>
                <c:pt idx="70">
                  <c:v>1.8963000000000001E-2</c:v>
                </c:pt>
                <c:pt idx="71">
                  <c:v>1.8405000000000001E-2</c:v>
                </c:pt>
                <c:pt idx="72">
                  <c:v>1.8033E-2</c:v>
                </c:pt>
                <c:pt idx="73">
                  <c:v>1.7288999999999999E-2</c:v>
                </c:pt>
                <c:pt idx="74">
                  <c:v>1.7104000000000001E-2</c:v>
                </c:pt>
                <c:pt idx="75">
                  <c:v>1.6732E-2</c:v>
                </c:pt>
                <c:pt idx="76">
                  <c:v>1.6546000000000002E-2</c:v>
                </c:pt>
                <c:pt idx="77">
                  <c:v>1.5987999999999999E-2</c:v>
                </c:pt>
                <c:pt idx="78">
                  <c:v>1.5429999999999999E-2</c:v>
                </c:pt>
                <c:pt idx="79">
                  <c:v>1.5244000000000001E-2</c:v>
                </c:pt>
                <c:pt idx="80">
                  <c:v>1.5058999999999999E-2</c:v>
                </c:pt>
                <c:pt idx="81">
                  <c:v>1.4687E-2</c:v>
                </c:pt>
                <c:pt idx="82">
                  <c:v>1.4315E-2</c:v>
                </c:pt>
                <c:pt idx="83">
                  <c:v>1.3943000000000001E-2</c:v>
                </c:pt>
                <c:pt idx="84">
                  <c:v>1.3757E-2</c:v>
                </c:pt>
                <c:pt idx="85">
                  <c:v>1.3384999999999999E-2</c:v>
                </c:pt>
                <c:pt idx="86">
                  <c:v>1.3014E-2</c:v>
                </c:pt>
                <c:pt idx="87">
                  <c:v>1.2642E-2</c:v>
                </c:pt>
                <c:pt idx="88">
                  <c:v>1.1898000000000001E-2</c:v>
                </c:pt>
                <c:pt idx="89">
                  <c:v>1.1712E-2</c:v>
                </c:pt>
                <c:pt idx="90">
                  <c:v>1.1339999999999999E-2</c:v>
                </c:pt>
                <c:pt idx="91">
                  <c:v>1.0782999999999999E-2</c:v>
                </c:pt>
                <c:pt idx="92">
                  <c:v>1.0411E-2</c:v>
                </c:pt>
                <c:pt idx="93">
                  <c:v>1.0225E-2</c:v>
                </c:pt>
                <c:pt idx="94">
                  <c:v>9.4809999999999998E-3</c:v>
                </c:pt>
                <c:pt idx="95">
                  <c:v>9.2949999999999994E-3</c:v>
                </c:pt>
                <c:pt idx="96">
                  <c:v>8.9239999999999996E-3</c:v>
                </c:pt>
                <c:pt idx="97">
                  <c:v>8.5520000000000006E-3</c:v>
                </c:pt>
                <c:pt idx="98">
                  <c:v>8.3660000000000002E-3</c:v>
                </c:pt>
                <c:pt idx="99">
                  <c:v>8.1799999999999998E-3</c:v>
                </c:pt>
                <c:pt idx="100">
                  <c:v>7.9939999999999994E-3</c:v>
                </c:pt>
                <c:pt idx="101">
                  <c:v>7.6220000000000003E-3</c:v>
                </c:pt>
                <c:pt idx="102">
                  <c:v>7.4359999999999999E-3</c:v>
                </c:pt>
                <c:pt idx="103">
                  <c:v>7.0650000000000001E-3</c:v>
                </c:pt>
                <c:pt idx="104">
                  <c:v>6.8789999999999997E-3</c:v>
                </c:pt>
                <c:pt idx="105">
                  <c:v>6.3210000000000002E-3</c:v>
                </c:pt>
                <c:pt idx="106">
                  <c:v>6.1349999999999998E-3</c:v>
                </c:pt>
                <c:pt idx="107">
                  <c:v>5.9490000000000003E-3</c:v>
                </c:pt>
                <c:pt idx="108">
                  <c:v>5.7629999999999999E-3</c:v>
                </c:pt>
                <c:pt idx="109">
                  <c:v>5.5770000000000004E-3</c:v>
                </c:pt>
                <c:pt idx="110">
                  <c:v>5.391E-3</c:v>
                </c:pt>
                <c:pt idx="111">
                  <c:v>5.2050000000000004E-3</c:v>
                </c:pt>
                <c:pt idx="112">
                  <c:v>5.0200000000000002E-3</c:v>
                </c:pt>
                <c:pt idx="113">
                  <c:v>4.6480000000000002E-3</c:v>
                </c:pt>
                <c:pt idx="114">
                  <c:v>4.4619999999999998E-3</c:v>
                </c:pt>
                <c:pt idx="115">
                  <c:v>4.2760000000000003E-3</c:v>
                </c:pt>
                <c:pt idx="116">
                  <c:v>4.0899999999999999E-3</c:v>
                </c:pt>
                <c:pt idx="117">
                  <c:v>3.9039999999999999E-3</c:v>
                </c:pt>
                <c:pt idx="118">
                  <c:v>3.718E-3</c:v>
                </c:pt>
                <c:pt idx="119">
                  <c:v>3.532E-3</c:v>
                </c:pt>
                <c:pt idx="120">
                  <c:v>3.346E-3</c:v>
                </c:pt>
                <c:pt idx="121">
                  <c:v>3.16E-3</c:v>
                </c:pt>
                <c:pt idx="122">
                  <c:v>2.9750000000000002E-3</c:v>
                </c:pt>
                <c:pt idx="123">
                  <c:v>2.7889999999999998E-3</c:v>
                </c:pt>
                <c:pt idx="124">
                  <c:v>2.6029999999999998E-3</c:v>
                </c:pt>
                <c:pt idx="125">
                  <c:v>2.4169999999999999E-3</c:v>
                </c:pt>
                <c:pt idx="126">
                  <c:v>2.2309999999999999E-3</c:v>
                </c:pt>
                <c:pt idx="127">
                  <c:v>2.0449999999999999E-3</c:v>
                </c:pt>
                <c:pt idx="128">
                  <c:v>1.859E-3</c:v>
                </c:pt>
                <c:pt idx="129">
                  <c:v>1.673E-3</c:v>
                </c:pt>
                <c:pt idx="130">
                  <c:v>1.487E-3</c:v>
                </c:pt>
                <c:pt idx="131">
                  <c:v>1.3010000000000001E-3</c:v>
                </c:pt>
                <c:pt idx="132">
                  <c:v>1.1150000000000001E-3</c:v>
                </c:pt>
                <c:pt idx="133">
                  <c:v>9.3000000000000005E-4</c:v>
                </c:pt>
                <c:pt idx="134">
                  <c:v>7.4399999999999998E-4</c:v>
                </c:pt>
                <c:pt idx="135">
                  <c:v>5.5800000000000001E-4</c:v>
                </c:pt>
                <c:pt idx="136">
                  <c:v>3.7199999999999999E-4</c:v>
                </c:pt>
                <c:pt idx="137">
                  <c:v>1.8599999999999999E-4</c:v>
                </c:pt>
              </c:numCache>
            </c:numRef>
          </c:yVal>
          <c:smooth val="0"/>
          <c:extLst>
            <c:ext xmlns:c16="http://schemas.microsoft.com/office/drawing/2014/chart" uri="{C3380CC4-5D6E-409C-BE32-E72D297353CC}">
              <c16:uniqueId val="{00000000-61C8-4066-9036-02B79EB38463}"/>
            </c:ext>
          </c:extLst>
        </c:ser>
        <c:ser>
          <c:idx val="1"/>
          <c:order val="1"/>
          <c:tx>
            <c:strRef>
              <c:f>Sheet1!$C$1</c:f>
              <c:strCache>
                <c:ptCount val="1"/>
                <c:pt idx="0">
                  <c:v>Power-law fit, k ≥ 8</c:v>
                </c:pt>
              </c:strCache>
            </c:strRef>
          </c:tx>
          <c:spPr>
            <a:ln w="28575" cap="flat">
              <a:solidFill>
                <a:srgbClr val="D95926"/>
              </a:solidFill>
              <a:prstDash val="dash"/>
              <a:round/>
            </a:ln>
            <a:effectLst/>
          </c:spPr>
          <c:marker>
            <c:symbol val="none"/>
          </c:marker>
          <c:xVal>
            <c:numRef>
              <c:f>Sheet1!$A$2:$A$139</c:f>
              <c:numCache>
                <c:formatCode>General</c:formatCode>
                <c:ptCount val="13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52</c:v>
                </c:pt>
                <c:pt idx="51">
                  <c:v>53</c:v>
                </c:pt>
                <c:pt idx="52">
                  <c:v>54</c:v>
                </c:pt>
                <c:pt idx="53">
                  <c:v>55</c:v>
                </c:pt>
                <c:pt idx="54">
                  <c:v>56</c:v>
                </c:pt>
                <c:pt idx="55">
                  <c:v>58</c:v>
                </c:pt>
                <c:pt idx="56">
                  <c:v>60</c:v>
                </c:pt>
                <c:pt idx="57">
                  <c:v>61</c:v>
                </c:pt>
                <c:pt idx="58">
                  <c:v>63</c:v>
                </c:pt>
                <c:pt idx="59">
                  <c:v>64</c:v>
                </c:pt>
                <c:pt idx="60">
                  <c:v>67</c:v>
                </c:pt>
                <c:pt idx="61">
                  <c:v>68</c:v>
                </c:pt>
                <c:pt idx="62">
                  <c:v>70</c:v>
                </c:pt>
                <c:pt idx="63">
                  <c:v>71</c:v>
                </c:pt>
                <c:pt idx="64">
                  <c:v>72</c:v>
                </c:pt>
                <c:pt idx="65">
                  <c:v>73</c:v>
                </c:pt>
                <c:pt idx="66">
                  <c:v>74</c:v>
                </c:pt>
                <c:pt idx="67">
                  <c:v>75</c:v>
                </c:pt>
                <c:pt idx="68">
                  <c:v>76</c:v>
                </c:pt>
                <c:pt idx="69">
                  <c:v>77</c:v>
                </c:pt>
                <c:pt idx="70">
                  <c:v>78</c:v>
                </c:pt>
                <c:pt idx="71">
                  <c:v>79</c:v>
                </c:pt>
                <c:pt idx="72">
                  <c:v>80</c:v>
                </c:pt>
                <c:pt idx="73">
                  <c:v>81</c:v>
                </c:pt>
                <c:pt idx="74">
                  <c:v>82</c:v>
                </c:pt>
                <c:pt idx="75">
                  <c:v>83</c:v>
                </c:pt>
                <c:pt idx="76">
                  <c:v>85</c:v>
                </c:pt>
                <c:pt idx="77">
                  <c:v>86</c:v>
                </c:pt>
                <c:pt idx="78">
                  <c:v>88</c:v>
                </c:pt>
                <c:pt idx="79">
                  <c:v>89</c:v>
                </c:pt>
                <c:pt idx="80">
                  <c:v>91</c:v>
                </c:pt>
                <c:pt idx="81">
                  <c:v>94</c:v>
                </c:pt>
                <c:pt idx="82">
                  <c:v>95</c:v>
                </c:pt>
                <c:pt idx="83">
                  <c:v>96</c:v>
                </c:pt>
                <c:pt idx="84">
                  <c:v>97</c:v>
                </c:pt>
                <c:pt idx="85">
                  <c:v>98</c:v>
                </c:pt>
                <c:pt idx="86">
                  <c:v>99</c:v>
                </c:pt>
                <c:pt idx="87">
                  <c:v>100</c:v>
                </c:pt>
                <c:pt idx="88">
                  <c:v>101</c:v>
                </c:pt>
                <c:pt idx="89">
                  <c:v>102</c:v>
                </c:pt>
                <c:pt idx="90">
                  <c:v>103</c:v>
                </c:pt>
                <c:pt idx="91">
                  <c:v>105</c:v>
                </c:pt>
                <c:pt idx="92">
                  <c:v>106</c:v>
                </c:pt>
                <c:pt idx="93">
                  <c:v>109</c:v>
                </c:pt>
                <c:pt idx="94">
                  <c:v>110</c:v>
                </c:pt>
                <c:pt idx="95">
                  <c:v>112</c:v>
                </c:pt>
                <c:pt idx="96">
                  <c:v>115</c:v>
                </c:pt>
                <c:pt idx="97">
                  <c:v>116</c:v>
                </c:pt>
                <c:pt idx="98">
                  <c:v>118</c:v>
                </c:pt>
                <c:pt idx="99">
                  <c:v>119</c:v>
                </c:pt>
                <c:pt idx="100">
                  <c:v>120</c:v>
                </c:pt>
                <c:pt idx="101">
                  <c:v>121</c:v>
                </c:pt>
                <c:pt idx="102">
                  <c:v>122</c:v>
                </c:pt>
                <c:pt idx="103">
                  <c:v>124</c:v>
                </c:pt>
                <c:pt idx="104">
                  <c:v>125</c:v>
                </c:pt>
                <c:pt idx="105">
                  <c:v>132</c:v>
                </c:pt>
                <c:pt idx="106">
                  <c:v>134</c:v>
                </c:pt>
                <c:pt idx="107">
                  <c:v>135</c:v>
                </c:pt>
                <c:pt idx="108">
                  <c:v>138</c:v>
                </c:pt>
                <c:pt idx="109">
                  <c:v>139</c:v>
                </c:pt>
                <c:pt idx="110">
                  <c:v>141</c:v>
                </c:pt>
                <c:pt idx="111">
                  <c:v>143</c:v>
                </c:pt>
                <c:pt idx="112">
                  <c:v>144</c:v>
                </c:pt>
                <c:pt idx="113">
                  <c:v>148</c:v>
                </c:pt>
                <c:pt idx="114">
                  <c:v>149</c:v>
                </c:pt>
                <c:pt idx="115">
                  <c:v>152</c:v>
                </c:pt>
                <c:pt idx="116">
                  <c:v>153</c:v>
                </c:pt>
                <c:pt idx="117">
                  <c:v>154</c:v>
                </c:pt>
                <c:pt idx="118">
                  <c:v>156</c:v>
                </c:pt>
                <c:pt idx="119">
                  <c:v>161</c:v>
                </c:pt>
                <c:pt idx="120">
                  <c:v>164</c:v>
                </c:pt>
                <c:pt idx="121">
                  <c:v>170</c:v>
                </c:pt>
                <c:pt idx="122">
                  <c:v>174</c:v>
                </c:pt>
                <c:pt idx="123">
                  <c:v>194</c:v>
                </c:pt>
                <c:pt idx="124">
                  <c:v>196</c:v>
                </c:pt>
                <c:pt idx="125">
                  <c:v>224</c:v>
                </c:pt>
                <c:pt idx="126">
                  <c:v>241</c:v>
                </c:pt>
                <c:pt idx="127">
                  <c:v>244</c:v>
                </c:pt>
                <c:pt idx="128">
                  <c:v>258</c:v>
                </c:pt>
                <c:pt idx="129">
                  <c:v>263</c:v>
                </c:pt>
                <c:pt idx="130">
                  <c:v>301</c:v>
                </c:pt>
                <c:pt idx="131">
                  <c:v>330</c:v>
                </c:pt>
                <c:pt idx="132">
                  <c:v>376</c:v>
                </c:pt>
                <c:pt idx="133">
                  <c:v>417</c:v>
                </c:pt>
                <c:pt idx="134">
                  <c:v>632</c:v>
                </c:pt>
                <c:pt idx="135">
                  <c:v>645</c:v>
                </c:pt>
                <c:pt idx="136">
                  <c:v>680</c:v>
                </c:pt>
                <c:pt idx="137">
                  <c:v>745</c:v>
                </c:pt>
              </c:numCache>
            </c:numRef>
          </c:xVal>
          <c:yVal>
            <c:numRef>
              <c:f>Sheet1!$C$2:$C$139</c:f>
              <c:numCache>
                <c:formatCode>General</c:formatCode>
                <c:ptCount val="138"/>
                <c:pt idx="7">
                  <c:v>0.52759999999999996</c:v>
                </c:pt>
                <c:pt idx="8">
                  <c:v>0.4291143</c:v>
                </c:pt>
                <c:pt idx="9">
                  <c:v>0.35670180000000001</c:v>
                </c:pt>
                <c:pt idx="10">
                  <c:v>0.30178260000000001</c:v>
                </c:pt>
                <c:pt idx="11">
                  <c:v>0.25906309999999999</c:v>
                </c:pt>
                <c:pt idx="12">
                  <c:v>0.2251261</c:v>
                </c:pt>
                <c:pt idx="13">
                  <c:v>0.1976821</c:v>
                </c:pt>
                <c:pt idx="14">
                  <c:v>0.17514830000000001</c:v>
                </c:pt>
                <c:pt idx="15">
                  <c:v>0.15640039999999999</c:v>
                </c:pt>
                <c:pt idx="16">
                  <c:v>0.14062150000000001</c:v>
                </c:pt>
                <c:pt idx="17">
                  <c:v>0.1272056</c:v>
                </c:pt>
                <c:pt idx="18">
                  <c:v>0.1156953</c:v>
                </c:pt>
                <c:pt idx="19">
                  <c:v>0.10573979999999999</c:v>
                </c:pt>
                <c:pt idx="20">
                  <c:v>9.7066200000000005E-2</c:v>
                </c:pt>
                <c:pt idx="21">
                  <c:v>8.9459700000000003E-2</c:v>
                </c:pt>
                <c:pt idx="22">
                  <c:v>8.27489E-2</c:v>
                </c:pt>
                <c:pt idx="23">
                  <c:v>7.6796000000000003E-2</c:v>
                </c:pt>
                <c:pt idx="24">
                  <c:v>7.1488899999999994E-2</c:v>
                </c:pt>
                <c:pt idx="25">
                  <c:v>6.6735799999999998E-2</c:v>
                </c:pt>
                <c:pt idx="26">
                  <c:v>6.2460700000000001E-2</c:v>
                </c:pt>
                <c:pt idx="27">
                  <c:v>5.8600399999999997E-2</c:v>
                </c:pt>
                <c:pt idx="28">
                  <c:v>5.5101900000000002E-2</c:v>
                </c:pt>
                <c:pt idx="29">
                  <c:v>5.1920500000000001E-2</c:v>
                </c:pt>
                <c:pt idx="30">
                  <c:v>4.9018300000000001E-2</c:v>
                </c:pt>
                <c:pt idx="31">
                  <c:v>4.6363000000000001E-2</c:v>
                </c:pt>
                <c:pt idx="32">
                  <c:v>4.3926699999999999E-2</c:v>
                </c:pt>
                <c:pt idx="33">
                  <c:v>4.16855E-2</c:v>
                </c:pt>
                <c:pt idx="34">
                  <c:v>3.9618800000000003E-2</c:v>
                </c:pt>
                <c:pt idx="35">
                  <c:v>3.7708499999999999E-2</c:v>
                </c:pt>
                <c:pt idx="36">
                  <c:v>3.5938999999999999E-2</c:v>
                </c:pt>
                <c:pt idx="37">
                  <c:v>3.4296399999999998E-2</c:v>
                </c:pt>
                <c:pt idx="38">
                  <c:v>3.2768699999999998E-2</c:v>
                </c:pt>
                <c:pt idx="39">
                  <c:v>3.1345199999999997E-2</c:v>
                </c:pt>
                <c:pt idx="40">
                  <c:v>3.0016500000000002E-2</c:v>
                </c:pt>
                <c:pt idx="41">
                  <c:v>2.87741E-2</c:v>
                </c:pt>
                <c:pt idx="42">
                  <c:v>2.76105E-2</c:v>
                </c:pt>
                <c:pt idx="43">
                  <c:v>2.65192E-2</c:v>
                </c:pt>
                <c:pt idx="44">
                  <c:v>2.5494099999999999E-2</c:v>
                </c:pt>
                <c:pt idx="45">
                  <c:v>2.45299E-2</c:v>
                </c:pt>
                <c:pt idx="46">
                  <c:v>2.3621699999999999E-2</c:v>
                </c:pt>
                <c:pt idx="47">
                  <c:v>2.2765199999999999E-2</c:v>
                </c:pt>
                <c:pt idx="48">
                  <c:v>2.19565E-2</c:v>
                </c:pt>
                <c:pt idx="49">
                  <c:v>2.1191999999999999E-2</c:v>
                </c:pt>
                <c:pt idx="50">
                  <c:v>1.9782999999999999E-2</c:v>
                </c:pt>
                <c:pt idx="51">
                  <c:v>1.9132900000000001E-2</c:v>
                </c:pt>
                <c:pt idx="52">
                  <c:v>1.85157E-2</c:v>
                </c:pt>
                <c:pt idx="53">
                  <c:v>1.7929199999999999E-2</c:v>
                </c:pt>
                <c:pt idx="54">
                  <c:v>1.7371399999999999E-2</c:v>
                </c:pt>
                <c:pt idx="55">
                  <c:v>1.63343E-2</c:v>
                </c:pt>
                <c:pt idx="56">
                  <c:v>1.5391200000000001E-2</c:v>
                </c:pt>
                <c:pt idx="57">
                  <c:v>1.4951300000000001E-2</c:v>
                </c:pt>
                <c:pt idx="58">
                  <c:v>1.4128699999999999E-2</c:v>
                </c:pt>
                <c:pt idx="59">
                  <c:v>1.3743699999999999E-2</c:v>
                </c:pt>
                <c:pt idx="60">
                  <c:v>1.2682499999999999E-2</c:v>
                </c:pt>
                <c:pt idx="61">
                  <c:v>1.2357099999999999E-2</c:v>
                </c:pt>
                <c:pt idx="62">
                  <c:v>1.17445E-2</c:v>
                </c:pt>
                <c:pt idx="63">
                  <c:v>1.14559E-2</c:v>
                </c:pt>
                <c:pt idx="64">
                  <c:v>1.1178199999999999E-2</c:v>
                </c:pt>
                <c:pt idx="65">
                  <c:v>1.0911000000000001E-2</c:v>
                </c:pt>
                <c:pt idx="66">
                  <c:v>1.06537E-2</c:v>
                </c:pt>
                <c:pt idx="67">
                  <c:v>1.04057E-2</c:v>
                </c:pt>
                <c:pt idx="68">
                  <c:v>1.0166700000000001E-2</c:v>
                </c:pt>
                <c:pt idx="69">
                  <c:v>9.9363000000000003E-3</c:v>
                </c:pt>
                <c:pt idx="70">
                  <c:v>9.7138999999999993E-3</c:v>
                </c:pt>
                <c:pt idx="71">
                  <c:v>9.4991999999999993E-3</c:v>
                </c:pt>
                <c:pt idx="72">
                  <c:v>9.2919000000000005E-3</c:v>
                </c:pt>
                <c:pt idx="73">
                  <c:v>9.0916E-3</c:v>
                </c:pt>
                <c:pt idx="74">
                  <c:v>8.8979999999999997E-3</c:v>
                </c:pt>
                <c:pt idx="75">
                  <c:v>8.7107999999999994E-3</c:v>
                </c:pt>
                <c:pt idx="76">
                  <c:v>8.3545000000000008E-3</c:v>
                </c:pt>
                <c:pt idx="77">
                  <c:v>8.1848000000000008E-3</c:v>
                </c:pt>
                <c:pt idx="78">
                  <c:v>7.8612999999999999E-3</c:v>
                </c:pt>
                <c:pt idx="79">
                  <c:v>7.7070000000000003E-3</c:v>
                </c:pt>
                <c:pt idx="80">
                  <c:v>7.4123000000000001E-3</c:v>
                </c:pt>
                <c:pt idx="81">
                  <c:v>7.0023999999999998E-3</c:v>
                </c:pt>
                <c:pt idx="82">
                  <c:v>6.8735999999999997E-3</c:v>
                </c:pt>
                <c:pt idx="83">
                  <c:v>6.7485000000000002E-3</c:v>
                </c:pt>
                <c:pt idx="84">
                  <c:v>6.6268999999999998E-3</c:v>
                </c:pt>
                <c:pt idx="85">
                  <c:v>6.5087000000000001E-3</c:v>
                </c:pt>
                <c:pt idx="86">
                  <c:v>6.3937999999999998E-3</c:v>
                </c:pt>
                <c:pt idx="87">
                  <c:v>6.2820999999999997E-3</c:v>
                </c:pt>
                <c:pt idx="88">
                  <c:v>6.1733999999999999E-3</c:v>
                </c:pt>
                <c:pt idx="89">
                  <c:v>6.0676000000000003E-3</c:v>
                </c:pt>
                <c:pt idx="90">
                  <c:v>5.9646999999999999E-3</c:v>
                </c:pt>
                <c:pt idx="91">
                  <c:v>5.7667999999999999E-3</c:v>
                </c:pt>
                <c:pt idx="92">
                  <c:v>5.6717E-3</c:v>
                </c:pt>
                <c:pt idx="93">
                  <c:v>5.4006999999999996E-3</c:v>
                </c:pt>
                <c:pt idx="94">
                  <c:v>5.3149E-3</c:v>
                </c:pt>
                <c:pt idx="95">
                  <c:v>5.1495000000000004E-3</c:v>
                </c:pt>
                <c:pt idx="96">
                  <c:v>4.9161999999999999E-3</c:v>
                </c:pt>
                <c:pt idx="97">
                  <c:v>4.8421000000000002E-3</c:v>
                </c:pt>
                <c:pt idx="98">
                  <c:v>4.6990000000000001E-3</c:v>
                </c:pt>
                <c:pt idx="99">
                  <c:v>4.6299999999999996E-3</c:v>
                </c:pt>
                <c:pt idx="100">
                  <c:v>4.5624999999999997E-3</c:v>
                </c:pt>
                <c:pt idx="101">
                  <c:v>4.4965999999999999E-3</c:v>
                </c:pt>
                <c:pt idx="102">
                  <c:v>4.4320999999999996E-3</c:v>
                </c:pt>
                <c:pt idx="103">
                  <c:v>4.3074999999999997E-3</c:v>
                </c:pt>
                <c:pt idx="104">
                  <c:v>4.2471999999999996E-3</c:v>
                </c:pt>
                <c:pt idx="105">
                  <c:v>3.8601E-3</c:v>
                </c:pt>
                <c:pt idx="106">
                  <c:v>3.7596000000000001E-3</c:v>
                </c:pt>
                <c:pt idx="107">
                  <c:v>3.7109E-3</c:v>
                </c:pt>
                <c:pt idx="108">
                  <c:v>3.5704999999999999E-3</c:v>
                </c:pt>
                <c:pt idx="109">
                  <c:v>3.5255999999999998E-3</c:v>
                </c:pt>
                <c:pt idx="110">
                  <c:v>3.4383E-3</c:v>
                </c:pt>
                <c:pt idx="111">
                  <c:v>3.3544E-3</c:v>
                </c:pt>
                <c:pt idx="112">
                  <c:v>3.3135999999999999E-3</c:v>
                </c:pt>
                <c:pt idx="113">
                  <c:v>3.1581000000000001E-3</c:v>
                </c:pt>
                <c:pt idx="114">
                  <c:v>3.1210999999999999E-3</c:v>
                </c:pt>
                <c:pt idx="115">
                  <c:v>3.0138000000000001E-3</c:v>
                </c:pt>
                <c:pt idx="116">
                  <c:v>2.9792999999999998E-3</c:v>
                </c:pt>
                <c:pt idx="117">
                  <c:v>2.9455000000000002E-3</c:v>
                </c:pt>
                <c:pt idx="118">
                  <c:v>2.8796E-3</c:v>
                </c:pt>
                <c:pt idx="119">
                  <c:v>2.7244999999999999E-3</c:v>
                </c:pt>
                <c:pt idx="120">
                  <c:v>2.6377000000000002E-3</c:v>
                </c:pt>
                <c:pt idx="121">
                  <c:v>2.4765999999999998E-3</c:v>
                </c:pt>
                <c:pt idx="122">
                  <c:v>2.3776000000000001E-3</c:v>
                </c:pt>
                <c:pt idx="123">
                  <c:v>1.9645000000000001E-3</c:v>
                </c:pt>
                <c:pt idx="124">
                  <c:v>1.9294E-3</c:v>
                </c:pt>
                <c:pt idx="125">
                  <c:v>1.5265000000000001E-3</c:v>
                </c:pt>
                <c:pt idx="126">
                  <c:v>1.3427000000000001E-3</c:v>
                </c:pt>
                <c:pt idx="127">
                  <c:v>1.3139E-3</c:v>
                </c:pt>
                <c:pt idx="128">
                  <c:v>1.1914E-3</c:v>
                </c:pt>
                <c:pt idx="129">
                  <c:v>1.1519E-3</c:v>
                </c:pt>
                <c:pt idx="130">
                  <c:v>9.0910000000000003E-4</c:v>
                </c:pt>
                <c:pt idx="131">
                  <c:v>7.7360000000000005E-4</c:v>
                </c:pt>
                <c:pt idx="132">
                  <c:v>6.1530000000000005E-4</c:v>
                </c:pt>
                <c:pt idx="133">
                  <c:v>5.1320000000000001E-4</c:v>
                </c:pt>
                <c:pt idx="134">
                  <c:v>2.474E-4</c:v>
                </c:pt>
                <c:pt idx="135">
                  <c:v>2.388E-4</c:v>
                </c:pt>
                <c:pt idx="136">
                  <c:v>2.176E-4</c:v>
                </c:pt>
                <c:pt idx="137">
                  <c:v>1.8540000000000001E-4</c:v>
                </c:pt>
              </c:numCache>
            </c:numRef>
          </c:yVal>
          <c:smooth val="0"/>
          <c:extLst>
            <c:ext xmlns:c16="http://schemas.microsoft.com/office/drawing/2014/chart" uri="{C3380CC4-5D6E-409C-BE32-E72D297353CC}">
              <c16:uniqueId val="{00000001-61C8-4066-9036-02B79EB38463}"/>
            </c:ext>
          </c:extLst>
        </c:ser>
        <c:dLbls>
          <c:showLegendKey val="0"/>
          <c:showVal val="0"/>
          <c:showCatName val="0"/>
          <c:showSerName val="0"/>
          <c:showPercent val="0"/>
          <c:showBubbleSize val="0"/>
        </c:dLbls>
        <c:axId val="2094734554"/>
        <c:axId val="2094734552"/>
      </c:scatterChart>
      <c:valAx>
        <c:axId val="2094734554"/>
        <c:scaling>
          <c:logBase val="10"/>
          <c:orientation val="minMax"/>
          <c:max val="1000"/>
          <c:min val="1"/>
        </c:scaling>
        <c:delete val="0"/>
        <c:axPos val="b"/>
        <c:majorGridlines>
          <c:spPr>
            <a:ln w="9525" cap="flat">
              <a:solidFill>
                <a:srgbClr val="1C2230"/>
              </a:solidFill>
              <a:prstDash val="solid"/>
              <a:round/>
            </a:ln>
          </c:spPr>
        </c:majorGridlines>
        <c:title>
          <c:tx>
            <c:rich>
              <a:bodyPr/>
              <a:lstStyle/>
              <a:p>
                <a:pPr>
                  <a:defRPr sz="1200" b="0" i="0" u="none" strike="noStrike">
                    <a:solidFill>
                      <a:srgbClr val="B4BCCB"/>
                    </a:solidFill>
                    <a:latin typeface="+mn-lt"/>
                  </a:defRPr>
                </a:pPr>
                <a:r>
                  <a:rPr lang="it-IT" sz="1200" b="0" i="0" u="none" strike="noStrike">
                    <a:solidFill>
                      <a:srgbClr val="B4BCCB"/>
                    </a:solidFill>
                    <a:latin typeface="+mn-lt"/>
                  </a:rPr>
                  <a:t>Degree k, links per node (log scale)</a:t>
                </a:r>
              </a:p>
            </c:rich>
          </c:tx>
          <c:overlay val="0"/>
        </c:title>
        <c:numFmt formatCode="#,##0" sourceLinked="0"/>
        <c:majorTickMark val="none"/>
        <c:minorTickMark val="none"/>
        <c:tickLblPos val="nextTo"/>
        <c:spPr>
          <a:ln w="12700" cap="flat">
            <a:solidFill>
              <a:srgbClr val="5B6577"/>
            </a:solidFill>
            <a:prstDash val="solid"/>
            <a:round/>
          </a:ln>
        </c:spPr>
        <c:txPr>
          <a:bodyPr/>
          <a:lstStyle/>
          <a:p>
            <a:pPr>
              <a:defRPr sz="1200" b="0" i="0" u="none" strike="noStrike">
                <a:solidFill>
                  <a:srgbClr val="7C8699"/>
                </a:solidFill>
                <a:latin typeface="+mn-lt"/>
              </a:defRPr>
            </a:pPr>
            <a:endParaRPr lang="en-US"/>
          </a:p>
        </c:txPr>
        <c:crossAx val="2094734552"/>
        <c:crosses val="min"/>
        <c:crossBetween val="midCat"/>
      </c:valAx>
      <c:valAx>
        <c:axId val="2094734552"/>
        <c:scaling>
          <c:logBase val="10"/>
          <c:orientation val="minMax"/>
          <c:max val="1"/>
          <c:min val="1E-4"/>
        </c:scaling>
        <c:delete val="0"/>
        <c:axPos val="l"/>
        <c:majorGridlines>
          <c:spPr>
            <a:ln w="9525" cap="flat">
              <a:solidFill>
                <a:srgbClr val="1C2230"/>
              </a:solidFill>
              <a:prstDash val="solid"/>
              <a:round/>
            </a:ln>
          </c:spPr>
        </c:majorGridlines>
        <c:title>
          <c:tx>
            <c:rich>
              <a:bodyPr/>
              <a:lstStyle/>
              <a:p>
                <a:pPr>
                  <a:defRPr sz="1200" b="0" i="0" u="none" strike="noStrike">
                    <a:solidFill>
                      <a:srgbClr val="B4BCCB"/>
                    </a:solidFill>
                    <a:latin typeface="+mn-lt"/>
                  </a:defRPr>
                </a:pPr>
                <a:r>
                  <a:rPr lang="en-US" sz="1200" b="0" i="0" u="none" strike="noStrike">
                    <a:solidFill>
                      <a:srgbClr val="B4BCCB"/>
                    </a:solidFill>
                    <a:latin typeface="+mn-lt"/>
                  </a:rPr>
                  <a:t>Share of nodes with at least k links</a:t>
                </a:r>
              </a:p>
            </c:rich>
          </c:tx>
          <c:overlay val="0"/>
        </c:title>
        <c:numFmt formatCode="[&gt;=0.01]0%;[&gt;=0.001]0.0%;0.00%" sourceLinked="0"/>
        <c:majorTickMark val="none"/>
        <c:minorTickMark val="none"/>
        <c:tickLblPos val="nextTo"/>
        <c:spPr>
          <a:ln w="12700" cap="flat">
            <a:noFill/>
            <a:prstDash val="solid"/>
            <a:round/>
          </a:ln>
        </c:spPr>
        <c:txPr>
          <a:bodyPr/>
          <a:lstStyle/>
          <a:p>
            <a:pPr>
              <a:defRPr sz="1200" b="0" i="0" u="none" strike="noStrike">
                <a:solidFill>
                  <a:srgbClr val="7C8699"/>
                </a:solidFill>
                <a:latin typeface="+mn-lt"/>
              </a:defRPr>
            </a:pPr>
            <a:endParaRPr lang="en-US"/>
          </a:p>
        </c:txPr>
        <c:crossAx val="2094734554"/>
        <c:crosses val="min"/>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bar"/>
        <c:grouping val="clustered"/>
        <c:varyColors val="0"/>
        <c:ser>
          <c:idx val="0"/>
          <c:order val="0"/>
          <c:tx>
            <c:strRef>
              <c:f>Sheet1!$B$1</c:f>
              <c:strCache>
                <c:ptCount val="1"/>
                <c:pt idx="0">
                  <c:v>Clustering</c:v>
                </c:pt>
              </c:strCache>
            </c:strRef>
          </c:tx>
          <c:spPr>
            <a:solidFill>
              <a:srgbClr val="3987E5"/>
            </a:solidFill>
            <a:effectLst/>
          </c:spPr>
          <c:invertIfNegative val="0"/>
          <c:dPt>
            <c:idx val="0"/>
            <c:invertIfNegative val="0"/>
            <c:bubble3D val="0"/>
            <c:extLst>
              <c:ext xmlns:c16="http://schemas.microsoft.com/office/drawing/2014/chart" uri="{C3380CC4-5D6E-409C-BE32-E72D297353CC}">
                <c16:uniqueId val="{00000001-D27A-4FE9-AD13-2EDAFD13A259}"/>
              </c:ext>
            </c:extLst>
          </c:dPt>
          <c:dPt>
            <c:idx val="1"/>
            <c:invertIfNegative val="0"/>
            <c:bubble3D val="0"/>
            <c:spPr>
              <a:solidFill>
                <a:srgbClr val="5B6577"/>
              </a:solidFill>
              <a:effectLst/>
            </c:spPr>
            <c:extLst>
              <c:ext xmlns:c16="http://schemas.microsoft.com/office/drawing/2014/chart" uri="{C3380CC4-5D6E-409C-BE32-E72D297353CC}">
                <c16:uniqueId val="{00000003-D27A-4FE9-AD13-2EDAFD13A259}"/>
              </c:ext>
            </c:extLst>
          </c:dPt>
          <c:dPt>
            <c:idx val="2"/>
            <c:invertIfNegative val="0"/>
            <c:bubble3D val="0"/>
            <c:spPr>
              <a:solidFill>
                <a:srgbClr val="5B6577"/>
              </a:solidFill>
              <a:effectLst/>
            </c:spPr>
            <c:extLst>
              <c:ext xmlns:c16="http://schemas.microsoft.com/office/drawing/2014/chart" uri="{C3380CC4-5D6E-409C-BE32-E72D297353CC}">
                <c16:uniqueId val="{00000005-D27A-4FE9-AD13-2EDAFD13A259}"/>
              </c:ext>
            </c:extLst>
          </c:dPt>
          <c:dLbls>
            <c:numFmt formatCode="0.0###" sourceLinked="0"/>
            <c:spPr>
              <a:noFill/>
              <a:ln>
                <a:noFill/>
              </a:ln>
              <a:effectLst/>
            </c:spPr>
            <c:txPr>
              <a:bodyPr/>
              <a:lstStyle/>
              <a:p>
                <a:pPr>
                  <a:defRPr sz="1200" b="0" i="0" u="none" strike="noStrike">
                    <a:solidFill>
                      <a:srgbClr val="F2F4F8"/>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HSK network</c:v>
                </c:pt>
                <c:pt idx="1">
                  <c:v>Rewired, same degrees</c:v>
                </c:pt>
                <c:pt idx="2">
                  <c:v>Erdős–Rényi random</c:v>
                </c:pt>
              </c:strCache>
            </c:strRef>
          </c:cat>
          <c:val>
            <c:numRef>
              <c:f>Sheet1!$B$2:$B$4</c:f>
              <c:numCache>
                <c:formatCode>General</c:formatCode>
                <c:ptCount val="3"/>
                <c:pt idx="0">
                  <c:v>0.16400000000000001</c:v>
                </c:pt>
                <c:pt idx="1">
                  <c:v>5.6000000000000001E-2</c:v>
                </c:pt>
                <c:pt idx="2">
                  <c:v>2.0999999999999999E-3</c:v>
                </c:pt>
              </c:numCache>
            </c:numRef>
          </c:val>
          <c:extLst>
            <c:ext xmlns:c16="http://schemas.microsoft.com/office/drawing/2014/chart" uri="{C3380CC4-5D6E-409C-BE32-E72D297353CC}">
              <c16:uniqueId val="{00000006-D27A-4FE9-AD13-2EDAFD13A259}"/>
            </c:ext>
          </c:extLst>
        </c:ser>
        <c:dLbls>
          <c:showLegendKey val="0"/>
          <c:showVal val="1"/>
          <c:showCatName val="0"/>
          <c:showSerName val="0"/>
          <c:showPercent val="0"/>
          <c:showBubbleSize val="0"/>
        </c:dLbls>
        <c:gapWidth val="60"/>
        <c:axId val="2094734554"/>
        <c:axId val="2094734552"/>
      </c:barChart>
      <c:catAx>
        <c:axId val="2094734554"/>
        <c:scaling>
          <c:orientation val="maxMin"/>
        </c:scaling>
        <c:delete val="0"/>
        <c:axPos val="l"/>
        <c:numFmt formatCode="General" sourceLinked="1"/>
        <c:majorTickMark val="none"/>
        <c:minorTickMark val="none"/>
        <c:tickLblPos val="nextTo"/>
        <c:spPr>
          <a:ln w="12700" cap="flat">
            <a:noFill/>
            <a:prstDash val="solid"/>
            <a:round/>
          </a:ln>
        </c:spPr>
        <c:txPr>
          <a:bodyPr/>
          <a:lstStyle/>
          <a:p>
            <a:pPr>
              <a:defRPr sz="1200" b="0" i="0" u="none" strike="noStrike">
                <a:solidFill>
                  <a:srgbClr val="B4BCCB"/>
                </a:solidFill>
                <a:latin typeface="+mn-lt"/>
              </a:defRPr>
            </a:pPr>
            <a:endParaRPr lang="en-US"/>
          </a:p>
        </c:txPr>
        <c:crossAx val="2094734552"/>
        <c:crosses val="autoZero"/>
        <c:auto val="1"/>
        <c:lblAlgn val="ctr"/>
        <c:lblOffset val="100"/>
        <c:noMultiLvlLbl val="1"/>
      </c:catAx>
      <c:valAx>
        <c:axId val="2094734552"/>
        <c:scaling>
          <c:orientation val="minMax"/>
          <c:max val="0.2"/>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bar"/>
        <c:grouping val="clustered"/>
        <c:varyColors val="0"/>
        <c:ser>
          <c:idx val="0"/>
          <c:order val="0"/>
          <c:tx>
            <c:strRef>
              <c:f>Sheet1!$B$1</c:f>
              <c:strCache>
                <c:ptCount val="1"/>
                <c:pt idx="0">
                  <c:v>Path length</c:v>
                </c:pt>
              </c:strCache>
            </c:strRef>
          </c:tx>
          <c:spPr>
            <a:solidFill>
              <a:srgbClr val="3987E5"/>
            </a:solidFill>
            <a:effectLst/>
          </c:spPr>
          <c:invertIfNegative val="0"/>
          <c:dPt>
            <c:idx val="0"/>
            <c:invertIfNegative val="0"/>
            <c:bubble3D val="0"/>
            <c:extLst>
              <c:ext xmlns:c16="http://schemas.microsoft.com/office/drawing/2014/chart" uri="{C3380CC4-5D6E-409C-BE32-E72D297353CC}">
                <c16:uniqueId val="{00000001-E7FD-4513-A66F-318FCA83102F}"/>
              </c:ext>
            </c:extLst>
          </c:dPt>
          <c:dPt>
            <c:idx val="1"/>
            <c:invertIfNegative val="0"/>
            <c:bubble3D val="0"/>
            <c:spPr>
              <a:solidFill>
                <a:srgbClr val="5B6577"/>
              </a:solidFill>
              <a:effectLst/>
            </c:spPr>
            <c:extLst>
              <c:ext xmlns:c16="http://schemas.microsoft.com/office/drawing/2014/chart" uri="{C3380CC4-5D6E-409C-BE32-E72D297353CC}">
                <c16:uniqueId val="{00000003-E7FD-4513-A66F-318FCA83102F}"/>
              </c:ext>
            </c:extLst>
          </c:dPt>
          <c:dPt>
            <c:idx val="2"/>
            <c:invertIfNegative val="0"/>
            <c:bubble3D val="0"/>
            <c:spPr>
              <a:solidFill>
                <a:srgbClr val="5B6577"/>
              </a:solidFill>
              <a:effectLst/>
            </c:spPr>
            <c:extLst>
              <c:ext xmlns:c16="http://schemas.microsoft.com/office/drawing/2014/chart" uri="{C3380CC4-5D6E-409C-BE32-E72D297353CC}">
                <c16:uniqueId val="{00000005-E7FD-4513-A66F-318FCA83102F}"/>
              </c:ext>
            </c:extLst>
          </c:dPt>
          <c:dLbls>
            <c:numFmt formatCode="0.00" sourceLinked="0"/>
            <c:spPr>
              <a:noFill/>
              <a:ln>
                <a:noFill/>
              </a:ln>
              <a:effectLst/>
            </c:spPr>
            <c:txPr>
              <a:bodyPr/>
              <a:lstStyle/>
              <a:p>
                <a:pPr>
                  <a:defRPr sz="1200" b="0" i="0" u="none" strike="noStrike">
                    <a:solidFill>
                      <a:srgbClr val="F2F4F8"/>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HSK network</c:v>
                </c:pt>
                <c:pt idx="1">
                  <c:v>Rewired, same degrees</c:v>
                </c:pt>
                <c:pt idx="2">
                  <c:v>Erdős–Rényi random</c:v>
                </c:pt>
              </c:strCache>
            </c:strRef>
          </c:cat>
          <c:val>
            <c:numRef>
              <c:f>Sheet1!$B$2:$B$4</c:f>
              <c:numCache>
                <c:formatCode>General</c:formatCode>
                <c:ptCount val="3"/>
                <c:pt idx="0">
                  <c:v>3.45</c:v>
                </c:pt>
                <c:pt idx="1">
                  <c:v>3.13</c:v>
                </c:pt>
                <c:pt idx="2">
                  <c:v>3.73</c:v>
                </c:pt>
              </c:numCache>
            </c:numRef>
          </c:val>
          <c:extLst>
            <c:ext xmlns:c16="http://schemas.microsoft.com/office/drawing/2014/chart" uri="{C3380CC4-5D6E-409C-BE32-E72D297353CC}">
              <c16:uniqueId val="{00000006-E7FD-4513-A66F-318FCA83102F}"/>
            </c:ext>
          </c:extLst>
        </c:ser>
        <c:dLbls>
          <c:showLegendKey val="0"/>
          <c:showVal val="1"/>
          <c:showCatName val="0"/>
          <c:showSerName val="0"/>
          <c:showPercent val="0"/>
          <c:showBubbleSize val="0"/>
        </c:dLbls>
        <c:gapWidth val="60"/>
        <c:axId val="2094734554"/>
        <c:axId val="2094734552"/>
      </c:barChart>
      <c:catAx>
        <c:axId val="2094734554"/>
        <c:scaling>
          <c:orientation val="maxMin"/>
        </c:scaling>
        <c:delete val="0"/>
        <c:axPos val="l"/>
        <c:numFmt formatCode="General" sourceLinked="1"/>
        <c:majorTickMark val="none"/>
        <c:minorTickMark val="none"/>
        <c:tickLblPos val="nextTo"/>
        <c:spPr>
          <a:ln w="12700" cap="flat">
            <a:noFill/>
            <a:prstDash val="solid"/>
            <a:round/>
          </a:ln>
        </c:spPr>
        <c:txPr>
          <a:bodyPr/>
          <a:lstStyle/>
          <a:p>
            <a:pPr>
              <a:defRPr sz="1200" b="0" i="0" u="none" strike="noStrike">
                <a:solidFill>
                  <a:srgbClr val="B4BCCB"/>
                </a:solidFill>
                <a:latin typeface="+mn-lt"/>
              </a:defRPr>
            </a:pPr>
            <a:endParaRPr lang="en-US"/>
          </a:p>
        </c:txPr>
        <c:crossAx val="2094734552"/>
        <c:crosses val="autoZero"/>
        <c:auto val="1"/>
        <c:lblAlgn val="ctr"/>
        <c:lblOffset val="100"/>
        <c:noMultiLvlLbl val="1"/>
      </c:catAx>
      <c:valAx>
        <c:axId val="2094734552"/>
        <c:scaling>
          <c:orientation val="minMax"/>
          <c:max val="4.5"/>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bar"/>
        <c:grouping val="clustered"/>
        <c:varyColors val="0"/>
        <c:ser>
          <c:idx val="0"/>
          <c:order val="0"/>
          <c:tx>
            <c:strRef>
              <c:f>Sheet1!$B$1</c:f>
              <c:strCache>
                <c:ptCount val="1"/>
                <c:pt idx="0">
                  <c:v>Spearman rho</c:v>
                </c:pt>
              </c:strCache>
            </c:strRef>
          </c:tx>
          <c:spPr>
            <a:solidFill>
              <a:srgbClr val="3987E5"/>
            </a:solidFill>
            <a:effectLst/>
          </c:spPr>
          <c:invertIfNegative val="0"/>
          <c:dLbls>
            <c:numFmt formatCode="0.00" sourceLinked="0"/>
            <c:spPr>
              <a:noFill/>
              <a:ln>
                <a:noFill/>
              </a:ln>
              <a:effectLst/>
            </c:spPr>
            <c:txPr>
              <a:bodyPr/>
              <a:lstStyle/>
              <a:p>
                <a:pPr>
                  <a:defRPr sz="1200" b="0" i="0" u="none" strike="noStrike">
                    <a:solidFill>
                      <a:srgbClr val="F2F4F8"/>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PageRank</c:v>
                </c:pt>
                <c:pt idx="1">
                  <c:v>k-core</c:v>
                </c:pt>
                <c:pt idx="2">
                  <c:v>Betweenness</c:v>
                </c:pt>
                <c:pt idx="3">
                  <c:v>Closeness</c:v>
                </c:pt>
                <c:pt idx="4">
                  <c:v>Katz</c:v>
                </c:pt>
                <c:pt idx="5">
                  <c:v>Eigenvector</c:v>
                </c:pt>
              </c:strCache>
            </c:strRef>
          </c:cat>
          <c:val>
            <c:numRef>
              <c:f>Sheet1!$B$2:$B$7</c:f>
              <c:numCache>
                <c:formatCode>General</c:formatCode>
                <c:ptCount val="6"/>
                <c:pt idx="0">
                  <c:v>0.97</c:v>
                </c:pt>
                <c:pt idx="1">
                  <c:v>0.94</c:v>
                </c:pt>
                <c:pt idx="2">
                  <c:v>0.82</c:v>
                </c:pt>
                <c:pt idx="3">
                  <c:v>0.77</c:v>
                </c:pt>
                <c:pt idx="4">
                  <c:v>0.77</c:v>
                </c:pt>
                <c:pt idx="5">
                  <c:v>0.73</c:v>
                </c:pt>
              </c:numCache>
            </c:numRef>
          </c:val>
          <c:extLst>
            <c:ext xmlns:c16="http://schemas.microsoft.com/office/drawing/2014/chart" uri="{C3380CC4-5D6E-409C-BE32-E72D297353CC}">
              <c16:uniqueId val="{00000000-19B6-4783-9082-C91983D27851}"/>
            </c:ext>
          </c:extLst>
        </c:ser>
        <c:dLbls>
          <c:showLegendKey val="0"/>
          <c:showVal val="1"/>
          <c:showCatName val="0"/>
          <c:showSerName val="0"/>
          <c:showPercent val="0"/>
          <c:showBubbleSize val="0"/>
        </c:dLbls>
        <c:gapWidth val="70"/>
        <c:axId val="2094734554"/>
        <c:axId val="2094734552"/>
      </c:barChart>
      <c:catAx>
        <c:axId val="2094734554"/>
        <c:scaling>
          <c:orientation val="maxMin"/>
        </c:scaling>
        <c:delete val="0"/>
        <c:axPos val="l"/>
        <c:numFmt formatCode="General" sourceLinked="1"/>
        <c:majorTickMark val="none"/>
        <c:minorTickMark val="none"/>
        <c:tickLblPos val="nextTo"/>
        <c:spPr>
          <a:ln w="12700" cap="flat">
            <a:noFill/>
            <a:prstDash val="solid"/>
            <a:round/>
          </a:ln>
        </c:spPr>
        <c:txPr>
          <a:bodyPr/>
          <a:lstStyle/>
          <a:p>
            <a:pPr>
              <a:defRPr sz="1200" b="0" i="0" u="none" strike="noStrike">
                <a:solidFill>
                  <a:srgbClr val="B4BCCB"/>
                </a:solidFill>
                <a:latin typeface="+mn-lt"/>
              </a:defRPr>
            </a:pPr>
            <a:endParaRPr lang="en-US"/>
          </a:p>
        </c:txPr>
        <c:crossAx val="2094734552"/>
        <c:crosses val="autoZero"/>
        <c:auto val="1"/>
        <c:lblAlgn val="ctr"/>
        <c:lblOffset val="100"/>
        <c:noMultiLvlLbl val="1"/>
      </c:catAx>
      <c:valAx>
        <c:axId val="2094734552"/>
        <c:scaling>
          <c:orientation val="minMax"/>
          <c:max val="1.1499999999999999"/>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
          <c:y val="0"/>
          <c:w val="1"/>
          <c:h val="1"/>
        </c:manualLayout>
      </c:layout>
      <c:barChart>
        <c:barDir val="bar"/>
        <c:grouping val="percentStacked"/>
        <c:varyColors val="0"/>
        <c:ser>
          <c:idx val="0"/>
          <c:order val="0"/>
          <c:tx>
            <c:strRef>
              <c:f>Sheet1!$B$1</c:f>
              <c:strCache>
                <c:ptCount val="1"/>
                <c:pt idx="0">
                  <c:v>HSK 1</c:v>
                </c:pt>
              </c:strCache>
            </c:strRef>
          </c:tx>
          <c:spPr>
            <a:solidFill>
              <a:srgbClr val="C6DCF7"/>
            </a:solidFill>
            <a:effectLst/>
          </c:spPr>
          <c:invertIfNegative val="0"/>
          <c:dLbls>
            <c:numFmt formatCode="[&lt;8]&quot;&quot;;0&quot;%&quot;" sourceLinked="0"/>
            <c:spPr>
              <a:noFill/>
              <a:ln>
                <a:noFill/>
              </a:ln>
              <a:effectLst/>
            </c:spPr>
            <c:txPr>
              <a:bodyPr/>
              <a:lstStyle/>
              <a:p>
                <a:pPr>
                  <a:defRPr sz="1200" b="0" i="0" u="none" strike="noStrike">
                    <a:solidFill>
                      <a:srgbClr val="07090E"/>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Pointing and wanting</c:v>
                </c:pt>
                <c:pt idx="1">
                  <c:v>Negation and goodness</c:v>
                </c:pt>
                <c:pt idx="2">
                  <c:v>Having and wanting more</c:v>
                </c:pt>
                <c:pt idx="3">
                  <c:v>Linking and contrast</c:v>
                </c:pt>
                <c:pt idx="4">
                  <c:v>Asking and going</c:v>
                </c:pt>
                <c:pt idx="5">
                  <c:v>Comparing and degree</c:v>
                </c:pt>
                <c:pt idx="6">
                  <c:v>Core pronouns and “is”</c:v>
                </c:pt>
                <c:pt idx="7">
                  <c:v>Place and ongoing action</c:v>
                </c:pt>
              </c:strCache>
            </c:strRef>
          </c:cat>
          <c:val>
            <c:numRef>
              <c:f>Sheet1!$B$2:$B$9</c:f>
              <c:numCache>
                <c:formatCode>General</c:formatCode>
                <c:ptCount val="8"/>
                <c:pt idx="0">
                  <c:v>19</c:v>
                </c:pt>
                <c:pt idx="1">
                  <c:v>34</c:v>
                </c:pt>
                <c:pt idx="2">
                  <c:v>22</c:v>
                </c:pt>
                <c:pt idx="3">
                  <c:v>3</c:v>
                </c:pt>
                <c:pt idx="4">
                  <c:v>31</c:v>
                </c:pt>
                <c:pt idx="5">
                  <c:v>3</c:v>
                </c:pt>
                <c:pt idx="6">
                  <c:v>70</c:v>
                </c:pt>
                <c:pt idx="7">
                  <c:v>42</c:v>
                </c:pt>
              </c:numCache>
            </c:numRef>
          </c:val>
          <c:extLst>
            <c:ext xmlns:c16="http://schemas.microsoft.com/office/drawing/2014/chart" uri="{C3380CC4-5D6E-409C-BE32-E72D297353CC}">
              <c16:uniqueId val="{00000000-A93C-408B-943E-42F8E035F0BF}"/>
            </c:ext>
          </c:extLst>
        </c:ser>
        <c:ser>
          <c:idx val="1"/>
          <c:order val="1"/>
          <c:tx>
            <c:strRef>
              <c:f>Sheet1!$C$1</c:f>
              <c:strCache>
                <c:ptCount val="1"/>
                <c:pt idx="0">
                  <c:v>HSK 2</c:v>
                </c:pt>
              </c:strCache>
            </c:strRef>
          </c:tx>
          <c:spPr>
            <a:solidFill>
              <a:srgbClr val="6AA5EE"/>
            </a:solidFill>
            <a:effectLst/>
          </c:spPr>
          <c:invertIfNegative val="0"/>
          <c:dLbls>
            <c:numFmt formatCode="[&lt;8]&quot;&quot;;0&quot;%&quot;" sourceLinked="0"/>
            <c:spPr>
              <a:noFill/>
              <a:ln>
                <a:noFill/>
              </a:ln>
              <a:effectLst/>
            </c:spPr>
            <c:txPr>
              <a:bodyPr/>
              <a:lstStyle/>
              <a:p>
                <a:pPr>
                  <a:defRPr sz="1200" b="0" i="0" u="none" strike="noStrike">
                    <a:solidFill>
                      <a:srgbClr val="07090E"/>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Pointing and wanting</c:v>
                </c:pt>
                <c:pt idx="1">
                  <c:v>Negation and goodness</c:v>
                </c:pt>
                <c:pt idx="2">
                  <c:v>Having and wanting more</c:v>
                </c:pt>
                <c:pt idx="3">
                  <c:v>Linking and contrast</c:v>
                </c:pt>
                <c:pt idx="4">
                  <c:v>Asking and going</c:v>
                </c:pt>
                <c:pt idx="5">
                  <c:v>Comparing and degree</c:v>
                </c:pt>
                <c:pt idx="6">
                  <c:v>Core pronouns and “is”</c:v>
                </c:pt>
                <c:pt idx="7">
                  <c:v>Place and ongoing action</c:v>
                </c:pt>
              </c:strCache>
            </c:strRef>
          </c:cat>
          <c:val>
            <c:numRef>
              <c:f>Sheet1!$C$2:$C$9</c:f>
              <c:numCache>
                <c:formatCode>General</c:formatCode>
                <c:ptCount val="8"/>
                <c:pt idx="0">
                  <c:v>13</c:v>
                </c:pt>
                <c:pt idx="1">
                  <c:v>15</c:v>
                </c:pt>
                <c:pt idx="2">
                  <c:v>37</c:v>
                </c:pt>
                <c:pt idx="3">
                  <c:v>42</c:v>
                </c:pt>
                <c:pt idx="4">
                  <c:v>20</c:v>
                </c:pt>
                <c:pt idx="5">
                  <c:v>44</c:v>
                </c:pt>
                <c:pt idx="6">
                  <c:v>12</c:v>
                </c:pt>
                <c:pt idx="7">
                  <c:v>43</c:v>
                </c:pt>
              </c:numCache>
            </c:numRef>
          </c:val>
          <c:extLst>
            <c:ext xmlns:c16="http://schemas.microsoft.com/office/drawing/2014/chart" uri="{C3380CC4-5D6E-409C-BE32-E72D297353CC}">
              <c16:uniqueId val="{00000001-A93C-408B-943E-42F8E035F0BF}"/>
            </c:ext>
          </c:extLst>
        </c:ser>
        <c:ser>
          <c:idx val="2"/>
          <c:order val="2"/>
          <c:tx>
            <c:strRef>
              <c:f>Sheet1!$D$1</c:f>
              <c:strCache>
                <c:ptCount val="1"/>
                <c:pt idx="0">
                  <c:v>HSK 3</c:v>
                </c:pt>
              </c:strCache>
            </c:strRef>
          </c:tx>
          <c:spPr>
            <a:solidFill>
              <a:srgbClr val="2F6FC0"/>
            </a:solidFill>
            <a:effectLst/>
          </c:spPr>
          <c:invertIfNegative val="0"/>
          <c:dLbls>
            <c:numFmt formatCode="[&lt;8]&quot;&quot;;0&quot;%&quot;" sourceLinked="0"/>
            <c:spPr>
              <a:noFill/>
              <a:ln>
                <a:noFill/>
              </a:ln>
              <a:effectLst/>
            </c:spPr>
            <c:txPr>
              <a:bodyPr/>
              <a:lstStyle/>
              <a:p>
                <a:pPr>
                  <a:defRPr sz="1200" b="0" i="0" u="none" strike="noStrike">
                    <a:solidFill>
                      <a:srgbClr val="F2F4F8"/>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Pointing and wanting</c:v>
                </c:pt>
                <c:pt idx="1">
                  <c:v>Negation and goodness</c:v>
                </c:pt>
                <c:pt idx="2">
                  <c:v>Having and wanting more</c:v>
                </c:pt>
                <c:pt idx="3">
                  <c:v>Linking and contrast</c:v>
                </c:pt>
                <c:pt idx="4">
                  <c:v>Asking and going</c:v>
                </c:pt>
                <c:pt idx="5">
                  <c:v>Comparing and degree</c:v>
                </c:pt>
                <c:pt idx="6">
                  <c:v>Core pronouns and “is”</c:v>
                </c:pt>
                <c:pt idx="7">
                  <c:v>Place and ongoing action</c:v>
                </c:pt>
              </c:strCache>
            </c:strRef>
          </c:cat>
          <c:val>
            <c:numRef>
              <c:f>Sheet1!$D$2:$D$9</c:f>
              <c:numCache>
                <c:formatCode>General</c:formatCode>
                <c:ptCount val="8"/>
                <c:pt idx="0">
                  <c:v>69</c:v>
                </c:pt>
                <c:pt idx="1">
                  <c:v>51</c:v>
                </c:pt>
                <c:pt idx="2">
                  <c:v>41</c:v>
                </c:pt>
                <c:pt idx="3">
                  <c:v>55</c:v>
                </c:pt>
                <c:pt idx="4">
                  <c:v>49</c:v>
                </c:pt>
                <c:pt idx="5">
                  <c:v>53</c:v>
                </c:pt>
                <c:pt idx="6">
                  <c:v>18</c:v>
                </c:pt>
                <c:pt idx="7">
                  <c:v>15</c:v>
                </c:pt>
              </c:numCache>
            </c:numRef>
          </c:val>
          <c:extLst>
            <c:ext xmlns:c16="http://schemas.microsoft.com/office/drawing/2014/chart" uri="{C3380CC4-5D6E-409C-BE32-E72D297353CC}">
              <c16:uniqueId val="{00000002-A93C-408B-943E-42F8E035F0BF}"/>
            </c:ext>
          </c:extLst>
        </c:ser>
        <c:dLbls>
          <c:dLblPos val="ctr"/>
          <c:showLegendKey val="0"/>
          <c:showVal val="1"/>
          <c:showCatName val="0"/>
          <c:showSerName val="0"/>
          <c:showPercent val="0"/>
          <c:showBubbleSize val="0"/>
        </c:dLbls>
        <c:gapWidth val="40"/>
        <c:overlap val="100"/>
        <c:axId val="2094734554"/>
        <c:axId val="2094734552"/>
      </c:barChart>
      <c:catAx>
        <c:axId val="2094734554"/>
        <c:scaling>
          <c:orientation val="maxMin"/>
        </c:scaling>
        <c:delete val="1"/>
        <c:axPos val="l"/>
        <c:numFmt formatCode="General" sourceLinked="1"/>
        <c:majorTickMark val="none"/>
        <c:minorTickMark val="none"/>
        <c:tickLblPos val="nextTo"/>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lineChart>
        <c:grouping val="standard"/>
        <c:varyColors val="0"/>
        <c:ser>
          <c:idx val="0"/>
          <c:order val="0"/>
          <c:tx>
            <c:strRef>
              <c:f>Sheet1!$B$1</c:f>
              <c:strCache>
                <c:ptCount val="1"/>
                <c:pt idx="0">
                  <c:v>Random failure (mean of 5 runs)</c:v>
                </c:pt>
              </c:strCache>
            </c:strRef>
          </c:tx>
          <c:spPr>
            <a:ln w="28575" cap="flat">
              <a:solidFill>
                <a:srgbClr val="3987E5"/>
              </a:solidFill>
              <a:prstDash val="solid"/>
              <a:round/>
            </a:ln>
            <a:effectLst/>
          </c:spPr>
          <c:marker>
            <c:symbol val="none"/>
          </c:marker>
          <c:cat>
            <c:strRef>
              <c:f>Sheet1!$A$2:$A$17</c:f>
              <c:strCache>
                <c:ptCount val="16"/>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strCache>
            </c:strRef>
          </c:cat>
          <c:val>
            <c:numRef>
              <c:f>Sheet1!$B$2:$B$17</c:f>
              <c:numCache>
                <c:formatCode>General</c:formatCode>
                <c:ptCount val="16"/>
                <c:pt idx="0">
                  <c:v>1</c:v>
                </c:pt>
                <c:pt idx="1">
                  <c:v>0.97870000000000001</c:v>
                </c:pt>
                <c:pt idx="2">
                  <c:v>0.95750000000000002</c:v>
                </c:pt>
                <c:pt idx="3">
                  <c:v>0.93500000000000005</c:v>
                </c:pt>
                <c:pt idx="4">
                  <c:v>0.91269999999999996</c:v>
                </c:pt>
                <c:pt idx="5">
                  <c:v>0.89059999999999995</c:v>
                </c:pt>
                <c:pt idx="6">
                  <c:v>0.86980000000000002</c:v>
                </c:pt>
                <c:pt idx="7">
                  <c:v>0.84840000000000004</c:v>
                </c:pt>
                <c:pt idx="8">
                  <c:v>0.82569999999999999</c:v>
                </c:pt>
                <c:pt idx="9">
                  <c:v>0.80469999999999997</c:v>
                </c:pt>
                <c:pt idx="10">
                  <c:v>0.78359999999999996</c:v>
                </c:pt>
                <c:pt idx="11">
                  <c:v>0.76270000000000004</c:v>
                </c:pt>
                <c:pt idx="12">
                  <c:v>0.74019999999999997</c:v>
                </c:pt>
                <c:pt idx="13">
                  <c:v>0.71840000000000004</c:v>
                </c:pt>
                <c:pt idx="14">
                  <c:v>0.69679999999999997</c:v>
                </c:pt>
                <c:pt idx="15">
                  <c:v>0.67490000000000006</c:v>
                </c:pt>
              </c:numCache>
            </c:numRef>
          </c:val>
          <c:smooth val="0"/>
          <c:extLst>
            <c:ext xmlns:c16="http://schemas.microsoft.com/office/drawing/2014/chart" uri="{C3380CC4-5D6E-409C-BE32-E72D297353CC}">
              <c16:uniqueId val="{00000000-C3B2-4FB8-BC37-B9836A332BB3}"/>
            </c:ext>
          </c:extLst>
        </c:ser>
        <c:ser>
          <c:idx val="1"/>
          <c:order val="1"/>
          <c:tx>
            <c:strRef>
              <c:f>Sheet1!$C$1</c:f>
              <c:strCache>
                <c:ptCount val="1"/>
                <c:pt idx="0">
                  <c:v>Attack by betweenness</c:v>
                </c:pt>
              </c:strCache>
            </c:strRef>
          </c:tx>
          <c:spPr>
            <a:ln w="28575" cap="flat">
              <a:solidFill>
                <a:srgbClr val="199E70"/>
              </a:solidFill>
              <a:prstDash val="solid"/>
              <a:round/>
            </a:ln>
            <a:effectLst/>
          </c:spPr>
          <c:marker>
            <c:symbol val="none"/>
          </c:marker>
          <c:cat>
            <c:strRef>
              <c:f>Sheet1!$A$2:$A$17</c:f>
              <c:strCache>
                <c:ptCount val="16"/>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strCache>
            </c:strRef>
          </c:cat>
          <c:val>
            <c:numRef>
              <c:f>Sheet1!$C$2:$C$17</c:f>
              <c:numCache>
                <c:formatCode>General</c:formatCode>
                <c:ptCount val="16"/>
                <c:pt idx="0">
                  <c:v>1</c:v>
                </c:pt>
                <c:pt idx="1">
                  <c:v>0.92969999999999997</c:v>
                </c:pt>
                <c:pt idx="2">
                  <c:v>0.88100000000000001</c:v>
                </c:pt>
                <c:pt idx="3">
                  <c:v>0.84460000000000002</c:v>
                </c:pt>
                <c:pt idx="4">
                  <c:v>0.81189999999999996</c:v>
                </c:pt>
                <c:pt idx="5">
                  <c:v>0.77839999999999998</c:v>
                </c:pt>
                <c:pt idx="6">
                  <c:v>0.74790000000000001</c:v>
                </c:pt>
                <c:pt idx="7">
                  <c:v>0.71109999999999995</c:v>
                </c:pt>
                <c:pt idx="8">
                  <c:v>0.67759999999999998</c:v>
                </c:pt>
                <c:pt idx="9">
                  <c:v>0.64970000000000006</c:v>
                </c:pt>
                <c:pt idx="10">
                  <c:v>0.61799999999999999</c:v>
                </c:pt>
                <c:pt idx="11">
                  <c:v>0.58950000000000002</c:v>
                </c:pt>
                <c:pt idx="12">
                  <c:v>0.55249999999999999</c:v>
                </c:pt>
                <c:pt idx="13">
                  <c:v>0.51759999999999995</c:v>
                </c:pt>
                <c:pt idx="14">
                  <c:v>0.48020000000000002</c:v>
                </c:pt>
                <c:pt idx="15">
                  <c:v>0.45250000000000001</c:v>
                </c:pt>
              </c:numCache>
            </c:numRef>
          </c:val>
          <c:smooth val="0"/>
          <c:extLst>
            <c:ext xmlns:c16="http://schemas.microsoft.com/office/drawing/2014/chart" uri="{C3380CC4-5D6E-409C-BE32-E72D297353CC}">
              <c16:uniqueId val="{00000001-C3B2-4FB8-BC37-B9836A332BB3}"/>
            </c:ext>
          </c:extLst>
        </c:ser>
        <c:ser>
          <c:idx val="2"/>
          <c:order val="2"/>
          <c:tx>
            <c:strRef>
              <c:f>Sheet1!$D$1</c:f>
              <c:strCache>
                <c:ptCount val="1"/>
                <c:pt idx="0">
                  <c:v>Attack by degree</c:v>
                </c:pt>
              </c:strCache>
            </c:strRef>
          </c:tx>
          <c:spPr>
            <a:ln w="28575" cap="flat">
              <a:solidFill>
                <a:srgbClr val="D95926"/>
              </a:solidFill>
              <a:prstDash val="solid"/>
              <a:round/>
            </a:ln>
            <a:effectLst/>
          </c:spPr>
          <c:marker>
            <c:symbol val="none"/>
          </c:marker>
          <c:cat>
            <c:strRef>
              <c:f>Sheet1!$A$2:$A$17</c:f>
              <c:strCache>
                <c:ptCount val="16"/>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strCache>
            </c:strRef>
          </c:cat>
          <c:val>
            <c:numRef>
              <c:f>Sheet1!$D$2:$D$17</c:f>
              <c:numCache>
                <c:formatCode>General</c:formatCode>
                <c:ptCount val="16"/>
                <c:pt idx="0">
                  <c:v>1</c:v>
                </c:pt>
                <c:pt idx="1">
                  <c:v>0.93659999999999999</c:v>
                </c:pt>
                <c:pt idx="2">
                  <c:v>0.88770000000000004</c:v>
                </c:pt>
                <c:pt idx="3">
                  <c:v>0.82799999999999996</c:v>
                </c:pt>
                <c:pt idx="4">
                  <c:v>0.75349999999999995</c:v>
                </c:pt>
                <c:pt idx="5">
                  <c:v>0.71</c:v>
                </c:pt>
                <c:pt idx="6">
                  <c:v>0.6492</c:v>
                </c:pt>
                <c:pt idx="7">
                  <c:v>0.6018</c:v>
                </c:pt>
                <c:pt idx="8">
                  <c:v>0.54300000000000004</c:v>
                </c:pt>
                <c:pt idx="9">
                  <c:v>0.47820000000000001</c:v>
                </c:pt>
                <c:pt idx="10">
                  <c:v>0.43580000000000002</c:v>
                </c:pt>
                <c:pt idx="11">
                  <c:v>0.36919999999999997</c:v>
                </c:pt>
                <c:pt idx="12">
                  <c:v>0.29970000000000002</c:v>
                </c:pt>
                <c:pt idx="13">
                  <c:v>0.2147</c:v>
                </c:pt>
                <c:pt idx="14">
                  <c:v>0.19109999999999999</c:v>
                </c:pt>
                <c:pt idx="15">
                  <c:v>1.7100000000000001E-2</c:v>
                </c:pt>
              </c:numCache>
            </c:numRef>
          </c:val>
          <c:smooth val="0"/>
          <c:extLst>
            <c:ext xmlns:c16="http://schemas.microsoft.com/office/drawing/2014/chart" uri="{C3380CC4-5D6E-409C-BE32-E72D297353CC}">
              <c16:uniqueId val="{00000002-C3B2-4FB8-BC37-B9836A332BB3}"/>
            </c:ext>
          </c:extLst>
        </c:ser>
        <c:ser>
          <c:idx val="3"/>
          <c:order val="3"/>
          <c:tx>
            <c:strRef>
              <c:f>Sheet1!$E$1</c:f>
              <c:strCache>
                <c:ptCount val="1"/>
                <c:pt idx="0">
                  <c:v>Degree, recomputed every step</c:v>
                </c:pt>
              </c:strCache>
            </c:strRef>
          </c:tx>
          <c:spPr>
            <a:ln w="28575" cap="flat">
              <a:solidFill>
                <a:srgbClr val="B4BCCB"/>
              </a:solidFill>
              <a:prstDash val="dash"/>
              <a:round/>
            </a:ln>
            <a:effectLst/>
          </c:spPr>
          <c:marker>
            <c:symbol val="none"/>
          </c:marker>
          <c:cat>
            <c:strRef>
              <c:f>Sheet1!$A$2:$A$17</c:f>
              <c:strCache>
                <c:ptCount val="16"/>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strCache>
            </c:strRef>
          </c:cat>
          <c:val>
            <c:numRef>
              <c:f>Sheet1!$E$2:$E$17</c:f>
              <c:numCache>
                <c:formatCode>General</c:formatCode>
                <c:ptCount val="16"/>
                <c:pt idx="0">
                  <c:v>1</c:v>
                </c:pt>
                <c:pt idx="1">
                  <c:v>0.94110000000000005</c:v>
                </c:pt>
                <c:pt idx="2">
                  <c:v>0.88990000000000002</c:v>
                </c:pt>
                <c:pt idx="3">
                  <c:v>0.81930000000000003</c:v>
                </c:pt>
                <c:pt idx="4">
                  <c:v>0.74270000000000003</c:v>
                </c:pt>
                <c:pt idx="5">
                  <c:v>0.6633</c:v>
                </c:pt>
                <c:pt idx="6">
                  <c:v>0.57669999999999999</c:v>
                </c:pt>
                <c:pt idx="7">
                  <c:v>0.45119999999999999</c:v>
                </c:pt>
                <c:pt idx="8">
                  <c:v>0.30669999999999997</c:v>
                </c:pt>
                <c:pt idx="9">
                  <c:v>0.1346</c:v>
                </c:pt>
                <c:pt idx="10">
                  <c:v>1.9699999999999999E-2</c:v>
                </c:pt>
                <c:pt idx="11">
                  <c:v>4.4999999999999997E-3</c:v>
                </c:pt>
                <c:pt idx="12">
                  <c:v>2E-3</c:v>
                </c:pt>
                <c:pt idx="13">
                  <c:v>1.2999999999999999E-3</c:v>
                </c:pt>
                <c:pt idx="14">
                  <c:v>6.9999999999999999E-4</c:v>
                </c:pt>
                <c:pt idx="15">
                  <c:v>4.0000000000000002E-4</c:v>
                </c:pt>
              </c:numCache>
            </c:numRef>
          </c:val>
          <c:smooth val="0"/>
          <c:extLst>
            <c:ext xmlns:c16="http://schemas.microsoft.com/office/drawing/2014/chart" uri="{C3380CC4-5D6E-409C-BE32-E72D297353CC}">
              <c16:uniqueId val="{00000003-C3B2-4FB8-BC37-B9836A332BB3}"/>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1200" b="0" i="0" u="none" strike="noStrike">
                    <a:solidFill>
                      <a:srgbClr val="B4BCCB"/>
                    </a:solidFill>
                    <a:latin typeface="+mn-lt"/>
                  </a:defRPr>
                </a:pPr>
                <a:r>
                  <a:rPr lang="en-US" sz="1200" b="0" i="0" u="none" strike="noStrike">
                    <a:solidFill>
                      <a:srgbClr val="B4BCCB"/>
                    </a:solidFill>
                    <a:latin typeface="+mn-lt"/>
                  </a:rPr>
                  <a:t>Share of nodes removed</a:t>
                </a:r>
              </a:p>
            </c:rich>
          </c:tx>
          <c:overlay val="0"/>
        </c:title>
        <c:numFmt formatCode="General" sourceLinked="1"/>
        <c:majorTickMark val="none"/>
        <c:minorTickMark val="none"/>
        <c:tickLblPos val="low"/>
        <c:spPr>
          <a:ln w="12700" cap="flat">
            <a:solidFill>
              <a:srgbClr val="5B6577"/>
            </a:solidFill>
            <a:prstDash val="solid"/>
            <a:round/>
          </a:ln>
        </c:spPr>
        <c:txPr>
          <a:bodyPr/>
          <a:lstStyle/>
          <a:p>
            <a:pPr>
              <a:defRPr sz="1200" b="0" i="0" u="none" strike="noStrike">
                <a:solidFill>
                  <a:srgbClr val="7C8699"/>
                </a:solidFill>
                <a:latin typeface="+mn-lt"/>
              </a:defRPr>
            </a:pPr>
            <a:endParaRPr lang="en-US"/>
          </a:p>
        </c:txPr>
        <c:crossAx val="2094734552"/>
        <c:crosses val="autoZero"/>
        <c:auto val="1"/>
        <c:lblAlgn val="ctr"/>
        <c:lblOffset val="100"/>
        <c:tickLblSkip val="5"/>
        <c:noMultiLvlLbl val="1"/>
      </c:catAx>
      <c:valAx>
        <c:axId val="2094734552"/>
        <c:scaling>
          <c:orientation val="minMax"/>
          <c:max val="1"/>
          <c:min val="0"/>
        </c:scaling>
        <c:delete val="0"/>
        <c:axPos val="l"/>
        <c:majorGridlines>
          <c:spPr>
            <a:ln w="9525" cap="flat">
              <a:solidFill>
                <a:srgbClr val="1C2230"/>
              </a:solidFill>
              <a:prstDash val="solid"/>
              <a:round/>
            </a:ln>
          </c:spPr>
        </c:majorGridlines>
        <c:title>
          <c:tx>
            <c:rich>
              <a:bodyPr/>
              <a:lstStyle/>
              <a:p>
                <a:pPr>
                  <a:defRPr sz="1200" b="0" i="0" u="none" strike="noStrike">
                    <a:solidFill>
                      <a:srgbClr val="B4BCCB"/>
                    </a:solidFill>
                    <a:latin typeface="+mn-lt"/>
                  </a:defRPr>
                </a:pPr>
                <a:r>
                  <a:rPr lang="en-US" sz="1200" b="0" i="0" u="none" strike="noStrike">
                    <a:solidFill>
                      <a:srgbClr val="B4BCCB"/>
                    </a:solidFill>
                    <a:latin typeface="+mn-lt"/>
                  </a:rPr>
                  <a:t>Share of all nodes still in the giant component</a:t>
                </a:r>
              </a:p>
            </c:rich>
          </c:tx>
          <c:overlay val="0"/>
        </c:title>
        <c:numFmt formatCode="0%" sourceLinked="0"/>
        <c:majorTickMark val="out"/>
        <c:minorTickMark val="none"/>
        <c:tickLblPos val="nextTo"/>
        <c:spPr>
          <a:ln w="12700" cap="flat">
            <a:noFill/>
            <a:prstDash val="solid"/>
            <a:round/>
          </a:ln>
        </c:spPr>
        <c:txPr>
          <a:bodyPr/>
          <a:lstStyle/>
          <a:p>
            <a:pPr>
              <a:defRPr sz="1200" b="0" i="0" u="none" strike="noStrike">
                <a:solidFill>
                  <a:srgbClr val="7C8699"/>
                </a:solidFill>
                <a:latin typeface="+mn-lt"/>
              </a:defRPr>
            </a:pPr>
            <a:endParaRPr lang="en-US"/>
          </a:p>
        </c:txPr>
        <c:crossAx val="2094734554"/>
        <c:crosses val="autoZero"/>
        <c:crossBetween val="between"/>
        <c:majorUnit val="0.25"/>
      </c:valAx>
      <c:spPr>
        <a:no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lineChart>
        <c:grouping val="standard"/>
        <c:varyColors val="0"/>
        <c:ser>
          <c:idx val="0"/>
          <c:order val="0"/>
          <c:tx>
            <c:strRef>
              <c:f>Sheet1!$B$1</c:f>
              <c:strCache>
                <c:ptCount val="1"/>
                <c:pt idx="0">
                  <c:v>Character uses covered</c:v>
                </c:pt>
              </c:strCache>
            </c:strRef>
          </c:tx>
          <c:spPr>
            <a:ln w="28575" cap="flat">
              <a:solidFill>
                <a:srgbClr val="3987E5"/>
              </a:solidFill>
              <a:prstDash val="solid"/>
              <a:round/>
            </a:ln>
            <a:effectLst/>
          </c:spPr>
          <c:marker>
            <c:symbol val="none"/>
          </c:marker>
          <c:cat>
            <c:strRef>
              <c:f>Sheet1!$A$2:$A$52</c:f>
              <c:strCache>
                <c:ptCount val="51"/>
                <c:pt idx="0">
                  <c:v>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pt idx="16">
                  <c:v>160</c:v>
                </c:pt>
                <c:pt idx="17">
                  <c:v>170</c:v>
                </c:pt>
                <c:pt idx="18">
                  <c:v>180</c:v>
                </c:pt>
                <c:pt idx="19">
                  <c:v>190</c:v>
                </c:pt>
                <c:pt idx="20">
                  <c:v>200</c:v>
                </c:pt>
                <c:pt idx="21">
                  <c:v>210</c:v>
                </c:pt>
                <c:pt idx="22">
                  <c:v>220</c:v>
                </c:pt>
                <c:pt idx="23">
                  <c:v>230</c:v>
                </c:pt>
                <c:pt idx="24">
                  <c:v>240</c:v>
                </c:pt>
                <c:pt idx="25">
                  <c:v>250</c:v>
                </c:pt>
                <c:pt idx="26">
                  <c:v>260</c:v>
                </c:pt>
                <c:pt idx="27">
                  <c:v>270</c:v>
                </c:pt>
                <c:pt idx="28">
                  <c:v>280</c:v>
                </c:pt>
                <c:pt idx="29">
                  <c:v>290</c:v>
                </c:pt>
                <c:pt idx="30">
                  <c:v>300</c:v>
                </c:pt>
                <c:pt idx="31">
                  <c:v>310</c:v>
                </c:pt>
                <c:pt idx="32">
                  <c:v>320</c:v>
                </c:pt>
                <c:pt idx="33">
                  <c:v>330</c:v>
                </c:pt>
                <c:pt idx="34">
                  <c:v>340</c:v>
                </c:pt>
                <c:pt idx="35">
                  <c:v>350</c:v>
                </c:pt>
                <c:pt idx="36">
                  <c:v>360</c:v>
                </c:pt>
                <c:pt idx="37">
                  <c:v>370</c:v>
                </c:pt>
                <c:pt idx="38">
                  <c:v>380</c:v>
                </c:pt>
                <c:pt idx="39">
                  <c:v>390</c:v>
                </c:pt>
                <c:pt idx="40">
                  <c:v>400</c:v>
                </c:pt>
                <c:pt idx="41">
                  <c:v>410</c:v>
                </c:pt>
                <c:pt idx="42">
                  <c:v>420</c:v>
                </c:pt>
                <c:pt idx="43">
                  <c:v>430</c:v>
                </c:pt>
                <c:pt idx="44">
                  <c:v>440</c:v>
                </c:pt>
                <c:pt idx="45">
                  <c:v>450</c:v>
                </c:pt>
                <c:pt idx="46">
                  <c:v>460</c:v>
                </c:pt>
                <c:pt idx="47">
                  <c:v>470</c:v>
                </c:pt>
                <c:pt idx="48">
                  <c:v>480</c:v>
                </c:pt>
                <c:pt idx="49">
                  <c:v>490</c:v>
                </c:pt>
                <c:pt idx="50">
                  <c:v>500</c:v>
                </c:pt>
              </c:strCache>
            </c:strRef>
          </c:cat>
          <c:val>
            <c:numRef>
              <c:f>Sheet1!$B$2:$B$52</c:f>
              <c:numCache>
                <c:formatCode>General</c:formatCode>
                <c:ptCount val="51"/>
                <c:pt idx="0">
                  <c:v>0</c:v>
                </c:pt>
                <c:pt idx="1">
                  <c:v>0.31859999999999999</c:v>
                </c:pt>
                <c:pt idx="2">
                  <c:v>0.43790000000000001</c:v>
                </c:pt>
                <c:pt idx="3">
                  <c:v>0.53029999999999999</c:v>
                </c:pt>
                <c:pt idx="4">
                  <c:v>0.60060000000000002</c:v>
                </c:pt>
                <c:pt idx="5">
                  <c:v>0.64870000000000005</c:v>
                </c:pt>
                <c:pt idx="6">
                  <c:v>0.68710000000000004</c:v>
                </c:pt>
                <c:pt idx="7">
                  <c:v>0.71550000000000002</c:v>
                </c:pt>
                <c:pt idx="8">
                  <c:v>0.74299999999999999</c:v>
                </c:pt>
                <c:pt idx="9">
                  <c:v>0.7671</c:v>
                </c:pt>
                <c:pt idx="10">
                  <c:v>0.78769999999999996</c:v>
                </c:pt>
                <c:pt idx="11">
                  <c:v>0.80669999999999997</c:v>
                </c:pt>
                <c:pt idx="12">
                  <c:v>0.82250000000000001</c:v>
                </c:pt>
                <c:pt idx="13">
                  <c:v>0.83860000000000001</c:v>
                </c:pt>
                <c:pt idx="14">
                  <c:v>0.85419999999999996</c:v>
                </c:pt>
                <c:pt idx="15">
                  <c:v>0.86750000000000005</c:v>
                </c:pt>
                <c:pt idx="16">
                  <c:v>0.87760000000000005</c:v>
                </c:pt>
                <c:pt idx="17">
                  <c:v>0.88900000000000001</c:v>
                </c:pt>
                <c:pt idx="18">
                  <c:v>0.89659999999999995</c:v>
                </c:pt>
                <c:pt idx="19">
                  <c:v>0.90280000000000005</c:v>
                </c:pt>
                <c:pt idx="20">
                  <c:v>0.90969999999999995</c:v>
                </c:pt>
                <c:pt idx="21">
                  <c:v>0.91669999999999996</c:v>
                </c:pt>
                <c:pt idx="22">
                  <c:v>0.92190000000000005</c:v>
                </c:pt>
                <c:pt idx="23">
                  <c:v>0.92630000000000001</c:v>
                </c:pt>
                <c:pt idx="24">
                  <c:v>0.93140000000000001</c:v>
                </c:pt>
                <c:pt idx="25">
                  <c:v>0.93579999999999997</c:v>
                </c:pt>
                <c:pt idx="26">
                  <c:v>0.93969999999999998</c:v>
                </c:pt>
                <c:pt idx="27">
                  <c:v>0.94299999999999995</c:v>
                </c:pt>
                <c:pt idx="28">
                  <c:v>0.94520000000000004</c:v>
                </c:pt>
                <c:pt idx="29">
                  <c:v>0.94789999999999996</c:v>
                </c:pt>
                <c:pt idx="30">
                  <c:v>0.95009999999999994</c:v>
                </c:pt>
                <c:pt idx="31">
                  <c:v>0.9516</c:v>
                </c:pt>
                <c:pt idx="32">
                  <c:v>0.9536</c:v>
                </c:pt>
                <c:pt idx="33">
                  <c:v>0.95550000000000002</c:v>
                </c:pt>
                <c:pt idx="34">
                  <c:v>0.95720000000000005</c:v>
                </c:pt>
                <c:pt idx="35">
                  <c:v>0.95899999999999996</c:v>
                </c:pt>
                <c:pt idx="36">
                  <c:v>0.96130000000000004</c:v>
                </c:pt>
                <c:pt idx="37">
                  <c:v>0.96319999999999995</c:v>
                </c:pt>
                <c:pt idx="38">
                  <c:v>0.9647</c:v>
                </c:pt>
                <c:pt idx="39">
                  <c:v>0.96660000000000001</c:v>
                </c:pt>
                <c:pt idx="40">
                  <c:v>0.96789999999999998</c:v>
                </c:pt>
                <c:pt idx="41">
                  <c:v>0.96960000000000002</c:v>
                </c:pt>
                <c:pt idx="42">
                  <c:v>0.97089999999999999</c:v>
                </c:pt>
                <c:pt idx="43">
                  <c:v>0.97199999999999998</c:v>
                </c:pt>
                <c:pt idx="44">
                  <c:v>0.97340000000000004</c:v>
                </c:pt>
                <c:pt idx="45">
                  <c:v>0.97470000000000001</c:v>
                </c:pt>
                <c:pt idx="46">
                  <c:v>0.97570000000000001</c:v>
                </c:pt>
                <c:pt idx="47">
                  <c:v>0.97670000000000001</c:v>
                </c:pt>
                <c:pt idx="48">
                  <c:v>0.97770000000000001</c:v>
                </c:pt>
                <c:pt idx="49">
                  <c:v>0.9788</c:v>
                </c:pt>
                <c:pt idx="50">
                  <c:v>0.97989999999999999</c:v>
                </c:pt>
              </c:numCache>
            </c:numRef>
          </c:val>
          <c:smooth val="0"/>
          <c:extLst>
            <c:ext xmlns:c16="http://schemas.microsoft.com/office/drawing/2014/chart" uri="{C3380CC4-5D6E-409C-BE32-E72D297353CC}">
              <c16:uniqueId val="{00000000-8D9A-4EC0-89D5-E8787D3643A5}"/>
            </c:ext>
          </c:extLst>
        </c:ser>
        <c:ser>
          <c:idx val="1"/>
          <c:order val="1"/>
          <c:tx>
            <c:strRef>
              <c:f>Sheet1!$C$1</c:f>
              <c:strCache>
                <c:ptCount val="1"/>
                <c:pt idx="0">
                  <c:v>Sentences fully readable</c:v>
                </c:pt>
              </c:strCache>
            </c:strRef>
          </c:tx>
          <c:spPr>
            <a:ln w="28575" cap="flat">
              <a:solidFill>
                <a:srgbClr val="D95926"/>
              </a:solidFill>
              <a:prstDash val="solid"/>
              <a:round/>
            </a:ln>
            <a:effectLst/>
          </c:spPr>
          <c:marker>
            <c:symbol val="none"/>
          </c:marker>
          <c:cat>
            <c:strRef>
              <c:f>Sheet1!$A$2:$A$52</c:f>
              <c:strCache>
                <c:ptCount val="51"/>
                <c:pt idx="0">
                  <c:v>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pt idx="16">
                  <c:v>160</c:v>
                </c:pt>
                <c:pt idx="17">
                  <c:v>170</c:v>
                </c:pt>
                <c:pt idx="18">
                  <c:v>180</c:v>
                </c:pt>
                <c:pt idx="19">
                  <c:v>190</c:v>
                </c:pt>
                <c:pt idx="20">
                  <c:v>200</c:v>
                </c:pt>
                <c:pt idx="21">
                  <c:v>210</c:v>
                </c:pt>
                <c:pt idx="22">
                  <c:v>220</c:v>
                </c:pt>
                <c:pt idx="23">
                  <c:v>230</c:v>
                </c:pt>
                <c:pt idx="24">
                  <c:v>240</c:v>
                </c:pt>
                <c:pt idx="25">
                  <c:v>250</c:v>
                </c:pt>
                <c:pt idx="26">
                  <c:v>260</c:v>
                </c:pt>
                <c:pt idx="27">
                  <c:v>270</c:v>
                </c:pt>
                <c:pt idx="28">
                  <c:v>280</c:v>
                </c:pt>
                <c:pt idx="29">
                  <c:v>290</c:v>
                </c:pt>
                <c:pt idx="30">
                  <c:v>300</c:v>
                </c:pt>
                <c:pt idx="31">
                  <c:v>310</c:v>
                </c:pt>
                <c:pt idx="32">
                  <c:v>320</c:v>
                </c:pt>
                <c:pt idx="33">
                  <c:v>330</c:v>
                </c:pt>
                <c:pt idx="34">
                  <c:v>340</c:v>
                </c:pt>
                <c:pt idx="35">
                  <c:v>350</c:v>
                </c:pt>
                <c:pt idx="36">
                  <c:v>360</c:v>
                </c:pt>
                <c:pt idx="37">
                  <c:v>370</c:v>
                </c:pt>
                <c:pt idx="38">
                  <c:v>380</c:v>
                </c:pt>
                <c:pt idx="39">
                  <c:v>390</c:v>
                </c:pt>
                <c:pt idx="40">
                  <c:v>400</c:v>
                </c:pt>
                <c:pt idx="41">
                  <c:v>410</c:v>
                </c:pt>
                <c:pt idx="42">
                  <c:v>420</c:v>
                </c:pt>
                <c:pt idx="43">
                  <c:v>430</c:v>
                </c:pt>
                <c:pt idx="44">
                  <c:v>440</c:v>
                </c:pt>
                <c:pt idx="45">
                  <c:v>450</c:v>
                </c:pt>
                <c:pt idx="46">
                  <c:v>460</c:v>
                </c:pt>
                <c:pt idx="47">
                  <c:v>470</c:v>
                </c:pt>
                <c:pt idx="48">
                  <c:v>480</c:v>
                </c:pt>
                <c:pt idx="49">
                  <c:v>490</c:v>
                </c:pt>
                <c:pt idx="50">
                  <c:v>500</c:v>
                </c:pt>
              </c:strCache>
            </c:strRef>
          </c:cat>
          <c:val>
            <c:numRef>
              <c:f>Sheet1!$C$2:$C$52</c:f>
              <c:numCache>
                <c:formatCode>General</c:formatCode>
                <c:ptCount val="51"/>
                <c:pt idx="0">
                  <c:v>0</c:v>
                </c:pt>
                <c:pt idx="1">
                  <c:v>6.8500000000000005E-2</c:v>
                </c:pt>
                <c:pt idx="2">
                  <c:v>0.1172</c:v>
                </c:pt>
                <c:pt idx="3">
                  <c:v>0.19</c:v>
                </c:pt>
                <c:pt idx="4">
                  <c:v>0.25769999999999998</c:v>
                </c:pt>
                <c:pt idx="5">
                  <c:v>0.31330000000000002</c:v>
                </c:pt>
                <c:pt idx="6">
                  <c:v>0.34949999999999998</c:v>
                </c:pt>
                <c:pt idx="7">
                  <c:v>0.38279999999999997</c:v>
                </c:pt>
                <c:pt idx="8">
                  <c:v>0.42799999999999999</c:v>
                </c:pt>
                <c:pt idx="9">
                  <c:v>0.4677</c:v>
                </c:pt>
                <c:pt idx="10">
                  <c:v>0.50470000000000004</c:v>
                </c:pt>
                <c:pt idx="11">
                  <c:v>0.55159999999999998</c:v>
                </c:pt>
                <c:pt idx="12">
                  <c:v>0.5806</c:v>
                </c:pt>
                <c:pt idx="13">
                  <c:v>0.62080000000000002</c:v>
                </c:pt>
                <c:pt idx="14">
                  <c:v>0.65880000000000005</c:v>
                </c:pt>
                <c:pt idx="15">
                  <c:v>0.69140000000000001</c:v>
                </c:pt>
                <c:pt idx="16">
                  <c:v>0.72040000000000004</c:v>
                </c:pt>
                <c:pt idx="17">
                  <c:v>0.75019999999999998</c:v>
                </c:pt>
                <c:pt idx="18">
                  <c:v>0.77029999999999998</c:v>
                </c:pt>
                <c:pt idx="19">
                  <c:v>0.78639999999999999</c:v>
                </c:pt>
                <c:pt idx="20">
                  <c:v>0.80569999999999997</c:v>
                </c:pt>
                <c:pt idx="21">
                  <c:v>0.82399999999999995</c:v>
                </c:pt>
                <c:pt idx="22">
                  <c:v>0.83479999999999999</c:v>
                </c:pt>
                <c:pt idx="23">
                  <c:v>0.84340000000000004</c:v>
                </c:pt>
                <c:pt idx="24">
                  <c:v>0.8548</c:v>
                </c:pt>
                <c:pt idx="25">
                  <c:v>0.86519999999999997</c:v>
                </c:pt>
                <c:pt idx="26">
                  <c:v>0.87419999999999998</c:v>
                </c:pt>
                <c:pt idx="27">
                  <c:v>0.88280000000000003</c:v>
                </c:pt>
                <c:pt idx="28">
                  <c:v>0.88639999999999997</c:v>
                </c:pt>
                <c:pt idx="29">
                  <c:v>0.89570000000000005</c:v>
                </c:pt>
                <c:pt idx="30">
                  <c:v>0.90180000000000005</c:v>
                </c:pt>
                <c:pt idx="31">
                  <c:v>0.90500000000000003</c:v>
                </c:pt>
                <c:pt idx="32">
                  <c:v>0.9093</c:v>
                </c:pt>
                <c:pt idx="33">
                  <c:v>0.91579999999999995</c:v>
                </c:pt>
                <c:pt idx="34">
                  <c:v>0.91859999999999997</c:v>
                </c:pt>
                <c:pt idx="35">
                  <c:v>0.92190000000000005</c:v>
                </c:pt>
                <c:pt idx="36">
                  <c:v>0.92830000000000001</c:v>
                </c:pt>
                <c:pt idx="37">
                  <c:v>0.93149999999999999</c:v>
                </c:pt>
                <c:pt idx="38">
                  <c:v>0.93479999999999996</c:v>
                </c:pt>
                <c:pt idx="39">
                  <c:v>0.93730000000000002</c:v>
                </c:pt>
                <c:pt idx="40">
                  <c:v>0.94010000000000005</c:v>
                </c:pt>
                <c:pt idx="41">
                  <c:v>0.94440000000000002</c:v>
                </c:pt>
                <c:pt idx="42">
                  <c:v>0.9466</c:v>
                </c:pt>
                <c:pt idx="43">
                  <c:v>0.94979999999999998</c:v>
                </c:pt>
                <c:pt idx="44">
                  <c:v>0.95199999999999996</c:v>
                </c:pt>
                <c:pt idx="45">
                  <c:v>0.9556</c:v>
                </c:pt>
                <c:pt idx="46">
                  <c:v>0.95809999999999995</c:v>
                </c:pt>
                <c:pt idx="47">
                  <c:v>0.96060000000000001</c:v>
                </c:pt>
                <c:pt idx="48">
                  <c:v>0.96419999999999995</c:v>
                </c:pt>
                <c:pt idx="49">
                  <c:v>0.96519999999999995</c:v>
                </c:pt>
                <c:pt idx="50">
                  <c:v>0.96699999999999997</c:v>
                </c:pt>
              </c:numCache>
            </c:numRef>
          </c:val>
          <c:smooth val="0"/>
          <c:extLst>
            <c:ext xmlns:c16="http://schemas.microsoft.com/office/drawing/2014/chart" uri="{C3380CC4-5D6E-409C-BE32-E72D297353CC}">
              <c16:uniqueId val="{00000001-8D9A-4EC0-89D5-E8787D3643A5}"/>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1200" b="0" i="0" u="none" strike="noStrike">
                    <a:solidFill>
                      <a:srgbClr val="B4BCCB"/>
                    </a:solidFill>
                    <a:latin typeface="+mn-lt"/>
                  </a:defRPr>
                </a:pPr>
                <a:r>
                  <a:rPr lang="en-US" sz="1200" b="0" i="0" u="none" strike="noStrike">
                    <a:solidFill>
                      <a:srgbClr val="B4BCCB"/>
                    </a:solidFill>
                    <a:latin typeface="+mn-lt"/>
                  </a:rPr>
                  <a:t>Top-N characters by degree (of 932)</a:t>
                </a:r>
              </a:p>
            </c:rich>
          </c:tx>
          <c:overlay val="0"/>
        </c:title>
        <c:numFmt formatCode="General" sourceLinked="1"/>
        <c:majorTickMark val="none"/>
        <c:minorTickMark val="none"/>
        <c:tickLblPos val="low"/>
        <c:spPr>
          <a:ln w="12700" cap="flat">
            <a:solidFill>
              <a:srgbClr val="5B6577"/>
            </a:solidFill>
            <a:prstDash val="solid"/>
            <a:round/>
          </a:ln>
        </c:spPr>
        <c:txPr>
          <a:bodyPr/>
          <a:lstStyle/>
          <a:p>
            <a:pPr>
              <a:defRPr sz="1200" b="0" i="0" u="none" strike="noStrike">
                <a:solidFill>
                  <a:srgbClr val="7C8699"/>
                </a:solidFill>
                <a:latin typeface="+mn-lt"/>
              </a:defRPr>
            </a:pPr>
            <a:endParaRPr lang="en-US"/>
          </a:p>
        </c:txPr>
        <c:crossAx val="2094734552"/>
        <c:crosses val="autoZero"/>
        <c:auto val="1"/>
        <c:lblAlgn val="ctr"/>
        <c:lblOffset val="100"/>
        <c:tickLblSkip val="10"/>
        <c:noMultiLvlLbl val="1"/>
      </c:catAx>
      <c:valAx>
        <c:axId val="2094734552"/>
        <c:scaling>
          <c:orientation val="minMax"/>
          <c:max val="1"/>
          <c:min val="0"/>
        </c:scaling>
        <c:delete val="0"/>
        <c:axPos val="l"/>
        <c:majorGridlines>
          <c:spPr>
            <a:ln w="9525" cap="flat">
              <a:solidFill>
                <a:srgbClr val="1C2230"/>
              </a:solidFill>
              <a:prstDash val="solid"/>
              <a:round/>
            </a:ln>
          </c:spPr>
        </c:majorGridlines>
        <c:numFmt formatCode="0%" sourceLinked="0"/>
        <c:majorTickMark val="out"/>
        <c:minorTickMark val="none"/>
        <c:tickLblPos val="nextTo"/>
        <c:spPr>
          <a:ln w="12700" cap="flat">
            <a:noFill/>
            <a:prstDash val="solid"/>
            <a:round/>
          </a:ln>
        </c:spPr>
        <c:txPr>
          <a:bodyPr/>
          <a:lstStyle/>
          <a:p>
            <a:pPr>
              <a:defRPr sz="1200" b="0" i="0" u="none" strike="noStrike">
                <a:solidFill>
                  <a:srgbClr val="7C8699"/>
                </a:solidFill>
                <a:latin typeface="+mn-lt"/>
              </a:defRPr>
            </a:pPr>
            <a:endParaRPr lang="en-US"/>
          </a:p>
        </c:txPr>
        <c:crossAx val="2094734554"/>
        <c:crosses val="autoZero"/>
        <c:crossBetween val="between"/>
        <c:majorUnit val="0.5"/>
      </c:valAx>
      <c:spPr>
        <a:noFill/>
        <a:ln>
          <a:noFill/>
        </a:ln>
        <a:effectLst/>
      </c:spPr>
    </c:plotArea>
    <c:legend>
      <c:legendPos val="t"/>
      <c:overlay val="0"/>
      <c:txPr>
        <a:bodyPr/>
        <a:lstStyle/>
        <a:p>
          <a:pPr>
            <a:defRPr sz="1200">
              <a:solidFill>
                <a:srgbClr val="B4BCCB"/>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15786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 Good morning. My project treats the three HSK Standard Course textbooks as one network and asks what network science can tell us about how Chinese is taught. The picture is the real network: 5,379 nodes and 32,076 links, laid out in 3D and coloured by its eight communities.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Why study a textbook as a network? Every sentence reuses characters and words from earlier lessons, so the books are a web of reuse. Its shape decides what a learner has to meet first, how often things come back, and what falls apart when a learner misses something. Ferrer i Cancho and Solé showed in 2001 that word networks of natural language are small-world and heavy-tailed. My question is whether a designed curriculum looks the same. I ask four things: is it scale-free and small-world, which units are the hubs, do its communities follow lessons or HSK levels, and how robust it is when units are missing.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The dataset is my own. I took the three HSK Standard Course textbooks, Levels 1 to 3, transcribed every page, built a knowledge graph with graphify, and then typed and merged its nodes. A node is a teaching unit: 2,850 sentences, 932 characters, 651 words, 311 grammar points, plus pronunciation notes, radicals, culture notes, the 50 lessons and the 3 books. A link is a relation the books state or imply: a sentence contains a character or word, a lesson introduces a word, a sentence illustrates a grammar point. 78% of the 36,419 link records are read straight from the text, 18% come from string matching and 3% from a language model. I treat the graph as undirected and simple, which merges duplicates into 32,076 links. It is a single connected component with mean degree 11.9 and density 0.0022, so it is very sparse.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Each question maps to indicators from the course, and each one is tested against a baseline, not just reported. For the degree distribution I fit a discrete power law with the Clauset–Shalizi–Newman method and compare it with exponential and lognormal fits by likelihood ratio. For small-worldness I compute clustering and path length and compare them with three Erdős–Rényi graphs and three degree-preserving rewired graphs, giving σ and ω. For hubs I compute seven centralities and check how well they agree with Spearman correlation. Communities come from Louvain; I test whether they are strong or weak in Radicchi’s sense and compare them with lessons and HSK levels using NMI. For robustness I remove nodes at random and by attack, and compare with the Molloy–Reed criterion. Everything is in Python with NetworkX and powerlaw, seeded so it is reproducible.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 First result: the degree distribution. This is the complementary cumulative distribution on log–log axes: the share of nodes with at least k links. The mean degree is 11.9, but the biggest hub, the character 我, has 745 links, and ⟨k²⟩/⟨k⟩ is 72.6, so the second moment is dominated by hubs. The top four are 我, 你, 的 and 了: pronouns and grammatical particles that appear in almost every sentence. Above k = 8 a discrete power law fits with exponent 2.75, within the 2 to 3 range typical of real networks. It clearly beats an exponential, but a likelihood-ratio test cannot separate it from a lognormal, so I call the network heavy-tailed and scale-free-like, not strictly scale-free.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Second: is it a small world? Average clustering is 0.164, about 79 times the clustering of Erdős–Rényi graphs of the same size, and still about 3 times that of degree-preserving rewired graphs. Yet the average shortest path is only 3.45 steps, slightly shorter than random, with diameter 8. So any two units, say a character in Lesson 1 and a grammar point in Book 3, are about three and a half links apart. The small-world coefficient σ is 85.8 against random graphs and 2.65 against rewired ones, both above 1. The stricter ω is 0.84, close to the random end, because its clustering is far below a ring lattice’s 0.68. My reading: short paths come from the hubs, and clustering is high compared with random, but not lattice-like.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Third: who are the hubs? The top of the degree ranking is 我, 你, 的, 了, 是, 不 and 什么. The same four, 我, 你, 的 and 了, are also the top four by betweenness, closeness, eigenvector and PageRank, so the measures agree. Degree and PageRank correlate at 0.97 and degree and k-core at 0.94; even the weakest agreement, with eigenvector centrality, is 0.73. On average lessons have about 100 links, characters 18, words 15 and sentences 9.5. The k-core decomposition goes down to a core of k = 9 that holds 1,398 nodes, about a quarter of the network, including every lesson. The curriculum is held together by a small set of grammatical characters.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 Fourth: communities. Louvain finds 32 fine communities with modularity 0.38, which I merge into the 8 major communities you see coloured in the 3D layout. Their names are provisional, taken from each one’s busiest members. The bars show each community’s mix of HSK levels. Only the core pronouns community, 我, 你, 的 and 是, is mostly Level 1; every other community mixes all three levels. NMI confirms it: the communities share 0.39 of their information with lessons but only 0.10 with HSK level. One caveat: lesson links were part of the Louvain weights, so some of the lesson agreement is built in. The communities are also loose: none is strong in Radicchi’s sense, two are weak, and the tightest keeps only 36% of its links inside. Hubs like 我 and 的 have participation coefficients near 0.87, so they connect every community.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Fifth: robustness. I remove nodes and track how much of the network stays in the giant component. Removing 20% of nodes at random still leaves 78% connected. Removing the 20% with the highest betweenness leaves 62%, and the 20% with the highest degree only 44%. If degree is recomputed after every removal, the adaptive attack, the network collapses to 2%. The giant component drops below half after 18% of nodes under a degree attack and 14% under the adaptive one, but never within 30% under random failure. This matches the Molloy–Reed prediction: κ = ⟨k²⟩/⟨k⟩ is 72.6, far above 2, so random failure would need to remove about 98.6% of nodes. It is the classic robust-yet-fragile pattern Albert, Jeong and Barabási described for scale-free networks.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 What does this mean? Theoretically, a designed curriculum shows the same signatures as natural language networks: a heavy tail, a small world and loose modules. The hubs come from reuse, since every lesson links back to the same function words, which is what preferential attachment predicts, although I have not yet tested growth lesson by lesson. The network is robust yet fragile, exactly as Albert and colleagues found for the Internet. And it is organised by topic rather than by difficulty level. Practically, the chart ranks characters by degree. Learning just the top 100 hub characters, 11% of the 932, covers 79% of all character uses in the book sentences and makes half of the sentences fully readable; the top 200 reach 91% and 81%. So study should be ordered by degree, and a tutor should treat a weak hub like a targeted attack and re-teach it before moving on. This coverage figure is computed from the same network data, counting distinct characters per sentence.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To conclude, the four answers. One: the HSK network is heavy-tailed and small-world by σ, although ω and the lognormal comparison say we should not call it strictly scale-free. Two: four grammatical characters, 我, 你, 的 and 了, are the hubs on every centrality measure. Three: the communities are loose and follow lessons and topics rather than HSK levels. Four: it is robust to random gaps but fragile when hubs are missing. The main limits are that some links come from string matching or a language model, grammar is under-linked, and lesson agreement is partly built into the community weights. Next I would add weights and direction and test growth lesson by lesson.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80C16"/>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dark">
    <p:bg>
      <p:bgPr>
        <a:solidFill>
          <a:srgbClr val="07090E"/>
        </a:solidFill>
        <a:effectLst/>
      </p:bgPr>
    </p:bg>
    <p:spTree>
      <p:nvGrpSpPr>
        <p:cNvPr id="1" name=""/>
        <p:cNvGrpSpPr/>
        <p:nvPr/>
      </p:nvGrpSpPr>
      <p:grpSpPr>
        <a:xfrm>
          <a:off x="0" y="0"/>
          <a:ext cx="0" cy="0"/>
          <a:chOff x="0" y="0"/>
          <a:chExt cx="0" cy="0"/>
        </a:xfrm>
      </p:grpSpPr>
      <p:sp>
        <p:nvSpPr>
          <p:cNvPr id="2" name="Text 0"/>
          <p:cNvSpPr/>
          <p:nvPr/>
        </p:nvSpPr>
        <p:spPr>
          <a:xfrm>
            <a:off x="812810" y="6235659"/>
            <a:ext cx="7619970" cy="215890"/>
          </a:xfrm>
          <a:prstGeom prst="rect">
            <a:avLst/>
          </a:prstGeom>
          <a:noFill/>
          <a:ln/>
        </p:spPr>
        <p:txBody>
          <a:bodyPr wrap="square" lIns="0" tIns="0" rIns="0" bIns="0" rtlCol="0" anchor="ctr"/>
          <a:lstStyle/>
          <a:p>
            <a:pPr marL="0" indent="0">
              <a:buNone/>
            </a:pPr>
            <a:r>
              <a:rPr lang="en-US" sz="1200" dirty="0">
                <a:solidFill>
                  <a:srgbClr val="7C8699"/>
                </a:solidFill>
                <a:latin typeface="Arial" pitchFamily="34" charset="0"/>
                <a:ea typeface="Arial" pitchFamily="34" charset="-122"/>
                <a:cs typeface="Arial" pitchFamily="34" charset="-120"/>
              </a:rPr>
              <a:t>HSK-ShiFu · Introduction to Network Science</a:t>
            </a:r>
            <a:endParaRPr lang="en-US" sz="1200" dirty="0"/>
          </a:p>
        </p:txBody>
      </p:sp>
      <p:sp>
        <p:nvSpPr>
          <p:cNvPr id="3" name="Text 1"/>
          <p:cNvSpPr>
            <a:spLocks noGrp="1"/>
          </p:cNvSpPr>
          <p:nvPr>
            <p:ph type="title" idx="101" hasCustomPrompt="1"/>
          </p:nvPr>
        </p:nvSpPr>
        <p:spPr>
          <a:xfrm>
            <a:off x="812810" y="1104870"/>
            <a:ext cx="10566441" cy="469910"/>
          </a:xfrm>
          <a:prstGeom prst="rect">
            <a:avLst/>
          </a:prstGeom>
          <a:noFill/>
          <a:ln/>
        </p:spPr>
        <p:txBody>
          <a:bodyPr wrap="square" rtlCol="0"/>
          <a:lstStyle>
            <a:lvl1pPr marL="0" indent="0" algn="l">
              <a:buNone/>
              <a:defRPr lang="en-US" sz="3200" b="1" dirty="0">
                <a:solidFill>
                  <a:srgbClr val="F2F4F8"/>
                </a:solidFill>
                <a:latin typeface="Arial" pitchFamily="34" charset="0"/>
                <a:ea typeface="Arial" pitchFamily="34" charset="-122"/>
                <a:cs typeface="Arial" pitchFamily="34" charset="-120"/>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0109241" y="6235659"/>
            <a:ext cx="1270010" cy="21589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7C8699"/>
                </a:solidFill>
                <a:latin typeface="Consolas"/>
                <a:ea typeface="Consolas"/>
                <a:cs typeface="Consolas"/>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anel">
    <p:bg>
      <p:bgPr>
        <a:solidFill>
          <a:srgbClr val="10141C"/>
        </a:solidFill>
        <a:effectLst/>
      </p:bgPr>
    </p:bg>
    <p:spTree>
      <p:nvGrpSpPr>
        <p:cNvPr id="1" name=""/>
        <p:cNvGrpSpPr/>
        <p:nvPr/>
      </p:nvGrpSpPr>
      <p:grpSpPr>
        <a:xfrm>
          <a:off x="0" y="0"/>
          <a:ext cx="0" cy="0"/>
          <a:chOff x="0" y="0"/>
          <a:chExt cx="0" cy="0"/>
        </a:xfrm>
      </p:grpSpPr>
      <p:sp>
        <p:nvSpPr>
          <p:cNvPr id="2" name="Text 0"/>
          <p:cNvSpPr/>
          <p:nvPr/>
        </p:nvSpPr>
        <p:spPr>
          <a:xfrm>
            <a:off x="812810" y="6235659"/>
            <a:ext cx="7619970" cy="215890"/>
          </a:xfrm>
          <a:prstGeom prst="rect">
            <a:avLst/>
          </a:prstGeom>
          <a:noFill/>
          <a:ln/>
        </p:spPr>
        <p:txBody>
          <a:bodyPr wrap="square" lIns="0" tIns="0" rIns="0" bIns="0" rtlCol="0" anchor="ctr"/>
          <a:lstStyle/>
          <a:p>
            <a:pPr marL="0" indent="0">
              <a:buNone/>
            </a:pPr>
            <a:r>
              <a:rPr lang="en-US" sz="1200" dirty="0">
                <a:solidFill>
                  <a:srgbClr val="7C8699"/>
                </a:solidFill>
                <a:latin typeface="Arial" pitchFamily="34" charset="0"/>
                <a:ea typeface="Arial" pitchFamily="34" charset="-122"/>
                <a:cs typeface="Arial" pitchFamily="34" charset="-120"/>
              </a:rPr>
              <a:t>HSK-ShiFu · Introduction to Network Science</a:t>
            </a:r>
            <a:endParaRPr lang="en-US" sz="1200" dirty="0"/>
          </a:p>
        </p:txBody>
      </p:sp>
      <p:sp>
        <p:nvSpPr>
          <p:cNvPr id="3" name="Text 1"/>
          <p:cNvSpPr>
            <a:spLocks noGrp="1"/>
          </p:cNvSpPr>
          <p:nvPr>
            <p:ph type="title" idx="101" hasCustomPrompt="1"/>
          </p:nvPr>
        </p:nvSpPr>
        <p:spPr>
          <a:xfrm>
            <a:off x="812810" y="1104870"/>
            <a:ext cx="10566441" cy="469910"/>
          </a:xfrm>
          <a:prstGeom prst="rect">
            <a:avLst/>
          </a:prstGeom>
          <a:noFill/>
          <a:ln/>
        </p:spPr>
        <p:txBody>
          <a:bodyPr wrap="square" rtlCol="0"/>
          <a:lstStyle>
            <a:lvl1pPr marL="0" indent="0" algn="l">
              <a:buNone/>
              <a:defRPr lang="en-US" sz="3200" b="1" dirty="0">
                <a:solidFill>
                  <a:srgbClr val="F2F4F8"/>
                </a:solidFill>
                <a:latin typeface="Arial" pitchFamily="34" charset="0"/>
                <a:ea typeface="Arial" pitchFamily="34" charset="-122"/>
                <a:cs typeface="Arial" pitchFamily="34" charset="-120"/>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0109241" y="6235659"/>
            <a:ext cx="1270010" cy="21589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7C8699"/>
                </a:solidFill>
                <a:latin typeface="Consolas"/>
                <a:ea typeface="Consolas"/>
                <a:cs typeface="Consolas"/>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12810" y="6235659"/>
            <a:ext cx="7619970" cy="215890"/>
          </a:xfrm>
          <a:prstGeom prst="rect">
            <a:avLst/>
          </a:prstGeom>
          <a:noFill/>
          <a:ln/>
        </p:spPr>
        <p:txBody>
          <a:bodyPr wrap="square" lIns="0" tIns="0" rIns="0" bIns="0" rtlCol="0" anchor="ctr"/>
          <a:lstStyle/>
          <a:p>
            <a:pPr marL="0" indent="0">
              <a:buNone/>
            </a:pPr>
            <a:r>
              <a:rPr lang="en-US" sz="1200" dirty="0">
                <a:solidFill>
                  <a:srgbClr val="7C8699"/>
                </a:solidFill>
                <a:latin typeface="Arial" pitchFamily="34" charset="0"/>
                <a:ea typeface="Arial" pitchFamily="34" charset="-122"/>
                <a:cs typeface="Arial" pitchFamily="34" charset="-120"/>
              </a:rPr>
              <a:t>HSK-ShiFu · Introduction to Network Science</a:t>
            </a:r>
            <a:endParaRPr lang="en-US" sz="1200" dirty="0"/>
          </a:p>
        </p:txBody>
      </p:sp>
      <p:sp>
        <p:nvSpPr>
          <p:cNvPr id="3" name="Text 1"/>
          <p:cNvSpPr>
            <a:spLocks noGrp="1"/>
          </p:cNvSpPr>
          <p:nvPr>
            <p:ph type="title" idx="101" hasCustomPrompt="1"/>
          </p:nvPr>
        </p:nvSpPr>
        <p:spPr>
          <a:xfrm>
            <a:off x="812810" y="1104870"/>
            <a:ext cx="10566441" cy="469910"/>
          </a:xfrm>
          <a:prstGeom prst="rect">
            <a:avLst/>
          </a:prstGeom>
          <a:noFill/>
          <a:ln/>
        </p:spPr>
        <p:txBody>
          <a:bodyPr wrap="square" rtlCol="0"/>
          <a:lstStyle>
            <a:lvl1pPr marL="0" indent="0" algn="l">
              <a:buNone/>
              <a:defRPr lang="en-US" sz="3200" b="1" dirty="0">
                <a:solidFill>
                  <a:srgbClr val="F2F4F8"/>
                </a:solidFill>
                <a:latin typeface="Arial" pitchFamily="34" charset="0"/>
                <a:ea typeface="Arial" pitchFamily="34" charset="-122"/>
                <a:cs typeface="Arial" pitchFamily="34" charset="-120"/>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0109241" y="6235659"/>
            <a:ext cx="1270010" cy="21589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7C8699"/>
                </a:solidFill>
                <a:latin typeface="Consolas"/>
                <a:ea typeface="Consolas"/>
                <a:cs typeface="Consolas"/>
              </a:defRPr>
            </a:lvl1pPr>
          </a:lstStyle>
          <a:p>
            <a:pPr algn="r"/>
            <a:fld id="{F7021451-1387-4CA6-816F-3879F97B5CBC}" type="slidenum">
              <a:rPr lang="en-US" b="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losing">
    <p:bg>
      <p:bgPr>
        <a:solidFill>
          <a:srgbClr val="07090E"/>
        </a:solidFill>
        <a:effectLst/>
      </p:bgPr>
    </p:bg>
    <p:spTree>
      <p:nvGrpSpPr>
        <p:cNvPr id="1" name=""/>
        <p:cNvGrpSpPr/>
        <p:nvPr/>
      </p:nvGrpSpPr>
      <p:grpSpPr>
        <a:xfrm>
          <a:off x="0" y="0"/>
          <a:ext cx="0" cy="0"/>
          <a:chOff x="0" y="0"/>
          <a:chExt cx="0" cy="0"/>
        </a:xfrm>
      </p:grpSpPr>
      <p:sp>
        <p:nvSpPr>
          <p:cNvPr id="2" name="Text 0"/>
          <p:cNvSpPr/>
          <p:nvPr/>
        </p:nvSpPr>
        <p:spPr>
          <a:xfrm>
            <a:off x="812810" y="6235659"/>
            <a:ext cx="7619970" cy="215890"/>
          </a:xfrm>
          <a:prstGeom prst="rect">
            <a:avLst/>
          </a:prstGeom>
          <a:noFill/>
          <a:ln/>
        </p:spPr>
        <p:txBody>
          <a:bodyPr wrap="square" lIns="0" tIns="0" rIns="0" bIns="0" rtlCol="0" anchor="ctr"/>
          <a:lstStyle/>
          <a:p>
            <a:pPr marL="0" indent="0">
              <a:buNone/>
            </a:pPr>
            <a:r>
              <a:rPr lang="en-US" sz="1200" dirty="0">
                <a:solidFill>
                  <a:srgbClr val="F2F4F8"/>
                </a:solidFill>
                <a:latin typeface="Arial" pitchFamily="34" charset="0"/>
                <a:ea typeface="Arial" pitchFamily="34" charset="-122"/>
                <a:cs typeface="Arial" pitchFamily="34" charset="-120"/>
              </a:rPr>
              <a:t>Thank you · questions welcome</a:t>
            </a:r>
            <a:endParaRPr lang="en-US" sz="1200" dirty="0"/>
          </a:p>
        </p:txBody>
      </p:sp>
      <p:sp>
        <p:nvSpPr>
          <p:cNvPr id="3" name="Text 1"/>
          <p:cNvSpPr>
            <a:spLocks noGrp="1"/>
          </p:cNvSpPr>
          <p:nvPr>
            <p:ph type="title" idx="101" hasCustomPrompt="1"/>
          </p:nvPr>
        </p:nvSpPr>
        <p:spPr>
          <a:xfrm>
            <a:off x="812810" y="1104870"/>
            <a:ext cx="10566441" cy="469910"/>
          </a:xfrm>
          <a:prstGeom prst="rect">
            <a:avLst/>
          </a:prstGeom>
          <a:noFill/>
          <a:ln/>
        </p:spPr>
        <p:txBody>
          <a:bodyPr wrap="square" rtlCol="0"/>
          <a:lstStyle>
            <a:lvl1pPr marL="0" indent="0" algn="l">
              <a:buNone/>
              <a:defRPr lang="en-US" sz="3200" b="1" dirty="0">
                <a:solidFill>
                  <a:srgbClr val="F2F4F8"/>
                </a:solidFill>
                <a:latin typeface="Arial" pitchFamily="34" charset="0"/>
                <a:ea typeface="Arial" pitchFamily="34" charset="-122"/>
                <a:cs typeface="Arial" pitchFamily="34" charset="-120"/>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0109241" y="6235659"/>
            <a:ext cx="1270010" cy="21589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7C8699"/>
                </a:solidFill>
                <a:latin typeface="Consolas"/>
                <a:ea typeface="Consolas"/>
                <a:cs typeface="Consolas"/>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109241" y="6235659"/>
            <a:ext cx="1270010" cy="21589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7C8699"/>
                </a:solidFill>
                <a:latin typeface="Consolas"/>
                <a:ea typeface="Consolas"/>
                <a:cs typeface="Consolas"/>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chart" Target="../charts/chart3.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chart" Target="../charts/chart6.xml"/></Relationships>
</file>

<file path=ppt/slides/_rels/slide7.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chart" Target="../charts/chart8.xml"/></Relationships>
</file>

<file path=ppt/slides/_rels/slide9.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Network render" descr="Side view of the HSK 1–3 language network in 3D, nodes coloured by community"/>
          <p:cNvPicPr>
            <a:picLocks noChangeAspect="1"/>
          </p:cNvPicPr>
          <p:nvPr/>
        </p:nvPicPr>
        <p:blipFill>
          <a:blip r:embed="rId3"/>
          <a:stretch>
            <a:fillRect/>
          </a:stretch>
        </p:blipFill>
        <p:spPr>
          <a:xfrm>
            <a:off x="5460980" y="1117580"/>
            <a:ext cx="6349959" cy="4616440"/>
          </a:xfrm>
          <a:prstGeom prst="rect">
            <a:avLst/>
          </a:prstGeom>
        </p:spPr>
      </p:pic>
      <p:sp>
        <p:nvSpPr>
          <p:cNvPr id="3" name="Eyebrow"/>
          <p:cNvSpPr txBox="1"/>
          <p:nvPr/>
        </p:nvSpPr>
        <p:spPr>
          <a:xfrm>
            <a:off x="812810" y="812810"/>
            <a:ext cx="5715000" cy="215890"/>
          </a:xfrm>
          <a:prstGeom prst="rect">
            <a:avLst/>
          </a:prstGeom>
          <a:noFill/>
          <a:ln/>
        </p:spPr>
        <p:txBody>
          <a:bodyPr wrap="square" lIns="0" tIns="0" rIns="0" bIns="0" rtlCol="0" anchor="ctr"/>
          <a:lstStyle/>
          <a:p>
            <a:pPr marL="0" indent="0">
              <a:buNone/>
            </a:pPr>
            <a:r>
              <a:rPr lang="en-US" sz="1200" kern="0" spc="150" dirty="0">
                <a:solidFill>
                  <a:srgbClr val="3987E5"/>
                </a:solidFill>
                <a:latin typeface="Consolas" pitchFamily="34" charset="0"/>
                <a:ea typeface="Consolas" pitchFamily="34" charset="-122"/>
                <a:cs typeface="Consolas" pitchFamily="34" charset="-120"/>
              </a:rPr>
              <a:t>INTRODUCTION TO NETWORK SCIENCE · FINAL PROJECT</a:t>
            </a:r>
            <a:endParaRPr lang="en-US" sz="1200" dirty="0"/>
          </a:p>
        </p:txBody>
      </p:sp>
      <p:sp>
        <p:nvSpPr>
          <p:cNvPr id="4" name="Title"/>
          <p:cNvSpPr/>
          <p:nvPr/>
        </p:nvSpPr>
        <p:spPr>
          <a:xfrm>
            <a:off x="812810" y="1879641"/>
            <a:ext cx="5460980" cy="863559"/>
          </a:xfrm>
          <a:prstGeom prst="rect">
            <a:avLst/>
          </a:prstGeom>
          <a:noFill/>
          <a:ln/>
        </p:spPr>
        <p:txBody>
          <a:bodyPr wrap="square" lIns="0" tIns="0" rIns="0" bIns="0" rtlCol="0" anchor="t"/>
          <a:lstStyle/>
          <a:p>
            <a:pPr marL="0" indent="0">
              <a:buNone/>
            </a:pPr>
            <a:r>
              <a:rPr lang="en-US" sz="6000" b="1" dirty="0">
                <a:solidFill>
                  <a:srgbClr val="F2F4F8"/>
                </a:solidFill>
                <a:latin typeface="Arial" pitchFamily="34" charset="0"/>
                <a:ea typeface="Arial" pitchFamily="34" charset="-122"/>
                <a:cs typeface="Arial" pitchFamily="34" charset="-120"/>
              </a:rPr>
              <a:t>HSK-ShiFu</a:t>
            </a:r>
            <a:endParaRPr lang="en-US" sz="6000" dirty="0"/>
          </a:p>
        </p:txBody>
      </p:sp>
      <p:sp>
        <p:nvSpPr>
          <p:cNvPr id="5" name="Subtitle"/>
          <p:cNvSpPr txBox="1"/>
          <p:nvPr/>
        </p:nvSpPr>
        <p:spPr>
          <a:xfrm>
            <a:off x="812810" y="2914650"/>
            <a:ext cx="5460980" cy="634959"/>
          </a:xfrm>
          <a:prstGeom prst="rect">
            <a:avLst/>
          </a:prstGeom>
          <a:noFill/>
          <a:ln/>
        </p:spPr>
        <p:txBody>
          <a:bodyPr wrap="square" lIns="0" tIns="0" rIns="0" bIns="0" rtlCol="0" anchor="t"/>
          <a:lstStyle/>
          <a:p>
            <a:pPr marL="0" indent="0">
              <a:lnSpc>
                <a:spcPct val="115000"/>
              </a:lnSpc>
              <a:buNone/>
            </a:pPr>
            <a:r>
              <a:rPr lang="en-US" sz="1800" dirty="0">
                <a:solidFill>
                  <a:srgbClr val="B4BCCB"/>
                </a:solidFill>
                <a:latin typeface="Arial" pitchFamily="34" charset="0"/>
                <a:ea typeface="Arial" pitchFamily="34" charset="-122"/>
                <a:cs typeface="Arial" pitchFamily="34" charset="-120"/>
              </a:rPr>
              <a:t>A network analysis of the Chinese taught in the </a:t>
            </a:r>
            <a:r>
              <a:rPr lang="en-US" sz="1800" i="1" dirty="0">
                <a:solidFill>
                  <a:srgbClr val="B4BCCB"/>
                </a:solidFill>
                <a:latin typeface="Arial" pitchFamily="34" charset="0"/>
                <a:ea typeface="Arial" pitchFamily="34" charset="-122"/>
                <a:cs typeface="Arial" pitchFamily="34" charset="-120"/>
              </a:rPr>
              <a:t>HSK Standard Course</a:t>
            </a:r>
            <a:r>
              <a:rPr lang="en-US" sz="1800" dirty="0">
                <a:solidFill>
                  <a:srgbClr val="B4BCCB"/>
                </a:solidFill>
                <a:latin typeface="Arial" pitchFamily="34" charset="0"/>
                <a:ea typeface="Arial" pitchFamily="34" charset="-122"/>
                <a:cs typeface="Arial" pitchFamily="34" charset="-120"/>
              </a:rPr>
              <a:t>, Levels 1–3</a:t>
            </a:r>
            <a:endParaRPr lang="en-US" sz="1800" dirty="0"/>
          </a:p>
        </p:txBody>
      </p:sp>
      <p:sp>
        <p:nvSpPr>
          <p:cNvPr id="6" name="Stat nodes"/>
          <p:cNvSpPr txBox="1"/>
          <p:nvPr/>
        </p:nvSpPr>
        <p:spPr>
          <a:xfrm>
            <a:off x="812810" y="3886200"/>
            <a:ext cx="1079541" cy="279441"/>
          </a:xfrm>
          <a:prstGeom prst="rect">
            <a:avLst/>
          </a:prstGeom>
          <a:noFill/>
          <a:ln/>
        </p:spPr>
        <p:txBody>
          <a:bodyPr wrap="square" lIns="0" tIns="0" rIns="0" bIns="0" rtlCol="0" anchor="t"/>
          <a:lstStyle/>
          <a:p>
            <a:pPr marL="0" indent="0">
              <a:buNone/>
            </a:pPr>
            <a:r>
              <a:rPr lang="en-US" sz="1800" b="1" dirty="0">
                <a:solidFill>
                  <a:srgbClr val="F2F4F8"/>
                </a:solidFill>
                <a:latin typeface="Consolas" pitchFamily="34" charset="0"/>
                <a:ea typeface="Consolas" pitchFamily="34" charset="-122"/>
                <a:cs typeface="Consolas" pitchFamily="34" charset="-120"/>
              </a:rPr>
              <a:t>5,379</a:t>
            </a:r>
            <a:endParaRPr lang="en-US" sz="1800" dirty="0"/>
          </a:p>
        </p:txBody>
      </p:sp>
      <p:sp>
        <p:nvSpPr>
          <p:cNvPr id="7" name="Stat label nodes"/>
          <p:cNvSpPr txBox="1"/>
          <p:nvPr/>
        </p:nvSpPr>
        <p:spPr>
          <a:xfrm>
            <a:off x="812810" y="4190970"/>
            <a:ext cx="1270010" cy="215890"/>
          </a:xfrm>
          <a:prstGeom prst="rect">
            <a:avLst/>
          </a:prstGeom>
          <a:noFill/>
          <a:ln/>
        </p:spPr>
        <p:txBody>
          <a:bodyPr wrap="square" lIns="0" tIns="0" rIns="0" bIns="0" rtlCol="0" anchor="t"/>
          <a:lstStyle/>
          <a:p>
            <a:pPr marL="0" indent="0">
              <a:buNone/>
            </a:pPr>
            <a:r>
              <a:rPr lang="en-US" sz="1200" dirty="0">
                <a:solidFill>
                  <a:srgbClr val="7C8699"/>
                </a:solidFill>
                <a:latin typeface="Arial" pitchFamily="34" charset="0"/>
                <a:ea typeface="Arial" pitchFamily="34" charset="-122"/>
                <a:cs typeface="Arial" pitchFamily="34" charset="-120"/>
              </a:rPr>
              <a:t>nodes</a:t>
            </a:r>
            <a:endParaRPr lang="en-US" sz="1200" dirty="0"/>
          </a:p>
        </p:txBody>
      </p:sp>
      <p:sp>
        <p:nvSpPr>
          <p:cNvPr id="8" name="Stat links"/>
          <p:cNvSpPr txBox="1"/>
          <p:nvPr/>
        </p:nvSpPr>
        <p:spPr>
          <a:xfrm>
            <a:off x="1904970" y="3886200"/>
            <a:ext cx="1079541" cy="279441"/>
          </a:xfrm>
          <a:prstGeom prst="rect">
            <a:avLst/>
          </a:prstGeom>
          <a:noFill/>
          <a:ln/>
        </p:spPr>
        <p:txBody>
          <a:bodyPr wrap="square" lIns="0" tIns="0" rIns="0" bIns="0" rtlCol="0" anchor="t"/>
          <a:lstStyle/>
          <a:p>
            <a:pPr marL="0" indent="0">
              <a:buNone/>
            </a:pPr>
            <a:r>
              <a:rPr lang="en-US" sz="1800" b="1" dirty="0">
                <a:solidFill>
                  <a:srgbClr val="F2F4F8"/>
                </a:solidFill>
                <a:latin typeface="Consolas" pitchFamily="34" charset="0"/>
                <a:ea typeface="Consolas" pitchFamily="34" charset="-122"/>
                <a:cs typeface="Consolas" pitchFamily="34" charset="-120"/>
              </a:rPr>
              <a:t>32,076</a:t>
            </a:r>
            <a:endParaRPr lang="en-US" sz="1800" dirty="0"/>
          </a:p>
        </p:txBody>
      </p:sp>
      <p:sp>
        <p:nvSpPr>
          <p:cNvPr id="9" name="Stat label links"/>
          <p:cNvSpPr txBox="1"/>
          <p:nvPr/>
        </p:nvSpPr>
        <p:spPr>
          <a:xfrm>
            <a:off x="1904970" y="4190970"/>
            <a:ext cx="1270010" cy="215890"/>
          </a:xfrm>
          <a:prstGeom prst="rect">
            <a:avLst/>
          </a:prstGeom>
          <a:noFill/>
          <a:ln/>
        </p:spPr>
        <p:txBody>
          <a:bodyPr wrap="square" lIns="0" tIns="0" rIns="0" bIns="0" rtlCol="0" anchor="t"/>
          <a:lstStyle/>
          <a:p>
            <a:pPr marL="0" indent="0">
              <a:buNone/>
            </a:pPr>
            <a:r>
              <a:rPr lang="en-US" sz="1200" dirty="0">
                <a:solidFill>
                  <a:srgbClr val="7C8699"/>
                </a:solidFill>
                <a:latin typeface="Arial" pitchFamily="34" charset="0"/>
                <a:ea typeface="Arial" pitchFamily="34" charset="-122"/>
                <a:cs typeface="Arial" pitchFamily="34" charset="-120"/>
              </a:rPr>
              <a:t>links</a:t>
            </a:r>
            <a:endParaRPr lang="en-US" sz="1200" dirty="0"/>
          </a:p>
        </p:txBody>
      </p:sp>
      <p:sp>
        <p:nvSpPr>
          <p:cNvPr id="10" name="Stat communities"/>
          <p:cNvSpPr txBox="1"/>
          <p:nvPr/>
        </p:nvSpPr>
        <p:spPr>
          <a:xfrm>
            <a:off x="3111520" y="3886200"/>
            <a:ext cx="1079541" cy="279441"/>
          </a:xfrm>
          <a:prstGeom prst="rect">
            <a:avLst/>
          </a:prstGeom>
          <a:noFill/>
          <a:ln/>
        </p:spPr>
        <p:txBody>
          <a:bodyPr wrap="square" lIns="0" tIns="0" rIns="0" bIns="0" rtlCol="0" anchor="t"/>
          <a:lstStyle/>
          <a:p>
            <a:pPr marL="0" indent="0">
              <a:buNone/>
            </a:pPr>
            <a:r>
              <a:rPr lang="en-US" sz="1800" b="1" dirty="0">
                <a:solidFill>
                  <a:srgbClr val="F2F4F8"/>
                </a:solidFill>
                <a:latin typeface="Consolas" pitchFamily="34" charset="0"/>
                <a:ea typeface="Consolas" pitchFamily="34" charset="-122"/>
                <a:cs typeface="Consolas" pitchFamily="34" charset="-120"/>
              </a:rPr>
              <a:t>8</a:t>
            </a:r>
            <a:endParaRPr lang="en-US" sz="1800" dirty="0"/>
          </a:p>
        </p:txBody>
      </p:sp>
      <p:sp>
        <p:nvSpPr>
          <p:cNvPr id="11" name="Stat label communities"/>
          <p:cNvSpPr txBox="1"/>
          <p:nvPr/>
        </p:nvSpPr>
        <p:spPr>
          <a:xfrm>
            <a:off x="3111520" y="4190970"/>
            <a:ext cx="1270010" cy="215890"/>
          </a:xfrm>
          <a:prstGeom prst="rect">
            <a:avLst/>
          </a:prstGeom>
          <a:noFill/>
          <a:ln/>
        </p:spPr>
        <p:txBody>
          <a:bodyPr wrap="square" lIns="0" tIns="0" rIns="0" bIns="0" rtlCol="0" anchor="t"/>
          <a:lstStyle/>
          <a:p>
            <a:pPr marL="0" indent="0">
              <a:buNone/>
            </a:pPr>
            <a:r>
              <a:rPr lang="en-US" sz="1200" dirty="0">
                <a:solidFill>
                  <a:srgbClr val="7C8699"/>
                </a:solidFill>
                <a:latin typeface="Arial" pitchFamily="34" charset="0"/>
                <a:ea typeface="Arial" pitchFamily="34" charset="-122"/>
                <a:cs typeface="Arial" pitchFamily="34" charset="-120"/>
              </a:rPr>
              <a:t>communities</a:t>
            </a:r>
            <a:endParaRPr lang="en-US" sz="1200" dirty="0"/>
          </a:p>
        </p:txBody>
      </p:sp>
      <p:sp>
        <p:nvSpPr>
          <p:cNvPr id="12" name="Name"/>
          <p:cNvSpPr txBox="1"/>
          <p:nvPr/>
        </p:nvSpPr>
        <p:spPr>
          <a:xfrm>
            <a:off x="812810" y="5511820"/>
            <a:ext cx="5715000" cy="254020"/>
          </a:xfrm>
          <a:prstGeom prst="rect">
            <a:avLst/>
          </a:prstGeom>
          <a:noFill/>
          <a:ln/>
        </p:spPr>
        <p:txBody>
          <a:bodyPr wrap="square" lIns="0" tIns="0" rIns="0" bIns="0" rtlCol="0" anchor="t"/>
          <a:lstStyle/>
          <a:p>
            <a:pPr marL="0" indent="0">
              <a:buNone/>
            </a:pPr>
            <a:r>
              <a:rPr lang="en-US" sz="1400" b="1" dirty="0">
                <a:solidFill>
                  <a:srgbClr val="F2F4F8"/>
                </a:solidFill>
                <a:latin typeface="Arial" pitchFamily="34" charset="0"/>
                <a:ea typeface="Arial" pitchFamily="34" charset="-122"/>
                <a:cs typeface="Arial" pitchFamily="34" charset="-120"/>
              </a:rPr>
              <a:t>M Samiul Hasnat</a:t>
            </a:r>
            <a:endParaRPr lang="en-US" sz="1400" dirty="0"/>
          </a:p>
        </p:txBody>
      </p:sp>
      <p:sp>
        <p:nvSpPr>
          <p:cNvPr id="13" name="Details"/>
          <p:cNvSpPr txBox="1"/>
          <p:nvPr/>
        </p:nvSpPr>
        <p:spPr>
          <a:xfrm>
            <a:off x="812810" y="5803880"/>
            <a:ext cx="5715000" cy="457200"/>
          </a:xfrm>
          <a:prstGeom prst="rect">
            <a:avLst/>
          </a:prstGeom>
          <a:noFill/>
          <a:ln/>
        </p:spPr>
        <p:txBody>
          <a:bodyPr wrap="square" lIns="0" tIns="0" rIns="0" bIns="0" rtlCol="0" anchor="t"/>
          <a:lstStyle/>
          <a:p>
            <a:pPr marL="0" indent="0">
              <a:lnSpc>
                <a:spcPct val="110000"/>
              </a:lnSpc>
              <a:buNone/>
            </a:pPr>
            <a:r>
              <a:rPr lang="en-US" sz="1200" dirty="0">
                <a:solidFill>
                  <a:srgbClr val="7C8699"/>
                </a:solidFill>
                <a:latin typeface="Arial" pitchFamily="34" charset="0"/>
                <a:ea typeface="Arial" pitchFamily="34" charset="-122"/>
                <a:cs typeface="Arial" pitchFamily="34" charset="-120"/>
              </a:rPr>
              <a:t>22661068, Computer Science of Technology</a:t>
            </a:r>
            <a:endParaRPr lang="en-US" sz="1200" dirty="0"/>
          </a:p>
          <a:p>
            <a:pPr marL="0" indent="0">
              <a:lnSpc>
                <a:spcPct val="110000"/>
              </a:lnSpc>
              <a:buNone/>
            </a:pPr>
            <a:r>
              <a:rPr lang="en-US" sz="1200" dirty="0">
                <a:solidFill>
                  <a:srgbClr val="7C8699"/>
                </a:solidFill>
                <a:latin typeface="Arial" pitchFamily="34" charset="0"/>
                <a:ea typeface="Arial" pitchFamily="34" charset="-122"/>
                <a:cs typeface="Arial" pitchFamily="34" charset="-120"/>
              </a:rPr>
              <a:t>28 October 2026</a:t>
            </a:r>
            <a:endParaRPr lang="en-US" sz="1200" dirty="0"/>
          </a:p>
        </p:txBody>
      </p:sp>
      <p:sp>
        <p:nvSpPr>
          <p:cNvPr id="14" name="Caption"/>
          <p:cNvSpPr txBox="1"/>
          <p:nvPr/>
        </p:nvSpPr>
        <p:spPr>
          <a:xfrm>
            <a:off x="6807159" y="6032480"/>
            <a:ext cx="4572000" cy="215890"/>
          </a:xfrm>
          <a:prstGeom prst="rect">
            <a:avLst/>
          </a:prstGeom>
          <a:noFill/>
          <a:ln/>
        </p:spPr>
        <p:txBody>
          <a:bodyPr wrap="square" lIns="0" tIns="0" rIns="0" bIns="0" rtlCol="0" anchor="t"/>
          <a:lstStyle/>
          <a:p>
            <a:pPr marL="0" indent="0" algn="r">
              <a:buNone/>
            </a:pPr>
            <a:r>
              <a:rPr lang="en-US" sz="1200" dirty="0">
                <a:solidFill>
                  <a:srgbClr val="7C8699"/>
                </a:solidFill>
                <a:latin typeface="Arial" pitchFamily="34" charset="0"/>
                <a:ea typeface="Arial" pitchFamily="34" charset="-122"/>
                <a:cs typeface="Arial" pitchFamily="34" charset="-120"/>
              </a:rPr>
              <a:t>3D layout of the network, coloured by community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812810" y="1104870"/>
            <a:ext cx="10566441" cy="469910"/>
          </a:xfrm>
          <a:prstGeom prst="rect">
            <a:avLst/>
          </a:prstGeom>
          <a:noFill/>
          <a:ln/>
        </p:spPr>
        <p:txBody>
          <a:bodyPr wrap="square" lIns="0" tIns="0" rIns="0" bIns="0" rtlCol="0" anchor="t"/>
          <a:lstStyle/>
          <a:p>
            <a:pPr marL="0" indent="0" algn="l">
              <a:buNone/>
            </a:pPr>
            <a:r>
              <a:rPr lang="en-US" sz="3200" b="1" dirty="0">
                <a:solidFill>
                  <a:srgbClr val="F2F4F8"/>
                </a:solidFill>
                <a:latin typeface="Arial" pitchFamily="34" charset="0"/>
                <a:ea typeface="Arial" pitchFamily="34" charset="-122"/>
                <a:cs typeface="Arial" pitchFamily="34" charset="-120"/>
              </a:rPr>
              <a:t>Is a textbook a complex network?</a:t>
            </a:r>
            <a:endParaRPr lang="en-US" sz="3200" dirty="0"/>
          </a:p>
        </p:txBody>
      </p:sp>
      <p:sp>
        <p:nvSpPr>
          <p:cNvPr id="3" name="Eyebrow"/>
          <p:cNvSpPr txBox="1"/>
          <p:nvPr/>
        </p:nvSpPr>
        <p:spPr>
          <a:xfrm>
            <a:off x="812810" y="812810"/>
            <a:ext cx="10566441" cy="215890"/>
          </a:xfrm>
          <a:prstGeom prst="rect">
            <a:avLst/>
          </a:prstGeom>
          <a:noFill/>
          <a:ln/>
        </p:spPr>
        <p:txBody>
          <a:bodyPr wrap="square" lIns="0" tIns="0" rIns="0" bIns="0" rtlCol="0" anchor="ctr"/>
          <a:lstStyle/>
          <a:p>
            <a:pPr marL="0" indent="0">
              <a:buNone/>
            </a:pPr>
            <a:r>
              <a:rPr lang="en-US" sz="1200" kern="0" spc="150" dirty="0">
                <a:solidFill>
                  <a:srgbClr val="3987E5"/>
                </a:solidFill>
                <a:latin typeface="Consolas" pitchFamily="34" charset="0"/>
                <a:ea typeface="Consolas" pitchFamily="34" charset="-122"/>
                <a:cs typeface="Consolas" pitchFamily="34" charset="-120"/>
              </a:rPr>
              <a:t>01 · INTRODUCTION</a:t>
            </a:r>
            <a:endParaRPr lang="en-US" sz="1200" dirty="0"/>
          </a:p>
        </p:txBody>
      </p:sp>
      <p:sp>
        <p:nvSpPr>
          <p:cNvPr id="4" name="Text 1"/>
          <p:cNvSpPr txBox="1"/>
          <p:nvPr/>
        </p:nvSpPr>
        <p:spPr>
          <a:xfrm>
            <a:off x="812810" y="1835109"/>
            <a:ext cx="3937041" cy="254020"/>
          </a:xfrm>
          <a:prstGeom prst="rect">
            <a:avLst/>
          </a:prstGeom>
          <a:noFill/>
          <a:ln/>
        </p:spPr>
        <p:txBody>
          <a:bodyPr wrap="square" lIns="0" tIns="0" rIns="0" bIns="0" rtlCol="0" anchor="t"/>
          <a:lstStyle/>
          <a:p>
            <a:pPr marL="0" indent="0">
              <a:buNone/>
            </a:pPr>
            <a:r>
              <a:rPr lang="en-US" sz="1400" b="1" dirty="0">
                <a:solidFill>
                  <a:srgbClr val="F2F4F8"/>
                </a:solidFill>
                <a:latin typeface="Arial" pitchFamily="34" charset="0"/>
                <a:ea typeface="Arial" pitchFamily="34" charset="-122"/>
                <a:cs typeface="Arial" pitchFamily="34" charset="-120"/>
              </a:rPr>
              <a:t>Why we care</a:t>
            </a:r>
            <a:endParaRPr lang="en-US" sz="1400" dirty="0"/>
          </a:p>
        </p:txBody>
      </p:sp>
      <p:sp>
        <p:nvSpPr>
          <p:cNvPr id="5" name="Motivation"/>
          <p:cNvSpPr txBox="1"/>
          <p:nvPr/>
        </p:nvSpPr>
        <p:spPr>
          <a:xfrm>
            <a:off x="812810" y="2190720"/>
            <a:ext cx="3937041" cy="3047970"/>
          </a:xfrm>
          <a:prstGeom prst="rect">
            <a:avLst/>
          </a:prstGeom>
          <a:noFill/>
          <a:ln/>
        </p:spPr>
        <p:txBody>
          <a:bodyPr wrap="square" lIns="0" tIns="0" rIns="0" bIns="0" rtlCol="0" anchor="t"/>
          <a:lstStyle/>
          <a:p>
            <a:pPr marL="0" indent="0">
              <a:lnSpc>
                <a:spcPct val="130000"/>
              </a:lnSpc>
              <a:spcAft>
                <a:spcPts val="1200"/>
              </a:spcAft>
              <a:buNone/>
            </a:pPr>
            <a:r>
              <a:rPr lang="en-US" sz="1400" dirty="0">
                <a:solidFill>
                  <a:srgbClr val="B4BCCB"/>
                </a:solidFill>
                <a:latin typeface="Arial" pitchFamily="34" charset="0"/>
                <a:ea typeface="Arial" pitchFamily="34" charset="-122"/>
                <a:cs typeface="Arial" pitchFamily="34" charset="-120"/>
              </a:rPr>
              <a:t>A textbook is a network: every sentence reuses characters and words from earlier lessons.</a:t>
            </a:r>
            <a:endParaRPr lang="en-US" sz="1400" dirty="0"/>
          </a:p>
          <a:p>
            <a:pPr marL="0" indent="0">
              <a:lnSpc>
                <a:spcPct val="130000"/>
              </a:lnSpc>
              <a:spcAft>
                <a:spcPts val="1200"/>
              </a:spcAft>
              <a:buNone/>
            </a:pPr>
            <a:r>
              <a:rPr lang="en-US" sz="1400" dirty="0">
                <a:solidFill>
                  <a:srgbClr val="B4BCCB"/>
                </a:solidFill>
                <a:latin typeface="Arial" pitchFamily="34" charset="0"/>
                <a:ea typeface="Arial" pitchFamily="34" charset="-122"/>
                <a:cs typeface="Arial" pitchFamily="34" charset="-120"/>
              </a:rPr>
              <a:t>Its shape decides what a learner must meet first, how often ideas return, and what breaks when something is missed.</a:t>
            </a:r>
            <a:endParaRPr lang="en-US" sz="1400" dirty="0"/>
          </a:p>
          <a:p>
            <a:pPr marL="0" indent="0">
              <a:lnSpc>
                <a:spcPct val="130000"/>
              </a:lnSpc>
              <a:spcAft>
                <a:spcPts val="1200"/>
              </a:spcAft>
              <a:buNone/>
            </a:pPr>
            <a:r>
              <a:rPr lang="en-US" sz="1400" dirty="0">
                <a:solidFill>
                  <a:srgbClr val="B4BCCB"/>
                </a:solidFill>
                <a:latin typeface="Arial" pitchFamily="34" charset="0"/>
                <a:ea typeface="Arial" pitchFamily="34" charset="-122"/>
                <a:cs typeface="Arial" pitchFamily="34" charset="-120"/>
              </a:rPr>
              <a:t>Natural language is already known to be small-world and heavy-tailed. Is a designed curriculum the same?</a:t>
            </a:r>
            <a:endParaRPr lang="en-US" sz="1400" dirty="0"/>
          </a:p>
          <a:p>
            <a:pPr marL="0" indent="0">
              <a:lnSpc>
                <a:spcPct val="130000"/>
              </a:lnSpc>
              <a:spcAft>
                <a:spcPts val="1200"/>
              </a:spcAft>
              <a:buNone/>
            </a:pPr>
            <a:r>
              <a:rPr lang="en-US" sz="1200" dirty="0">
                <a:solidFill>
                  <a:srgbClr val="7C8699"/>
                </a:solidFill>
                <a:latin typeface="Arial" pitchFamily="34" charset="0"/>
                <a:ea typeface="Arial" pitchFamily="34" charset="-122"/>
                <a:cs typeface="Arial" pitchFamily="34" charset="-120"/>
              </a:rPr>
              <a:t>Ferrer i Cancho &amp; Solé, 2001</a:t>
            </a:r>
            <a:endParaRPr lang="en-US" sz="1400" dirty="0"/>
          </a:p>
        </p:txBody>
      </p:sp>
      <p:sp>
        <p:nvSpPr>
          <p:cNvPr id="6" name="Text 2"/>
          <p:cNvSpPr txBox="1"/>
          <p:nvPr/>
        </p:nvSpPr>
        <p:spPr>
          <a:xfrm>
            <a:off x="5156210" y="1835109"/>
            <a:ext cx="6223041" cy="254020"/>
          </a:xfrm>
          <a:prstGeom prst="rect">
            <a:avLst/>
          </a:prstGeom>
          <a:noFill/>
          <a:ln/>
        </p:spPr>
        <p:txBody>
          <a:bodyPr wrap="square" lIns="0" tIns="0" rIns="0" bIns="0" rtlCol="0" anchor="t"/>
          <a:lstStyle/>
          <a:p>
            <a:pPr marL="0" indent="0">
              <a:buNone/>
            </a:pPr>
            <a:r>
              <a:rPr lang="en-US" sz="1400" b="1" dirty="0">
                <a:solidFill>
                  <a:srgbClr val="F2F4F8"/>
                </a:solidFill>
                <a:latin typeface="Arial" pitchFamily="34" charset="0"/>
                <a:ea typeface="Arial" pitchFamily="34" charset="-122"/>
                <a:cs typeface="Arial" pitchFamily="34" charset="-120"/>
              </a:rPr>
              <a:t>Four questions</a:t>
            </a:r>
            <a:endParaRPr lang="en-US" sz="1400" dirty="0"/>
          </a:p>
        </p:txBody>
      </p:sp>
      <p:sp>
        <p:nvSpPr>
          <p:cNvPr id="7" name="Question card 1"/>
          <p:cNvSpPr/>
          <p:nvPr/>
        </p:nvSpPr>
        <p:spPr>
          <a:xfrm>
            <a:off x="5156210" y="2178009"/>
            <a:ext cx="6223041" cy="800100"/>
          </a:xfrm>
          <a:prstGeom prst="roundRect">
            <a:avLst>
              <a:gd name="adj" fmla="val 12697"/>
            </a:avLst>
          </a:prstGeom>
          <a:solidFill>
            <a:srgbClr val="10141C"/>
          </a:solidFill>
          <a:ln w="9525">
            <a:solidFill>
              <a:srgbClr val="262D3B"/>
            </a:solidFill>
            <a:prstDash val="solid"/>
          </a:ln>
        </p:spPr>
      </p:sp>
      <p:sp>
        <p:nvSpPr>
          <p:cNvPr id="8" name="Q1"/>
          <p:cNvSpPr txBox="1"/>
          <p:nvPr/>
        </p:nvSpPr>
        <p:spPr>
          <a:xfrm>
            <a:off x="5333970" y="2178009"/>
            <a:ext cx="457200" cy="800100"/>
          </a:xfrm>
          <a:prstGeom prst="rect">
            <a:avLst/>
          </a:prstGeom>
          <a:noFill/>
          <a:ln/>
        </p:spPr>
        <p:txBody>
          <a:bodyPr wrap="square" lIns="0" tIns="0" rIns="0" bIns="0" rtlCol="0" anchor="ctr"/>
          <a:lstStyle/>
          <a:p>
            <a:pPr marL="0" indent="0">
              <a:buNone/>
            </a:pPr>
            <a:r>
              <a:rPr lang="en-US" sz="1800" b="1" dirty="0">
                <a:solidFill>
                  <a:srgbClr val="3987E5"/>
                </a:solidFill>
                <a:latin typeface="Consolas" pitchFamily="34" charset="0"/>
                <a:ea typeface="Consolas" pitchFamily="34" charset="-122"/>
                <a:cs typeface="Consolas" pitchFamily="34" charset="-120"/>
              </a:rPr>
              <a:t>Q1</a:t>
            </a:r>
            <a:endParaRPr lang="en-US" sz="1800" dirty="0"/>
          </a:p>
        </p:txBody>
      </p:sp>
      <p:sp>
        <p:nvSpPr>
          <p:cNvPr id="9" name="Q1 question"/>
          <p:cNvSpPr txBox="1"/>
          <p:nvPr/>
        </p:nvSpPr>
        <p:spPr>
          <a:xfrm>
            <a:off x="5943600" y="2343150"/>
            <a:ext cx="5257800" cy="254020"/>
          </a:xfrm>
          <a:prstGeom prst="rect">
            <a:avLst/>
          </a:prstGeom>
          <a:noFill/>
          <a:ln/>
        </p:spPr>
        <p:txBody>
          <a:bodyPr wrap="square" lIns="0" tIns="0" rIns="0" bIns="0" rtlCol="0" anchor="t"/>
          <a:lstStyle/>
          <a:p>
            <a:pPr marL="0" indent="0">
              <a:buNone/>
            </a:pPr>
            <a:r>
              <a:rPr lang="en-US" sz="1400" b="1" dirty="0">
                <a:solidFill>
                  <a:srgbClr val="F2F4F8"/>
                </a:solidFill>
                <a:latin typeface="Arial" pitchFamily="34" charset="0"/>
                <a:ea typeface="Arial" pitchFamily="34" charset="-122"/>
                <a:cs typeface="Arial" pitchFamily="34" charset="-120"/>
              </a:rPr>
              <a:t>Is the HSK 1–3 network scale-free and small-world?</a:t>
            </a:r>
            <a:endParaRPr lang="en-US" sz="1400" dirty="0"/>
          </a:p>
        </p:txBody>
      </p:sp>
      <p:sp>
        <p:nvSpPr>
          <p:cNvPr id="10" name="Q1 indicators"/>
          <p:cNvSpPr txBox="1"/>
          <p:nvPr/>
        </p:nvSpPr>
        <p:spPr>
          <a:xfrm>
            <a:off x="5943600" y="2622591"/>
            <a:ext cx="5257800" cy="215890"/>
          </a:xfrm>
          <a:prstGeom prst="rect">
            <a:avLst/>
          </a:prstGeom>
          <a:noFill/>
          <a:ln/>
        </p:spPr>
        <p:txBody>
          <a:bodyPr wrap="square" lIns="0" tIns="0" rIns="0" bIns="0" rtlCol="0" anchor="t"/>
          <a:lstStyle/>
          <a:p>
            <a:pPr marL="0" indent="0">
              <a:buNone/>
            </a:pPr>
            <a:r>
              <a:rPr lang="en-US" sz="1200" dirty="0">
                <a:solidFill>
                  <a:srgbClr val="7C8699"/>
                </a:solidFill>
                <a:latin typeface="Arial" pitchFamily="34" charset="0"/>
                <a:ea typeface="Arial" pitchFamily="34" charset="-122"/>
                <a:cs typeface="Arial" pitchFamily="34" charset="-120"/>
              </a:rPr>
              <a:t>Degree distribution · clustering · path length</a:t>
            </a:r>
            <a:endParaRPr lang="en-US" sz="1200" dirty="0"/>
          </a:p>
        </p:txBody>
      </p:sp>
      <p:sp>
        <p:nvSpPr>
          <p:cNvPr id="11" name="Question card 2"/>
          <p:cNvSpPr/>
          <p:nvPr/>
        </p:nvSpPr>
        <p:spPr>
          <a:xfrm>
            <a:off x="5156210" y="3105120"/>
            <a:ext cx="6223041" cy="800100"/>
          </a:xfrm>
          <a:prstGeom prst="roundRect">
            <a:avLst>
              <a:gd name="adj" fmla="val 12697"/>
            </a:avLst>
          </a:prstGeom>
          <a:solidFill>
            <a:srgbClr val="10141C"/>
          </a:solidFill>
          <a:ln w="9525">
            <a:solidFill>
              <a:srgbClr val="262D3B"/>
            </a:solidFill>
            <a:prstDash val="solid"/>
          </a:ln>
        </p:spPr>
      </p:sp>
      <p:sp>
        <p:nvSpPr>
          <p:cNvPr id="12" name="Q2"/>
          <p:cNvSpPr txBox="1"/>
          <p:nvPr/>
        </p:nvSpPr>
        <p:spPr>
          <a:xfrm>
            <a:off x="5333970" y="3105120"/>
            <a:ext cx="457200" cy="800100"/>
          </a:xfrm>
          <a:prstGeom prst="rect">
            <a:avLst/>
          </a:prstGeom>
          <a:noFill/>
          <a:ln/>
        </p:spPr>
        <p:txBody>
          <a:bodyPr wrap="square" lIns="0" tIns="0" rIns="0" bIns="0" rtlCol="0" anchor="ctr"/>
          <a:lstStyle/>
          <a:p>
            <a:pPr marL="0" indent="0">
              <a:buNone/>
            </a:pPr>
            <a:r>
              <a:rPr lang="en-US" sz="1800" b="1" dirty="0">
                <a:solidFill>
                  <a:srgbClr val="3987E5"/>
                </a:solidFill>
                <a:latin typeface="Consolas" pitchFamily="34" charset="0"/>
                <a:ea typeface="Consolas" pitchFamily="34" charset="-122"/>
                <a:cs typeface="Consolas" pitchFamily="34" charset="-120"/>
              </a:rPr>
              <a:t>Q2</a:t>
            </a:r>
            <a:endParaRPr lang="en-US" sz="1800" dirty="0"/>
          </a:p>
        </p:txBody>
      </p:sp>
      <p:sp>
        <p:nvSpPr>
          <p:cNvPr id="13" name="Q2 question"/>
          <p:cNvSpPr txBox="1"/>
          <p:nvPr/>
        </p:nvSpPr>
        <p:spPr>
          <a:xfrm>
            <a:off x="5943600" y="3270260"/>
            <a:ext cx="5257800" cy="254020"/>
          </a:xfrm>
          <a:prstGeom prst="rect">
            <a:avLst/>
          </a:prstGeom>
          <a:noFill/>
          <a:ln/>
        </p:spPr>
        <p:txBody>
          <a:bodyPr wrap="square" lIns="0" tIns="0" rIns="0" bIns="0" rtlCol="0" anchor="t"/>
          <a:lstStyle/>
          <a:p>
            <a:pPr marL="0" indent="0">
              <a:buNone/>
            </a:pPr>
            <a:r>
              <a:rPr lang="en-US" sz="1400" b="1" dirty="0">
                <a:solidFill>
                  <a:srgbClr val="F2F4F8"/>
                </a:solidFill>
                <a:latin typeface="Arial" pitchFamily="34" charset="0"/>
                <a:ea typeface="Arial" pitchFamily="34" charset="-122"/>
                <a:cs typeface="Arial" pitchFamily="34" charset="-120"/>
              </a:rPr>
              <a:t>Which units hold the curriculum together?</a:t>
            </a:r>
            <a:endParaRPr lang="en-US" sz="1400" dirty="0"/>
          </a:p>
        </p:txBody>
      </p:sp>
      <p:sp>
        <p:nvSpPr>
          <p:cNvPr id="14" name="Q2 indicators"/>
          <p:cNvSpPr txBox="1"/>
          <p:nvPr/>
        </p:nvSpPr>
        <p:spPr>
          <a:xfrm>
            <a:off x="5943600" y="3549609"/>
            <a:ext cx="5257800" cy="215890"/>
          </a:xfrm>
          <a:prstGeom prst="rect">
            <a:avLst/>
          </a:prstGeom>
          <a:noFill/>
          <a:ln/>
        </p:spPr>
        <p:txBody>
          <a:bodyPr wrap="square" lIns="0" tIns="0" rIns="0" bIns="0" rtlCol="0" anchor="t"/>
          <a:lstStyle/>
          <a:p>
            <a:pPr marL="0" indent="0">
              <a:buNone/>
            </a:pPr>
            <a:r>
              <a:rPr lang="en-US" sz="1200" dirty="0">
                <a:solidFill>
                  <a:srgbClr val="7C8699"/>
                </a:solidFill>
                <a:latin typeface="Arial" pitchFamily="34" charset="0"/>
                <a:ea typeface="Arial" pitchFamily="34" charset="-122"/>
                <a:cs typeface="Arial" pitchFamily="34" charset="-120"/>
              </a:rPr>
              <a:t>Centrality · k-core</a:t>
            </a:r>
            <a:endParaRPr lang="en-US" sz="1200" dirty="0"/>
          </a:p>
        </p:txBody>
      </p:sp>
      <p:sp>
        <p:nvSpPr>
          <p:cNvPr id="15" name="Question card 3"/>
          <p:cNvSpPr/>
          <p:nvPr/>
        </p:nvSpPr>
        <p:spPr>
          <a:xfrm>
            <a:off x="5156210" y="4032230"/>
            <a:ext cx="6223041" cy="800100"/>
          </a:xfrm>
          <a:prstGeom prst="roundRect">
            <a:avLst>
              <a:gd name="adj" fmla="val 12697"/>
            </a:avLst>
          </a:prstGeom>
          <a:solidFill>
            <a:srgbClr val="10141C"/>
          </a:solidFill>
          <a:ln w="9525">
            <a:solidFill>
              <a:srgbClr val="262D3B"/>
            </a:solidFill>
            <a:prstDash val="solid"/>
          </a:ln>
        </p:spPr>
      </p:sp>
      <p:sp>
        <p:nvSpPr>
          <p:cNvPr id="16" name="Q3"/>
          <p:cNvSpPr txBox="1"/>
          <p:nvPr/>
        </p:nvSpPr>
        <p:spPr>
          <a:xfrm>
            <a:off x="5333970" y="4032230"/>
            <a:ext cx="457200" cy="800100"/>
          </a:xfrm>
          <a:prstGeom prst="rect">
            <a:avLst/>
          </a:prstGeom>
          <a:noFill/>
          <a:ln/>
        </p:spPr>
        <p:txBody>
          <a:bodyPr wrap="square" lIns="0" tIns="0" rIns="0" bIns="0" rtlCol="0" anchor="ctr"/>
          <a:lstStyle/>
          <a:p>
            <a:pPr marL="0" indent="0">
              <a:buNone/>
            </a:pPr>
            <a:r>
              <a:rPr lang="en-US" sz="1800" b="1" dirty="0">
                <a:solidFill>
                  <a:srgbClr val="3987E5"/>
                </a:solidFill>
                <a:latin typeface="Consolas" pitchFamily="34" charset="0"/>
                <a:ea typeface="Consolas" pitchFamily="34" charset="-122"/>
                <a:cs typeface="Consolas" pitchFamily="34" charset="-120"/>
              </a:rPr>
              <a:t>Q3</a:t>
            </a:r>
            <a:endParaRPr lang="en-US" sz="1800" dirty="0"/>
          </a:p>
        </p:txBody>
      </p:sp>
      <p:sp>
        <p:nvSpPr>
          <p:cNvPr id="17" name="Q3 question"/>
          <p:cNvSpPr txBox="1"/>
          <p:nvPr/>
        </p:nvSpPr>
        <p:spPr>
          <a:xfrm>
            <a:off x="5943600" y="4197370"/>
            <a:ext cx="5257800" cy="254020"/>
          </a:xfrm>
          <a:prstGeom prst="rect">
            <a:avLst/>
          </a:prstGeom>
          <a:noFill/>
          <a:ln/>
        </p:spPr>
        <p:txBody>
          <a:bodyPr wrap="square" lIns="0" tIns="0" rIns="0" bIns="0" rtlCol="0" anchor="t"/>
          <a:lstStyle/>
          <a:p>
            <a:pPr marL="0" indent="0">
              <a:buNone/>
            </a:pPr>
            <a:r>
              <a:rPr lang="en-US" sz="1400" b="1" dirty="0">
                <a:solidFill>
                  <a:srgbClr val="F2F4F8"/>
                </a:solidFill>
                <a:latin typeface="Arial" pitchFamily="34" charset="0"/>
                <a:ea typeface="Arial" pitchFamily="34" charset="-122"/>
                <a:cs typeface="Arial" pitchFamily="34" charset="-120"/>
              </a:rPr>
              <a:t>Do its communities follow lessons or HSK levels?</a:t>
            </a:r>
            <a:endParaRPr lang="en-US" sz="1400" dirty="0"/>
          </a:p>
        </p:txBody>
      </p:sp>
      <p:sp>
        <p:nvSpPr>
          <p:cNvPr id="18" name="Q3 indicators"/>
          <p:cNvSpPr txBox="1"/>
          <p:nvPr/>
        </p:nvSpPr>
        <p:spPr>
          <a:xfrm>
            <a:off x="5943600" y="4476720"/>
            <a:ext cx="5257800" cy="215890"/>
          </a:xfrm>
          <a:prstGeom prst="rect">
            <a:avLst/>
          </a:prstGeom>
          <a:noFill/>
          <a:ln/>
        </p:spPr>
        <p:txBody>
          <a:bodyPr wrap="square" lIns="0" tIns="0" rIns="0" bIns="0" rtlCol="0" anchor="t"/>
          <a:lstStyle/>
          <a:p>
            <a:pPr marL="0" indent="0">
              <a:buNone/>
            </a:pPr>
            <a:r>
              <a:rPr lang="en-US" sz="1200" dirty="0">
                <a:solidFill>
                  <a:srgbClr val="7C8699"/>
                </a:solidFill>
                <a:latin typeface="Arial" pitchFamily="34" charset="0"/>
                <a:ea typeface="Arial" pitchFamily="34" charset="-122"/>
                <a:cs typeface="Arial" pitchFamily="34" charset="-120"/>
              </a:rPr>
              <a:t>Modularity · normalised mutual information</a:t>
            </a:r>
            <a:endParaRPr lang="en-US" sz="1200" dirty="0"/>
          </a:p>
        </p:txBody>
      </p:sp>
      <p:sp>
        <p:nvSpPr>
          <p:cNvPr id="19" name="Question card 4"/>
          <p:cNvSpPr/>
          <p:nvPr/>
        </p:nvSpPr>
        <p:spPr>
          <a:xfrm>
            <a:off x="5156210" y="4959340"/>
            <a:ext cx="6223041" cy="800100"/>
          </a:xfrm>
          <a:prstGeom prst="roundRect">
            <a:avLst>
              <a:gd name="adj" fmla="val 12697"/>
            </a:avLst>
          </a:prstGeom>
          <a:solidFill>
            <a:srgbClr val="10141C"/>
          </a:solidFill>
          <a:ln w="9525">
            <a:solidFill>
              <a:srgbClr val="262D3B"/>
            </a:solidFill>
            <a:prstDash val="solid"/>
          </a:ln>
        </p:spPr>
      </p:sp>
      <p:sp>
        <p:nvSpPr>
          <p:cNvPr id="20" name="Q4"/>
          <p:cNvSpPr txBox="1"/>
          <p:nvPr/>
        </p:nvSpPr>
        <p:spPr>
          <a:xfrm>
            <a:off x="5333970" y="4959340"/>
            <a:ext cx="457200" cy="800100"/>
          </a:xfrm>
          <a:prstGeom prst="rect">
            <a:avLst/>
          </a:prstGeom>
          <a:noFill/>
          <a:ln/>
        </p:spPr>
        <p:txBody>
          <a:bodyPr wrap="square" lIns="0" tIns="0" rIns="0" bIns="0" rtlCol="0" anchor="ctr"/>
          <a:lstStyle/>
          <a:p>
            <a:pPr marL="0" indent="0">
              <a:buNone/>
            </a:pPr>
            <a:r>
              <a:rPr lang="en-US" sz="1800" b="1" dirty="0">
                <a:solidFill>
                  <a:srgbClr val="3987E5"/>
                </a:solidFill>
                <a:latin typeface="Consolas" pitchFamily="34" charset="0"/>
                <a:ea typeface="Consolas" pitchFamily="34" charset="-122"/>
                <a:cs typeface="Consolas" pitchFamily="34" charset="-120"/>
              </a:rPr>
              <a:t>Q4</a:t>
            </a:r>
            <a:endParaRPr lang="en-US" sz="1800" dirty="0"/>
          </a:p>
        </p:txBody>
      </p:sp>
      <p:sp>
        <p:nvSpPr>
          <p:cNvPr id="21" name="Q4 question"/>
          <p:cNvSpPr txBox="1"/>
          <p:nvPr/>
        </p:nvSpPr>
        <p:spPr>
          <a:xfrm>
            <a:off x="5943600" y="5124480"/>
            <a:ext cx="5257800" cy="254020"/>
          </a:xfrm>
          <a:prstGeom prst="rect">
            <a:avLst/>
          </a:prstGeom>
          <a:noFill/>
          <a:ln/>
        </p:spPr>
        <p:txBody>
          <a:bodyPr wrap="square" lIns="0" tIns="0" rIns="0" bIns="0" rtlCol="0" anchor="t"/>
          <a:lstStyle/>
          <a:p>
            <a:pPr marL="0" indent="0">
              <a:buNone/>
            </a:pPr>
            <a:r>
              <a:rPr lang="en-US" sz="1400" b="1" dirty="0">
                <a:solidFill>
                  <a:srgbClr val="F2F4F8"/>
                </a:solidFill>
                <a:latin typeface="Arial" pitchFamily="34" charset="0"/>
                <a:ea typeface="Arial" pitchFamily="34" charset="-122"/>
                <a:cs typeface="Arial" pitchFamily="34" charset="-120"/>
              </a:rPr>
              <a:t>How robust is it when units are missing?</a:t>
            </a:r>
            <a:endParaRPr lang="en-US" sz="1400" dirty="0"/>
          </a:p>
        </p:txBody>
      </p:sp>
      <p:sp>
        <p:nvSpPr>
          <p:cNvPr id="22" name="Q4 indicators"/>
          <p:cNvSpPr txBox="1"/>
          <p:nvPr/>
        </p:nvSpPr>
        <p:spPr>
          <a:xfrm>
            <a:off x="5943600" y="5403830"/>
            <a:ext cx="5257800" cy="215890"/>
          </a:xfrm>
          <a:prstGeom prst="rect">
            <a:avLst/>
          </a:prstGeom>
          <a:noFill/>
          <a:ln/>
        </p:spPr>
        <p:txBody>
          <a:bodyPr wrap="square" lIns="0" tIns="0" rIns="0" bIns="0" rtlCol="0" anchor="t"/>
          <a:lstStyle/>
          <a:p>
            <a:pPr marL="0" indent="0">
              <a:buNone/>
            </a:pPr>
            <a:r>
              <a:rPr lang="en-US" sz="1200" dirty="0">
                <a:solidFill>
                  <a:srgbClr val="7C8699"/>
                </a:solidFill>
                <a:latin typeface="Arial" pitchFamily="34" charset="0"/>
                <a:ea typeface="Arial" pitchFamily="34" charset="-122"/>
                <a:cs typeface="Arial" pitchFamily="34" charset="-120"/>
              </a:rPr>
              <a:t>Random failure vs targeted attack</a:t>
            </a:r>
            <a:endParaRPr lang="en-US" sz="1200" dirty="0"/>
          </a:p>
        </p:txBody>
      </p:sp>
      <p:sp>
        <p:nvSpPr>
          <p:cNvPr id="25" name="Slide Number Placeholder 0"/>
          <p:cNvSpPr>
            <a:spLocks noGrp="1"/>
          </p:cNvSpPr>
          <p:nvPr>
            <p:ph type="sldNum" sz="quarter" idx="4294967295"/>
          </p:nvPr>
        </p:nvSpPr>
        <p:spPr>
          <a:xfrm>
            <a:off x="10109241" y="6235659"/>
            <a:ext cx="1270010" cy="21589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7C8699"/>
                </a:solidFill>
                <a:latin typeface="Consolas"/>
                <a:ea typeface="Consolas"/>
                <a:cs typeface="Consolas"/>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812810" y="1104870"/>
            <a:ext cx="10566441" cy="469910"/>
          </a:xfrm>
          <a:prstGeom prst="rect">
            <a:avLst/>
          </a:prstGeom>
          <a:noFill/>
          <a:ln/>
        </p:spPr>
        <p:txBody>
          <a:bodyPr wrap="square" lIns="0" tIns="0" rIns="0" bIns="0" rtlCol="0" anchor="t"/>
          <a:lstStyle/>
          <a:p>
            <a:pPr marL="0" indent="0" algn="l">
              <a:buNone/>
            </a:pPr>
            <a:r>
              <a:rPr lang="en-US" sz="3200" b="1" dirty="0">
                <a:solidFill>
                  <a:srgbClr val="F2F4F8"/>
                </a:solidFill>
                <a:latin typeface="Arial" pitchFamily="34" charset="0"/>
                <a:ea typeface="Arial" pitchFamily="34" charset="-122"/>
                <a:cs typeface="Arial" pitchFamily="34" charset="-120"/>
              </a:rPr>
              <a:t>5,379 teaching units, 32,076 relations</a:t>
            </a:r>
            <a:endParaRPr lang="en-US" sz="3200" dirty="0"/>
          </a:p>
        </p:txBody>
      </p:sp>
      <p:sp>
        <p:nvSpPr>
          <p:cNvPr id="3" name="Eyebrow"/>
          <p:cNvSpPr txBox="1"/>
          <p:nvPr/>
        </p:nvSpPr>
        <p:spPr>
          <a:xfrm>
            <a:off x="812810" y="812810"/>
            <a:ext cx="10566441" cy="215890"/>
          </a:xfrm>
          <a:prstGeom prst="rect">
            <a:avLst/>
          </a:prstGeom>
          <a:noFill/>
          <a:ln/>
        </p:spPr>
        <p:txBody>
          <a:bodyPr wrap="square" lIns="0" tIns="0" rIns="0" bIns="0" rtlCol="0" anchor="ctr"/>
          <a:lstStyle/>
          <a:p>
            <a:pPr marL="0" indent="0">
              <a:buNone/>
            </a:pPr>
            <a:r>
              <a:rPr lang="en-US" sz="1200" kern="0" spc="150" dirty="0">
                <a:solidFill>
                  <a:srgbClr val="3987E5"/>
                </a:solidFill>
                <a:latin typeface="Consolas" pitchFamily="34" charset="0"/>
                <a:ea typeface="Consolas" pitchFamily="34" charset="-122"/>
                <a:cs typeface="Consolas" pitchFamily="34" charset="-120"/>
              </a:rPr>
              <a:t>02 · DATA</a:t>
            </a:r>
            <a:endParaRPr lang="en-US" sz="1200" dirty="0"/>
          </a:p>
        </p:txBody>
      </p:sp>
      <p:sp>
        <p:nvSpPr>
          <p:cNvPr id="4" name="Text 3"/>
          <p:cNvSpPr txBox="1"/>
          <p:nvPr/>
        </p:nvSpPr>
        <p:spPr>
          <a:xfrm>
            <a:off x="812810" y="1835109"/>
            <a:ext cx="3556010" cy="254020"/>
          </a:xfrm>
          <a:prstGeom prst="rect">
            <a:avLst/>
          </a:prstGeom>
          <a:noFill/>
          <a:ln/>
        </p:spPr>
        <p:txBody>
          <a:bodyPr wrap="square" lIns="0" tIns="0" rIns="0" bIns="0" rtlCol="0" anchor="t"/>
          <a:lstStyle/>
          <a:p>
            <a:pPr marL="0" indent="0">
              <a:buNone/>
            </a:pPr>
            <a:r>
              <a:rPr lang="en-US" sz="1400" b="1" dirty="0">
                <a:solidFill>
                  <a:srgbClr val="F2F4F8"/>
                </a:solidFill>
                <a:latin typeface="Arial" pitchFamily="34" charset="0"/>
                <a:ea typeface="Arial" pitchFamily="34" charset="-122"/>
                <a:cs typeface="Arial" pitchFamily="34" charset="-120"/>
              </a:rPr>
              <a:t>Nodes: units of the books</a:t>
            </a:r>
            <a:endParaRPr lang="en-US" sz="1400" dirty="0"/>
          </a:p>
        </p:txBody>
      </p:sp>
      <p:graphicFrame>
        <p:nvGraphicFramePr>
          <p:cNvPr id="5" name="Chart: nodes by type"/>
          <p:cNvGraphicFramePr/>
          <p:nvPr/>
        </p:nvGraphicFramePr>
        <p:xfrm>
          <a:off x="711220" y="2114550"/>
          <a:ext cx="3746480" cy="287021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4"/>
          <p:cNvSpPr txBox="1"/>
          <p:nvPr/>
        </p:nvSpPr>
        <p:spPr>
          <a:xfrm>
            <a:off x="4673590" y="1835109"/>
            <a:ext cx="3708441" cy="254020"/>
          </a:xfrm>
          <a:prstGeom prst="rect">
            <a:avLst/>
          </a:prstGeom>
          <a:noFill/>
          <a:ln/>
        </p:spPr>
        <p:txBody>
          <a:bodyPr wrap="square" lIns="0" tIns="0" rIns="0" bIns="0" rtlCol="0" anchor="t"/>
          <a:lstStyle/>
          <a:p>
            <a:pPr marL="0" indent="0">
              <a:buNone/>
            </a:pPr>
            <a:r>
              <a:rPr lang="en-US" sz="1400" b="1" dirty="0">
                <a:solidFill>
                  <a:srgbClr val="F2F4F8"/>
                </a:solidFill>
                <a:latin typeface="Arial" pitchFamily="34" charset="0"/>
                <a:ea typeface="Arial" pitchFamily="34" charset="-122"/>
                <a:cs typeface="Arial" pitchFamily="34" charset="-120"/>
              </a:rPr>
              <a:t>Links: relations in the books</a:t>
            </a:r>
            <a:endParaRPr lang="en-US" sz="1400" dirty="0"/>
          </a:p>
        </p:txBody>
      </p:sp>
      <p:graphicFrame>
        <p:nvGraphicFramePr>
          <p:cNvPr id="7" name="Chart: links by relation"/>
          <p:cNvGraphicFramePr/>
          <p:nvPr/>
        </p:nvGraphicFramePr>
        <p:xfrm>
          <a:off x="4572000" y="2114550"/>
          <a:ext cx="3937041" cy="2031980"/>
        </p:xfrm>
        <a:graphic>
          <a:graphicData uri="http://schemas.openxmlformats.org/drawingml/2006/chart">
            <c:chart xmlns:c="http://schemas.openxmlformats.org/drawingml/2006/chart" xmlns:r="http://schemas.openxmlformats.org/officeDocument/2006/relationships" r:id="rId4"/>
          </a:graphicData>
        </a:graphic>
      </p:graphicFrame>
      <p:sp>
        <p:nvSpPr>
          <p:cNvPr id="8" name="Link note"/>
          <p:cNvSpPr txBox="1"/>
          <p:nvPr/>
        </p:nvSpPr>
        <p:spPr>
          <a:xfrm>
            <a:off x="4673590" y="4235409"/>
            <a:ext cx="3708441" cy="444490"/>
          </a:xfrm>
          <a:prstGeom prst="rect">
            <a:avLst/>
          </a:prstGeom>
          <a:noFill/>
          <a:ln/>
        </p:spPr>
        <p:txBody>
          <a:bodyPr wrap="square" lIns="0" tIns="0" rIns="0" bIns="0" rtlCol="0" anchor="t"/>
          <a:lstStyle/>
          <a:p>
            <a:pPr marL="0" indent="0">
              <a:buNone/>
            </a:pPr>
            <a:r>
              <a:rPr lang="en-US" sz="1200" dirty="0">
                <a:solidFill>
                  <a:srgbClr val="7C8699"/>
                </a:solidFill>
                <a:latin typeface="Arial" pitchFamily="34" charset="0"/>
                <a:ea typeface="Arial" pitchFamily="34" charset="-122"/>
                <a:cs typeface="Arial" pitchFamily="34" charset="-120"/>
              </a:rPr>
              <a:t>36,419 link records, merged into 32,076 simple links</a:t>
            </a:r>
            <a:endParaRPr lang="en-US" sz="1200" dirty="0"/>
          </a:p>
        </p:txBody>
      </p:sp>
      <p:sp>
        <p:nvSpPr>
          <p:cNvPr id="9" name="Text 5"/>
          <p:cNvSpPr txBox="1"/>
          <p:nvPr/>
        </p:nvSpPr>
        <p:spPr>
          <a:xfrm>
            <a:off x="8686800" y="1835109"/>
            <a:ext cx="2692359" cy="254020"/>
          </a:xfrm>
          <a:prstGeom prst="rect">
            <a:avLst/>
          </a:prstGeom>
          <a:noFill/>
          <a:ln/>
        </p:spPr>
        <p:txBody>
          <a:bodyPr wrap="square" lIns="0" tIns="0" rIns="0" bIns="0" rtlCol="0" anchor="t"/>
          <a:lstStyle/>
          <a:p>
            <a:pPr marL="0" indent="0">
              <a:buNone/>
            </a:pPr>
            <a:r>
              <a:rPr lang="en-US" sz="1400" b="1" dirty="0">
                <a:solidFill>
                  <a:srgbClr val="F2F4F8"/>
                </a:solidFill>
                <a:latin typeface="Arial" pitchFamily="34" charset="0"/>
                <a:ea typeface="Arial" pitchFamily="34" charset="-122"/>
                <a:cs typeface="Arial" pitchFamily="34" charset="-120"/>
              </a:rPr>
              <a:t>Where links come from</a:t>
            </a:r>
            <a:endParaRPr lang="en-US" sz="1400" dirty="0"/>
          </a:p>
        </p:txBody>
      </p:sp>
      <p:graphicFrame>
        <p:nvGraphicFramePr>
          <p:cNvPr id="10" name="Chart: link provenance"/>
          <p:cNvGraphicFramePr/>
          <p:nvPr/>
        </p:nvGraphicFramePr>
        <p:xfrm>
          <a:off x="8686800" y="2152680"/>
          <a:ext cx="2692359" cy="190470"/>
        </p:xfrm>
        <a:graphic>
          <a:graphicData uri="http://schemas.openxmlformats.org/drawingml/2006/chart">
            <c:chart xmlns:c="http://schemas.openxmlformats.org/drawingml/2006/chart" xmlns:r="http://schemas.openxmlformats.org/officeDocument/2006/relationships" r:id="rId5"/>
          </a:graphicData>
        </a:graphic>
      </p:graphicFrame>
      <p:sp>
        <p:nvSpPr>
          <p:cNvPr id="11" name="Swatch 78%"/>
          <p:cNvSpPr/>
          <p:nvPr/>
        </p:nvSpPr>
        <p:spPr>
          <a:xfrm>
            <a:off x="8686800" y="2552730"/>
            <a:ext cx="101590" cy="101590"/>
          </a:xfrm>
          <a:prstGeom prst="roundRect">
            <a:avLst>
              <a:gd name="adj" fmla="val 25022"/>
            </a:avLst>
          </a:prstGeom>
          <a:solidFill>
            <a:srgbClr val="3987E5"/>
          </a:solidFill>
          <a:ln w="12700">
            <a:solidFill>
              <a:srgbClr val="3987E5"/>
            </a:solidFill>
            <a:prstDash val="solid"/>
          </a:ln>
        </p:spPr>
      </p:sp>
      <p:sp>
        <p:nvSpPr>
          <p:cNvPr id="12" name="Provenance 78%"/>
          <p:cNvSpPr txBox="1"/>
          <p:nvPr/>
        </p:nvSpPr>
        <p:spPr>
          <a:xfrm>
            <a:off x="8864559" y="2495580"/>
            <a:ext cx="2514600" cy="215890"/>
          </a:xfrm>
          <a:prstGeom prst="rect">
            <a:avLst/>
          </a:prstGeom>
          <a:noFill/>
          <a:ln/>
        </p:spPr>
        <p:txBody>
          <a:bodyPr wrap="square" lIns="0" tIns="0" rIns="0" bIns="0" rtlCol="0" anchor="ctr"/>
          <a:lstStyle/>
          <a:p>
            <a:pPr marL="0" indent="0">
              <a:buNone/>
            </a:pPr>
            <a:r>
              <a:rPr lang="en-US" sz="1200" b="1" dirty="0">
                <a:solidFill>
                  <a:srgbClr val="F2F4F8"/>
                </a:solidFill>
                <a:latin typeface="Arial" pitchFamily="34" charset="0"/>
                <a:ea typeface="Arial" pitchFamily="34" charset="-122"/>
                <a:cs typeface="Arial" pitchFamily="34" charset="-120"/>
              </a:rPr>
              <a:t>78%</a:t>
            </a:r>
            <a:r>
              <a:rPr lang="en-US" sz="1200" dirty="0">
                <a:solidFill>
                  <a:srgbClr val="B4BCCB"/>
                </a:solidFill>
                <a:latin typeface="Arial" pitchFamily="34" charset="0"/>
                <a:ea typeface="Arial" pitchFamily="34" charset="-122"/>
                <a:cs typeface="Arial" pitchFamily="34" charset="-120"/>
              </a:rPr>
              <a:t> stated in the text</a:t>
            </a:r>
            <a:endParaRPr lang="en-US" sz="1200" dirty="0"/>
          </a:p>
        </p:txBody>
      </p:sp>
      <p:sp>
        <p:nvSpPr>
          <p:cNvPr id="13" name="Swatch 18%"/>
          <p:cNvSpPr/>
          <p:nvPr/>
        </p:nvSpPr>
        <p:spPr>
          <a:xfrm>
            <a:off x="8686800" y="2844790"/>
            <a:ext cx="101590" cy="101590"/>
          </a:xfrm>
          <a:prstGeom prst="roundRect">
            <a:avLst>
              <a:gd name="adj" fmla="val 25022"/>
            </a:avLst>
          </a:prstGeom>
          <a:solidFill>
            <a:srgbClr val="7FB0EF"/>
          </a:solidFill>
          <a:ln w="12700">
            <a:solidFill>
              <a:srgbClr val="7FB0EF"/>
            </a:solidFill>
            <a:prstDash val="solid"/>
          </a:ln>
        </p:spPr>
      </p:sp>
      <p:sp>
        <p:nvSpPr>
          <p:cNvPr id="14" name="Provenance 18%"/>
          <p:cNvSpPr txBox="1"/>
          <p:nvPr/>
        </p:nvSpPr>
        <p:spPr>
          <a:xfrm>
            <a:off x="8864559" y="2787640"/>
            <a:ext cx="2514600" cy="215890"/>
          </a:xfrm>
          <a:prstGeom prst="rect">
            <a:avLst/>
          </a:prstGeom>
          <a:noFill/>
          <a:ln/>
        </p:spPr>
        <p:txBody>
          <a:bodyPr wrap="square" lIns="0" tIns="0" rIns="0" bIns="0" rtlCol="0" anchor="ctr"/>
          <a:lstStyle/>
          <a:p>
            <a:pPr marL="0" indent="0">
              <a:buNone/>
            </a:pPr>
            <a:r>
              <a:rPr lang="en-US" sz="1200" b="1" dirty="0">
                <a:solidFill>
                  <a:srgbClr val="F2F4F8"/>
                </a:solidFill>
                <a:latin typeface="Arial" pitchFamily="34" charset="0"/>
                <a:ea typeface="Arial" pitchFamily="34" charset="-122"/>
                <a:cs typeface="Arial" pitchFamily="34" charset="-120"/>
              </a:rPr>
              <a:t>18%</a:t>
            </a:r>
            <a:r>
              <a:rPr lang="en-US" sz="1200" dirty="0">
                <a:solidFill>
                  <a:srgbClr val="B4BCCB"/>
                </a:solidFill>
                <a:latin typeface="Arial" pitchFamily="34" charset="0"/>
                <a:ea typeface="Arial" pitchFamily="34" charset="-122"/>
                <a:cs typeface="Arial" pitchFamily="34" charset="-120"/>
              </a:rPr>
              <a:t> string matching</a:t>
            </a:r>
            <a:endParaRPr lang="en-US" sz="1200" dirty="0"/>
          </a:p>
        </p:txBody>
      </p:sp>
      <p:sp>
        <p:nvSpPr>
          <p:cNvPr id="15" name="Swatch 3%"/>
          <p:cNvSpPr/>
          <p:nvPr/>
        </p:nvSpPr>
        <p:spPr>
          <a:xfrm>
            <a:off x="8686800" y="3136941"/>
            <a:ext cx="101590" cy="101590"/>
          </a:xfrm>
          <a:prstGeom prst="roundRect">
            <a:avLst>
              <a:gd name="adj" fmla="val 25022"/>
            </a:avLst>
          </a:prstGeom>
          <a:solidFill>
            <a:srgbClr val="C6DCF7"/>
          </a:solidFill>
          <a:ln w="12700">
            <a:solidFill>
              <a:srgbClr val="C6DCF7"/>
            </a:solidFill>
            <a:prstDash val="solid"/>
          </a:ln>
        </p:spPr>
      </p:sp>
      <p:sp>
        <p:nvSpPr>
          <p:cNvPr id="16" name="Provenance 3%"/>
          <p:cNvSpPr txBox="1"/>
          <p:nvPr/>
        </p:nvSpPr>
        <p:spPr>
          <a:xfrm>
            <a:off x="8864559" y="3079791"/>
            <a:ext cx="2514600" cy="215890"/>
          </a:xfrm>
          <a:prstGeom prst="rect">
            <a:avLst/>
          </a:prstGeom>
          <a:noFill/>
          <a:ln/>
        </p:spPr>
        <p:txBody>
          <a:bodyPr wrap="square" lIns="0" tIns="0" rIns="0" bIns="0" rtlCol="0" anchor="ctr"/>
          <a:lstStyle/>
          <a:p>
            <a:pPr marL="0" indent="0">
              <a:buNone/>
            </a:pPr>
            <a:r>
              <a:rPr lang="en-US" sz="1200" b="1" dirty="0">
                <a:solidFill>
                  <a:srgbClr val="F2F4F8"/>
                </a:solidFill>
                <a:latin typeface="Arial" pitchFamily="34" charset="0"/>
                <a:ea typeface="Arial" pitchFamily="34" charset="-122"/>
                <a:cs typeface="Arial" pitchFamily="34" charset="-120"/>
              </a:rPr>
              <a:t>3%</a:t>
            </a:r>
            <a:r>
              <a:rPr lang="en-US" sz="1200" dirty="0">
                <a:solidFill>
                  <a:srgbClr val="B4BCCB"/>
                </a:solidFill>
                <a:latin typeface="Arial" pitchFamily="34" charset="0"/>
                <a:ea typeface="Arial" pitchFamily="34" charset="-122"/>
                <a:cs typeface="Arial" pitchFamily="34" charset="-120"/>
              </a:rPr>
              <a:t> language model</a:t>
            </a:r>
            <a:endParaRPr lang="en-US" sz="1200" dirty="0"/>
          </a:p>
        </p:txBody>
      </p:sp>
      <p:sp>
        <p:nvSpPr>
          <p:cNvPr id="17" name="Text 6"/>
          <p:cNvSpPr txBox="1"/>
          <p:nvPr/>
        </p:nvSpPr>
        <p:spPr>
          <a:xfrm>
            <a:off x="8686800" y="3556010"/>
            <a:ext cx="2692359" cy="254020"/>
          </a:xfrm>
          <a:prstGeom prst="rect">
            <a:avLst/>
          </a:prstGeom>
          <a:noFill/>
          <a:ln/>
        </p:spPr>
        <p:txBody>
          <a:bodyPr wrap="square" lIns="0" tIns="0" rIns="0" bIns="0" rtlCol="0" anchor="t"/>
          <a:lstStyle/>
          <a:p>
            <a:pPr marL="0" indent="0">
              <a:buNone/>
            </a:pPr>
            <a:r>
              <a:rPr lang="en-US" sz="1400" b="1" dirty="0">
                <a:solidFill>
                  <a:srgbClr val="F2F4F8"/>
                </a:solidFill>
                <a:latin typeface="Arial" pitchFamily="34" charset="0"/>
                <a:ea typeface="Arial" pitchFamily="34" charset="-122"/>
                <a:cs typeface="Arial" pitchFamily="34" charset="-120"/>
              </a:rPr>
              <a:t>The graph</a:t>
            </a:r>
            <a:endParaRPr lang="en-US" sz="1400" dirty="0"/>
          </a:p>
        </p:txBody>
      </p:sp>
      <p:sp>
        <p:nvSpPr>
          <p:cNvPr id="18" name="Graph facts"/>
          <p:cNvSpPr txBox="1"/>
          <p:nvPr/>
        </p:nvSpPr>
        <p:spPr>
          <a:xfrm>
            <a:off x="8686800" y="3848070"/>
            <a:ext cx="2692359" cy="761970"/>
          </a:xfrm>
          <a:prstGeom prst="rect">
            <a:avLst/>
          </a:prstGeom>
          <a:noFill/>
          <a:ln/>
        </p:spPr>
        <p:txBody>
          <a:bodyPr wrap="square" lIns="0" tIns="0" rIns="0" bIns="0" rtlCol="0" anchor="t"/>
          <a:lstStyle/>
          <a:p>
            <a:pPr marL="0" indent="0">
              <a:lnSpc>
                <a:spcPct val="135000"/>
              </a:lnSpc>
              <a:buNone/>
            </a:pPr>
            <a:r>
              <a:rPr lang="en-US" sz="1200" dirty="0">
                <a:solidFill>
                  <a:srgbClr val="B4BCCB"/>
                </a:solidFill>
                <a:latin typeface="Arial" pitchFamily="34" charset="0"/>
                <a:ea typeface="Arial" pitchFamily="34" charset="-122"/>
                <a:cs typeface="Arial" pitchFamily="34" charset="-120"/>
              </a:rPr>
              <a:t>Undirected and simple</a:t>
            </a:r>
            <a:endParaRPr lang="en-US" sz="1200" dirty="0"/>
          </a:p>
          <a:p>
            <a:pPr marL="0" indent="0">
              <a:lnSpc>
                <a:spcPct val="135000"/>
              </a:lnSpc>
              <a:buNone/>
            </a:pPr>
            <a:r>
              <a:rPr lang="en-US" sz="1200" dirty="0">
                <a:solidFill>
                  <a:srgbClr val="B4BCCB"/>
                </a:solidFill>
                <a:latin typeface="Arial" pitchFamily="34" charset="0"/>
                <a:ea typeface="Arial" pitchFamily="34" charset="-122"/>
                <a:cs typeface="Arial" pitchFamily="34" charset="-120"/>
              </a:rPr>
              <a:t>1 component, 100% of nodes</a:t>
            </a:r>
            <a:endParaRPr lang="en-US" sz="1200" dirty="0"/>
          </a:p>
          <a:p>
            <a:pPr marL="0" indent="0">
              <a:lnSpc>
                <a:spcPct val="135000"/>
              </a:lnSpc>
              <a:buNone/>
            </a:pPr>
            <a:r>
              <a:rPr lang="en-US" sz="1200" dirty="0">
                <a:solidFill>
                  <a:srgbClr val="B4BCCB"/>
                </a:solidFill>
                <a:latin typeface="Arial" pitchFamily="34" charset="0"/>
                <a:ea typeface="Arial" pitchFamily="34" charset="-122"/>
                <a:cs typeface="Arial" pitchFamily="34" charset="-120"/>
              </a:rPr>
              <a:t>⟨k⟩ = 11.9 · density 0.0022</a:t>
            </a:r>
            <a:endParaRPr lang="en-US" sz="1200" dirty="0"/>
          </a:p>
        </p:txBody>
      </p:sp>
      <p:sp>
        <p:nvSpPr>
          <p:cNvPr id="19" name="Text 7"/>
          <p:cNvSpPr txBox="1"/>
          <p:nvPr/>
        </p:nvSpPr>
        <p:spPr>
          <a:xfrm>
            <a:off x="812810" y="5080041"/>
            <a:ext cx="1111270" cy="355610"/>
          </a:xfrm>
          <a:prstGeom prst="rect">
            <a:avLst/>
          </a:prstGeom>
          <a:noFill/>
          <a:ln/>
        </p:spPr>
        <p:txBody>
          <a:bodyPr wrap="square" lIns="0" tIns="0" rIns="0" bIns="0" rtlCol="0" anchor="ctr"/>
          <a:lstStyle/>
          <a:p>
            <a:pPr marL="0" indent="0">
              <a:buNone/>
            </a:pPr>
            <a:r>
              <a:rPr lang="en-US" sz="1200" dirty="0">
                <a:solidFill>
                  <a:srgbClr val="7C8699"/>
                </a:solidFill>
                <a:latin typeface="Arial" pitchFamily="34" charset="0"/>
                <a:ea typeface="Arial" pitchFamily="34" charset="-122"/>
                <a:cs typeface="Arial" pitchFamily="34" charset="-120"/>
              </a:rPr>
              <a:t>Collected from</a:t>
            </a:r>
            <a:endParaRPr lang="en-US" sz="1200" dirty="0"/>
          </a:p>
        </p:txBody>
      </p:sp>
      <p:sp>
        <p:nvSpPr>
          <p:cNvPr id="20" name="Step 1"/>
          <p:cNvSpPr/>
          <p:nvPr/>
        </p:nvSpPr>
        <p:spPr>
          <a:xfrm>
            <a:off x="2025670" y="5080041"/>
            <a:ext cx="2082820" cy="355610"/>
          </a:xfrm>
          <a:prstGeom prst="roundRect">
            <a:avLst>
              <a:gd name="adj" fmla="val 21419"/>
            </a:avLst>
          </a:prstGeom>
          <a:solidFill>
            <a:srgbClr val="171C27"/>
          </a:solidFill>
          <a:ln w="9525">
            <a:solidFill>
              <a:srgbClr val="262D3B"/>
            </a:solidFill>
            <a:prstDash val="solid"/>
          </a:ln>
        </p:spPr>
      </p:sp>
      <p:sp>
        <p:nvSpPr>
          <p:cNvPr id="21" name="Step label 1"/>
          <p:cNvSpPr txBox="1"/>
          <p:nvPr/>
        </p:nvSpPr>
        <p:spPr>
          <a:xfrm>
            <a:off x="2025670" y="5080041"/>
            <a:ext cx="2082820" cy="355610"/>
          </a:xfrm>
          <a:prstGeom prst="rect">
            <a:avLst/>
          </a:prstGeom>
          <a:noFill/>
          <a:ln/>
        </p:spPr>
        <p:txBody>
          <a:bodyPr wrap="square" lIns="0" tIns="0" rIns="0" bIns="0" rtlCol="0" anchor="ctr"/>
          <a:lstStyle/>
          <a:p>
            <a:pPr marL="0" indent="0" algn="ctr">
              <a:buNone/>
            </a:pPr>
            <a:r>
              <a:rPr lang="en-US" sz="1200" dirty="0">
                <a:solidFill>
                  <a:srgbClr val="F2F4F8"/>
                </a:solidFill>
                <a:latin typeface="Arial" pitchFamily="34" charset="0"/>
                <a:ea typeface="Arial" pitchFamily="34" charset="-122"/>
                <a:cs typeface="Arial" pitchFamily="34" charset="-120"/>
              </a:rPr>
              <a:t>3 scanned HSK textbooks</a:t>
            </a:r>
            <a:endParaRPr lang="en-US" sz="1200" dirty="0"/>
          </a:p>
        </p:txBody>
      </p:sp>
      <p:sp>
        <p:nvSpPr>
          <p:cNvPr id="22" name="Arrow 1"/>
          <p:cNvSpPr/>
          <p:nvPr/>
        </p:nvSpPr>
        <p:spPr>
          <a:xfrm>
            <a:off x="4184660" y="5257800"/>
            <a:ext cx="203180" cy="0"/>
          </a:xfrm>
          <a:prstGeom prst="line">
            <a:avLst/>
          </a:prstGeom>
          <a:noFill/>
          <a:ln w="19050">
            <a:solidFill>
              <a:srgbClr val="3987E5"/>
            </a:solidFill>
            <a:prstDash val="solid"/>
            <a:tailEnd type="triangle"/>
          </a:ln>
        </p:spPr>
      </p:sp>
      <p:sp>
        <p:nvSpPr>
          <p:cNvPr id="23" name="Step 2"/>
          <p:cNvSpPr/>
          <p:nvPr/>
        </p:nvSpPr>
        <p:spPr>
          <a:xfrm>
            <a:off x="4464009" y="5080041"/>
            <a:ext cx="1524030" cy="355610"/>
          </a:xfrm>
          <a:prstGeom prst="roundRect">
            <a:avLst>
              <a:gd name="adj" fmla="val 21419"/>
            </a:avLst>
          </a:prstGeom>
          <a:solidFill>
            <a:srgbClr val="171C27"/>
          </a:solidFill>
          <a:ln w="9525">
            <a:solidFill>
              <a:srgbClr val="262D3B"/>
            </a:solidFill>
            <a:prstDash val="solid"/>
          </a:ln>
        </p:spPr>
      </p:sp>
      <p:sp>
        <p:nvSpPr>
          <p:cNvPr id="24" name="Step label 2"/>
          <p:cNvSpPr txBox="1"/>
          <p:nvPr/>
        </p:nvSpPr>
        <p:spPr>
          <a:xfrm>
            <a:off x="4464009" y="5080041"/>
            <a:ext cx="1524030" cy="355610"/>
          </a:xfrm>
          <a:prstGeom prst="rect">
            <a:avLst/>
          </a:prstGeom>
          <a:noFill/>
          <a:ln/>
        </p:spPr>
        <p:txBody>
          <a:bodyPr wrap="square" lIns="0" tIns="0" rIns="0" bIns="0" rtlCol="0" anchor="ctr"/>
          <a:lstStyle/>
          <a:p>
            <a:pPr marL="0" indent="0" algn="ctr">
              <a:buNone/>
            </a:pPr>
            <a:r>
              <a:rPr lang="en-US" sz="1200" dirty="0">
                <a:solidFill>
                  <a:srgbClr val="F2F4F8"/>
                </a:solidFill>
                <a:latin typeface="Arial" pitchFamily="34" charset="0"/>
                <a:ea typeface="Arial" pitchFamily="34" charset="-122"/>
                <a:cs typeface="Arial" pitchFamily="34" charset="-120"/>
              </a:rPr>
              <a:t>Page transcripts</a:t>
            </a:r>
            <a:endParaRPr lang="en-US" sz="1200" dirty="0"/>
          </a:p>
        </p:txBody>
      </p:sp>
      <p:sp>
        <p:nvSpPr>
          <p:cNvPr id="25" name="Arrow 2"/>
          <p:cNvSpPr/>
          <p:nvPr/>
        </p:nvSpPr>
        <p:spPr>
          <a:xfrm>
            <a:off x="6064209" y="5257800"/>
            <a:ext cx="203180" cy="0"/>
          </a:xfrm>
          <a:prstGeom prst="line">
            <a:avLst/>
          </a:prstGeom>
          <a:noFill/>
          <a:ln w="19050">
            <a:solidFill>
              <a:srgbClr val="3987E5"/>
            </a:solidFill>
            <a:prstDash val="solid"/>
            <a:tailEnd type="triangle"/>
          </a:ln>
        </p:spPr>
      </p:sp>
      <p:sp>
        <p:nvSpPr>
          <p:cNvPr id="26" name="Step 3"/>
          <p:cNvSpPr/>
          <p:nvPr/>
        </p:nvSpPr>
        <p:spPr>
          <a:xfrm>
            <a:off x="6343650" y="5080041"/>
            <a:ext cx="2158990" cy="355610"/>
          </a:xfrm>
          <a:prstGeom prst="roundRect">
            <a:avLst>
              <a:gd name="adj" fmla="val 21419"/>
            </a:avLst>
          </a:prstGeom>
          <a:solidFill>
            <a:srgbClr val="171C27"/>
          </a:solidFill>
          <a:ln w="9525">
            <a:solidFill>
              <a:srgbClr val="262D3B"/>
            </a:solidFill>
            <a:prstDash val="solid"/>
          </a:ln>
        </p:spPr>
      </p:sp>
      <p:sp>
        <p:nvSpPr>
          <p:cNvPr id="27" name="Step label 3"/>
          <p:cNvSpPr txBox="1"/>
          <p:nvPr/>
        </p:nvSpPr>
        <p:spPr>
          <a:xfrm>
            <a:off x="6343650" y="5080041"/>
            <a:ext cx="2158990" cy="355610"/>
          </a:xfrm>
          <a:prstGeom prst="rect">
            <a:avLst/>
          </a:prstGeom>
          <a:noFill/>
          <a:ln/>
        </p:spPr>
        <p:txBody>
          <a:bodyPr wrap="square" lIns="0" tIns="0" rIns="0" bIns="0" rtlCol="0" anchor="ctr"/>
          <a:lstStyle/>
          <a:p>
            <a:pPr marL="0" indent="0" algn="ctr">
              <a:buNone/>
            </a:pPr>
            <a:r>
              <a:rPr lang="en-US" sz="1200" dirty="0">
                <a:solidFill>
                  <a:srgbClr val="F2F4F8"/>
                </a:solidFill>
                <a:latin typeface="Arial" pitchFamily="34" charset="0"/>
                <a:ea typeface="Arial" pitchFamily="34" charset="-122"/>
                <a:cs typeface="Arial" pitchFamily="34" charset="-120"/>
              </a:rPr>
              <a:t>graphify knowledge graph</a:t>
            </a:r>
            <a:endParaRPr lang="en-US" sz="1200" dirty="0"/>
          </a:p>
        </p:txBody>
      </p:sp>
      <p:sp>
        <p:nvSpPr>
          <p:cNvPr id="28" name="Arrow 3"/>
          <p:cNvSpPr/>
          <p:nvPr/>
        </p:nvSpPr>
        <p:spPr>
          <a:xfrm>
            <a:off x="8578809" y="5257800"/>
            <a:ext cx="203180" cy="0"/>
          </a:xfrm>
          <a:prstGeom prst="line">
            <a:avLst/>
          </a:prstGeom>
          <a:noFill/>
          <a:ln w="19050">
            <a:solidFill>
              <a:srgbClr val="3987E5"/>
            </a:solidFill>
            <a:prstDash val="solid"/>
            <a:tailEnd type="triangle"/>
          </a:ln>
        </p:spPr>
      </p:sp>
      <p:sp>
        <p:nvSpPr>
          <p:cNvPr id="29" name="Step 4"/>
          <p:cNvSpPr/>
          <p:nvPr/>
        </p:nvSpPr>
        <p:spPr>
          <a:xfrm>
            <a:off x="8858250" y="5080041"/>
            <a:ext cx="1924080" cy="355610"/>
          </a:xfrm>
          <a:prstGeom prst="roundRect">
            <a:avLst>
              <a:gd name="adj" fmla="val 21419"/>
            </a:avLst>
          </a:prstGeom>
          <a:solidFill>
            <a:srgbClr val="171C27"/>
          </a:solidFill>
          <a:ln w="9525">
            <a:solidFill>
              <a:srgbClr val="262D3B"/>
            </a:solidFill>
            <a:prstDash val="solid"/>
          </a:ln>
        </p:spPr>
      </p:sp>
      <p:sp>
        <p:nvSpPr>
          <p:cNvPr id="30" name="Step label 4"/>
          <p:cNvSpPr txBox="1"/>
          <p:nvPr/>
        </p:nvSpPr>
        <p:spPr>
          <a:xfrm>
            <a:off x="8858250" y="5080041"/>
            <a:ext cx="1924080" cy="355610"/>
          </a:xfrm>
          <a:prstGeom prst="rect">
            <a:avLst/>
          </a:prstGeom>
          <a:noFill/>
          <a:ln/>
        </p:spPr>
        <p:txBody>
          <a:bodyPr wrap="square" lIns="0" tIns="0" rIns="0" bIns="0" rtlCol="0" anchor="ctr"/>
          <a:lstStyle/>
          <a:p>
            <a:pPr marL="0" indent="0" algn="ctr">
              <a:buNone/>
            </a:pPr>
            <a:r>
              <a:rPr lang="en-US" sz="1200" dirty="0">
                <a:solidFill>
                  <a:srgbClr val="F2F4F8"/>
                </a:solidFill>
                <a:latin typeface="Arial" pitchFamily="34" charset="0"/>
                <a:ea typeface="Arial" pitchFamily="34" charset="-122"/>
                <a:cs typeface="Arial" pitchFamily="34" charset="-120"/>
              </a:rPr>
              <a:t>Typed, merged network</a:t>
            </a:r>
            <a:endParaRPr lang="en-US" sz="1200" dirty="0"/>
          </a:p>
        </p:txBody>
      </p:sp>
      <p:sp>
        <p:nvSpPr>
          <p:cNvPr id="31" name="Slide Number Placeholder 0"/>
          <p:cNvSpPr>
            <a:spLocks noGrp="1"/>
          </p:cNvSpPr>
          <p:nvPr>
            <p:ph type="sldNum" sz="quarter" idx="4294967295"/>
          </p:nvPr>
        </p:nvSpPr>
        <p:spPr>
          <a:xfrm>
            <a:off x="10109241" y="6235659"/>
            <a:ext cx="1270010" cy="21589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7C8699"/>
                </a:solidFill>
                <a:latin typeface="Consolas"/>
                <a:ea typeface="Consolas"/>
                <a:cs typeface="Consolas"/>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812810" y="1104870"/>
            <a:ext cx="10566441" cy="469910"/>
          </a:xfrm>
          <a:prstGeom prst="rect">
            <a:avLst/>
          </a:prstGeom>
          <a:noFill/>
          <a:ln/>
        </p:spPr>
        <p:txBody>
          <a:bodyPr wrap="square" lIns="0" tIns="0" rIns="0" bIns="0" rtlCol="0" anchor="t"/>
          <a:lstStyle/>
          <a:p>
            <a:pPr marL="0" indent="0" algn="l">
              <a:buNone/>
            </a:pPr>
            <a:r>
              <a:rPr lang="en-US" sz="3200" b="1" dirty="0">
                <a:solidFill>
                  <a:srgbClr val="F2F4F8"/>
                </a:solidFill>
                <a:latin typeface="Arial" pitchFamily="34" charset="0"/>
                <a:ea typeface="Arial" pitchFamily="34" charset="-122"/>
                <a:cs typeface="Arial" pitchFamily="34" charset="-120"/>
              </a:rPr>
              <a:t>The indicators, and how each was tested</a:t>
            </a:r>
            <a:endParaRPr lang="en-US" sz="3200" dirty="0"/>
          </a:p>
        </p:txBody>
      </p:sp>
      <p:sp>
        <p:nvSpPr>
          <p:cNvPr id="3" name="Eyebrow"/>
          <p:cNvSpPr txBox="1"/>
          <p:nvPr/>
        </p:nvSpPr>
        <p:spPr>
          <a:xfrm>
            <a:off x="812810" y="812810"/>
            <a:ext cx="10566441" cy="215890"/>
          </a:xfrm>
          <a:prstGeom prst="rect">
            <a:avLst/>
          </a:prstGeom>
          <a:noFill/>
          <a:ln/>
        </p:spPr>
        <p:txBody>
          <a:bodyPr wrap="square" lIns="0" tIns="0" rIns="0" bIns="0" rtlCol="0" anchor="ctr"/>
          <a:lstStyle/>
          <a:p>
            <a:pPr marL="0" indent="0">
              <a:buNone/>
            </a:pPr>
            <a:r>
              <a:rPr lang="en-US" sz="1200" kern="0" spc="150" dirty="0">
                <a:solidFill>
                  <a:srgbClr val="3987E5"/>
                </a:solidFill>
                <a:latin typeface="Consolas" pitchFamily="34" charset="0"/>
                <a:ea typeface="Consolas" pitchFamily="34" charset="-122"/>
                <a:cs typeface="Consolas" pitchFamily="34" charset="-120"/>
              </a:rPr>
              <a:t>03 · METHODS</a:t>
            </a:r>
            <a:endParaRPr lang="en-US" sz="1200" dirty="0"/>
          </a:p>
        </p:txBody>
      </p:sp>
      <p:graphicFrame>
        <p:nvGraphicFramePr>
          <p:cNvPr id="5" name="Methods table"/>
          <p:cNvGraphicFramePr>
            <a:graphicFrameLocks noGrp="1"/>
          </p:cNvGraphicFramePr>
          <p:nvPr>
            <p:extLst>
              <p:ext uri="{D42A27DB-BD31-4B8C-83A1-F6EECF244321}">
                <p14:modId xmlns:p14="http://schemas.microsoft.com/office/powerpoint/2010/main" val="1579011935"/>
              </p:ext>
            </p:extLst>
          </p:nvPr>
        </p:nvGraphicFramePr>
        <p:xfrm>
          <a:off x="812810" y="1835109"/>
          <a:ext cx="10566440" cy="2743200"/>
        </p:xfrm>
        <a:graphic>
          <a:graphicData uri="http://schemas.openxmlformats.org/drawingml/2006/table">
            <a:tbl>
              <a:tblPr/>
              <a:tblGrid>
                <a:gridCol w="1901959">
                  <a:extLst>
                    <a:ext uri="{9D8B030D-6E8A-4147-A177-3AD203B41FA5}">
                      <a16:colId xmlns:a16="http://schemas.microsoft.com/office/drawing/2014/main" val="20000"/>
                    </a:ext>
                  </a:extLst>
                </a:gridCol>
                <a:gridCol w="5283220">
                  <a:extLst>
                    <a:ext uri="{9D8B030D-6E8A-4147-A177-3AD203B41FA5}">
                      <a16:colId xmlns:a16="http://schemas.microsoft.com/office/drawing/2014/main" val="20001"/>
                    </a:ext>
                  </a:extLst>
                </a:gridCol>
                <a:gridCol w="3381261">
                  <a:extLst>
                    <a:ext uri="{9D8B030D-6E8A-4147-A177-3AD203B41FA5}">
                      <a16:colId xmlns:a16="http://schemas.microsoft.com/office/drawing/2014/main" val="20002"/>
                    </a:ext>
                  </a:extLst>
                </a:gridCol>
              </a:tblGrid>
              <a:tr h="0">
                <a:tc>
                  <a:txBody>
                    <a:bodyPr/>
                    <a:lstStyle/>
                    <a:p>
                      <a:pPr marL="0" indent="0">
                        <a:buNone/>
                      </a:pPr>
                      <a:r>
                        <a:rPr lang="en-US" sz="1200" b="1" dirty="0">
                          <a:solidFill>
                            <a:srgbClr val="F2F4F8"/>
                          </a:solidFill>
                          <a:latin typeface="Arial" pitchFamily="34" charset="0"/>
                          <a:ea typeface="Arial" pitchFamily="34" charset="-122"/>
                          <a:cs typeface="Arial" pitchFamily="34" charset="-120"/>
                        </a:rPr>
                        <a:t>Question</a:t>
                      </a:r>
                      <a:endParaRPr lang="en-US" sz="1200" dirty="0">
                        <a:latin typeface="Arial" charset="0"/>
                        <a:ea typeface="Arial" charset="0"/>
                        <a:cs typeface="Arial" charset="0"/>
                      </a:endParaRPr>
                    </a:p>
                  </a:txBody>
                  <a:tcPr marL="101600" marR="101600" marT="76200" marB="762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171C27"/>
                    </a:solidFill>
                  </a:tcPr>
                </a:tc>
                <a:tc>
                  <a:txBody>
                    <a:bodyPr/>
                    <a:lstStyle/>
                    <a:p>
                      <a:pPr marL="0" indent="0">
                        <a:buNone/>
                      </a:pPr>
                      <a:r>
                        <a:rPr lang="en-US" sz="1200" b="1" dirty="0">
                          <a:solidFill>
                            <a:srgbClr val="F2F4F8"/>
                          </a:solidFill>
                          <a:latin typeface="Arial" pitchFamily="34" charset="0"/>
                          <a:ea typeface="Arial" pitchFamily="34" charset="-122"/>
                          <a:cs typeface="Arial" pitchFamily="34" charset="-120"/>
                        </a:rPr>
                        <a:t>Indicators</a:t>
                      </a:r>
                      <a:endParaRPr lang="en-US" sz="1200" dirty="0">
                        <a:latin typeface="Arial" charset="0"/>
                        <a:ea typeface="Arial" charset="0"/>
                        <a:cs typeface="Arial" charset="0"/>
                      </a:endParaRPr>
                    </a:p>
                  </a:txBody>
                  <a:tcPr marL="101600" marR="101600" marT="76200" marB="762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171C27"/>
                    </a:solidFill>
                  </a:tcPr>
                </a:tc>
                <a:tc>
                  <a:txBody>
                    <a:bodyPr/>
                    <a:lstStyle/>
                    <a:p>
                      <a:pPr marL="0" indent="0">
                        <a:buNone/>
                      </a:pPr>
                      <a:r>
                        <a:rPr lang="en-US" sz="1200" b="1" dirty="0">
                          <a:solidFill>
                            <a:srgbClr val="F2F4F8"/>
                          </a:solidFill>
                          <a:latin typeface="Arial" pitchFamily="34" charset="0"/>
                          <a:ea typeface="Arial" pitchFamily="34" charset="-122"/>
                          <a:cs typeface="Arial" pitchFamily="34" charset="-120"/>
                        </a:rPr>
                        <a:t>Baseline or test</a:t>
                      </a:r>
                      <a:endParaRPr lang="en-US" sz="1200" dirty="0">
                        <a:latin typeface="Arial" charset="0"/>
                        <a:ea typeface="Arial" charset="0"/>
                        <a:cs typeface="Arial" charset="0"/>
                      </a:endParaRPr>
                    </a:p>
                  </a:txBody>
                  <a:tcPr marL="101600" marR="101600" marT="76200" marB="762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171C27"/>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3987E5"/>
                          </a:solidFill>
                          <a:latin typeface="Arial" pitchFamily="34" charset="0"/>
                          <a:ea typeface="Arial" pitchFamily="34" charset="-122"/>
                          <a:cs typeface="Arial" pitchFamily="34" charset="-120"/>
                        </a:rPr>
                        <a:t>Scale-free?</a:t>
                      </a:r>
                      <a:endParaRPr lang="en-US" sz="1200" dirty="0">
                        <a:latin typeface="Arial" charset="0"/>
                        <a:ea typeface="Arial" charset="0"/>
                        <a:cs typeface="Arial" charset="0"/>
                      </a:endParaRPr>
                    </a:p>
                  </a:txBody>
                  <a:tcPr marL="101600" marR="101600" marT="76200" marB="762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c>
                  <a:txBody>
                    <a:bodyPr/>
                    <a:lstStyle/>
                    <a:p>
                      <a:pPr marL="0" indent="0">
                        <a:buNone/>
                      </a:pPr>
                      <a:r>
                        <a:rPr lang="en-US" sz="1200" dirty="0">
                          <a:solidFill>
                            <a:srgbClr val="B4BCCB"/>
                          </a:solidFill>
                          <a:latin typeface="Arial" pitchFamily="34" charset="0"/>
                          <a:ea typeface="Arial" pitchFamily="34" charset="-122"/>
                          <a:cs typeface="Arial" pitchFamily="34" charset="-120"/>
                        </a:rPr>
                        <a:t>Degree distribution P(k), ⟨k²⟩/⟨k⟩, discrete power-law fit (Clauset et al.)</a:t>
                      </a:r>
                      <a:endParaRPr lang="en-US" sz="1200" dirty="0">
                        <a:latin typeface="Arial" charset="0"/>
                        <a:ea typeface="Arial" charset="0"/>
                        <a:cs typeface="Arial" charset="0"/>
                      </a:endParaRPr>
                    </a:p>
                  </a:txBody>
                  <a:tcPr marL="101600" marR="101600" marT="76200" marB="762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c>
                  <a:txBody>
                    <a:bodyPr/>
                    <a:lstStyle/>
                    <a:p>
                      <a:pPr marL="0" indent="0">
                        <a:buNone/>
                      </a:pPr>
                      <a:r>
                        <a:rPr lang="en-US" sz="1200" dirty="0">
                          <a:solidFill>
                            <a:srgbClr val="B4BCCB"/>
                          </a:solidFill>
                          <a:latin typeface="Arial" pitchFamily="34" charset="0"/>
                          <a:ea typeface="Arial" pitchFamily="34" charset="-122"/>
                          <a:cs typeface="Arial" pitchFamily="34" charset="-120"/>
                        </a:rPr>
                        <a:t>Likelihood ratio vs exponential, lognormal and truncated power law</a:t>
                      </a:r>
                      <a:endParaRPr lang="en-US" sz="1200" dirty="0">
                        <a:latin typeface="Arial" charset="0"/>
                        <a:ea typeface="Arial" charset="0"/>
                        <a:cs typeface="Arial" charset="0"/>
                      </a:endParaRPr>
                    </a:p>
                  </a:txBody>
                  <a:tcPr marL="101600" marR="101600" marT="76200" marB="762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200" dirty="0">
                          <a:solidFill>
                            <a:srgbClr val="3987E5"/>
                          </a:solidFill>
                          <a:latin typeface="Arial" pitchFamily="34" charset="0"/>
                          <a:ea typeface="Arial" pitchFamily="34" charset="-122"/>
                          <a:cs typeface="Arial" pitchFamily="34" charset="-120"/>
                        </a:rPr>
                        <a:t>Small world?</a:t>
                      </a:r>
                      <a:endParaRPr lang="en-US" sz="1200" dirty="0">
                        <a:latin typeface="Arial" charset="0"/>
                        <a:ea typeface="Arial" charset="0"/>
                        <a:cs typeface="Arial" charset="0"/>
                      </a:endParaRPr>
                    </a:p>
                  </a:txBody>
                  <a:tcPr marL="101600" marR="101600" marT="76200" marB="762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131824"/>
                    </a:solidFill>
                  </a:tcPr>
                </a:tc>
                <a:tc>
                  <a:txBody>
                    <a:bodyPr/>
                    <a:lstStyle/>
                    <a:p>
                      <a:pPr marL="0" indent="0">
                        <a:buNone/>
                      </a:pPr>
                      <a:r>
                        <a:rPr lang="en-US" sz="1200" dirty="0">
                          <a:solidFill>
                            <a:srgbClr val="B4BCCB"/>
                          </a:solidFill>
                          <a:latin typeface="Arial" pitchFamily="34" charset="0"/>
                          <a:ea typeface="Arial" pitchFamily="34" charset="-122"/>
                          <a:cs typeface="Arial" pitchFamily="34" charset="-120"/>
                        </a:rPr>
                        <a:t>Average clustering C, average shortest path L, diameter</a:t>
                      </a:r>
                      <a:endParaRPr lang="en-US" sz="1200" dirty="0">
                        <a:latin typeface="Arial" charset="0"/>
                        <a:ea typeface="Arial" charset="0"/>
                        <a:cs typeface="Arial" charset="0"/>
                      </a:endParaRPr>
                    </a:p>
                  </a:txBody>
                  <a:tcPr marL="101600" marR="101600" marT="76200" marB="762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131824"/>
                    </a:solidFill>
                  </a:tcPr>
                </a:tc>
                <a:tc>
                  <a:txBody>
                    <a:bodyPr/>
                    <a:lstStyle/>
                    <a:p>
                      <a:pPr marL="0" indent="0">
                        <a:buNone/>
                      </a:pPr>
                      <a:r>
                        <a:rPr lang="en-US" sz="1200" dirty="0">
                          <a:solidFill>
                            <a:srgbClr val="B4BCCB"/>
                          </a:solidFill>
                          <a:latin typeface="Arial" pitchFamily="34" charset="0"/>
                          <a:ea typeface="Arial" pitchFamily="34" charset="-122"/>
                          <a:cs typeface="Arial" pitchFamily="34" charset="-120"/>
                        </a:rPr>
                        <a:t>σ and ω vs 3 Erdős–Rényi and 3 degree-preserving rewired graphs</a:t>
                      </a:r>
                      <a:endParaRPr lang="en-US" sz="1200" dirty="0">
                        <a:latin typeface="Arial" charset="0"/>
                        <a:ea typeface="Arial" charset="0"/>
                        <a:cs typeface="Arial" charset="0"/>
                      </a:endParaRPr>
                    </a:p>
                  </a:txBody>
                  <a:tcPr marL="101600" marR="101600" marT="76200" marB="762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131824"/>
                    </a:solidFill>
                  </a:tcPr>
                </a:tc>
                <a:extLst>
                  <a:ext uri="{0D108BD9-81ED-4DB2-BD59-A6C34878D82A}">
                    <a16:rowId xmlns:a16="http://schemas.microsoft.com/office/drawing/2014/main" val="10002"/>
                  </a:ext>
                </a:extLst>
              </a:tr>
              <a:tr h="0">
                <a:tc>
                  <a:txBody>
                    <a:bodyPr/>
                    <a:lstStyle/>
                    <a:p>
                      <a:pPr marL="0" indent="0">
                        <a:buNone/>
                      </a:pPr>
                      <a:r>
                        <a:rPr lang="en-US" sz="1200" dirty="0">
                          <a:solidFill>
                            <a:srgbClr val="3987E5"/>
                          </a:solidFill>
                          <a:latin typeface="Arial" pitchFamily="34" charset="0"/>
                          <a:ea typeface="Arial" pitchFamily="34" charset="-122"/>
                          <a:cs typeface="Arial" pitchFamily="34" charset="-120"/>
                        </a:rPr>
                        <a:t>Which hubs?</a:t>
                      </a:r>
                      <a:endParaRPr lang="en-US" sz="1200" dirty="0">
                        <a:latin typeface="Arial" charset="0"/>
                        <a:ea typeface="Arial" charset="0"/>
                        <a:cs typeface="Arial" charset="0"/>
                      </a:endParaRPr>
                    </a:p>
                  </a:txBody>
                  <a:tcPr marL="101600" marR="101600" marT="76200" marB="762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c>
                  <a:txBody>
                    <a:bodyPr/>
                    <a:lstStyle/>
                    <a:p>
                      <a:pPr marL="0" indent="0">
                        <a:buNone/>
                      </a:pPr>
                      <a:r>
                        <a:rPr lang="en-US" sz="1200" dirty="0">
                          <a:solidFill>
                            <a:srgbClr val="B4BCCB"/>
                          </a:solidFill>
                          <a:latin typeface="Arial" pitchFamily="34" charset="0"/>
                          <a:ea typeface="Arial" pitchFamily="34" charset="-122"/>
                          <a:cs typeface="Arial" pitchFamily="34" charset="-120"/>
                        </a:rPr>
                        <a:t>Degree, betweenness (300 sampled sources), closeness, eigenvector, Katz, PageRank, k-core</a:t>
                      </a:r>
                      <a:endParaRPr lang="en-US" sz="1200" dirty="0">
                        <a:latin typeface="Arial" charset="0"/>
                        <a:ea typeface="Arial" charset="0"/>
                        <a:cs typeface="Arial" charset="0"/>
                      </a:endParaRPr>
                    </a:p>
                  </a:txBody>
                  <a:tcPr marL="101600" marR="101600" marT="76200" marB="762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c>
                  <a:txBody>
                    <a:bodyPr/>
                    <a:lstStyle/>
                    <a:p>
                      <a:pPr marL="0" indent="0">
                        <a:buNone/>
                      </a:pPr>
                      <a:r>
                        <a:rPr lang="en-US" sz="1200" dirty="0">
                          <a:solidFill>
                            <a:srgbClr val="B4BCCB"/>
                          </a:solidFill>
                          <a:latin typeface="Arial" pitchFamily="34" charset="0"/>
                          <a:ea typeface="Arial" pitchFamily="34" charset="-122"/>
                          <a:cs typeface="Arial" pitchFamily="34" charset="-120"/>
                        </a:rPr>
                        <a:t>Spearman rank agreement between all seven</a:t>
                      </a:r>
                      <a:endParaRPr lang="en-US" sz="1200" dirty="0">
                        <a:latin typeface="Arial" charset="0"/>
                        <a:ea typeface="Arial" charset="0"/>
                        <a:cs typeface="Arial" charset="0"/>
                      </a:endParaRPr>
                    </a:p>
                  </a:txBody>
                  <a:tcPr marL="101600" marR="101600" marT="76200" marB="762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200" dirty="0">
                          <a:solidFill>
                            <a:srgbClr val="3987E5"/>
                          </a:solidFill>
                          <a:latin typeface="Arial" pitchFamily="34" charset="0"/>
                          <a:ea typeface="Arial" pitchFamily="34" charset="-122"/>
                          <a:cs typeface="Arial" pitchFamily="34" charset="-120"/>
                        </a:rPr>
                        <a:t>Communities?</a:t>
                      </a:r>
                      <a:endParaRPr lang="en-US" sz="1200" dirty="0">
                        <a:latin typeface="Arial" charset="0"/>
                        <a:ea typeface="Arial" charset="0"/>
                        <a:cs typeface="Arial" charset="0"/>
                      </a:endParaRPr>
                    </a:p>
                  </a:txBody>
                  <a:tcPr marL="101600" marR="101600" marT="76200" marB="762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131824"/>
                    </a:solidFill>
                  </a:tcPr>
                </a:tc>
                <a:tc>
                  <a:txBody>
                    <a:bodyPr/>
                    <a:lstStyle/>
                    <a:p>
                      <a:pPr marL="0" indent="0">
                        <a:buNone/>
                      </a:pPr>
                      <a:r>
                        <a:rPr lang="en-US" sz="1200" dirty="0">
                          <a:solidFill>
                            <a:srgbClr val="B4BCCB"/>
                          </a:solidFill>
                          <a:latin typeface="Arial" pitchFamily="34" charset="0"/>
                          <a:ea typeface="Arial" pitchFamily="34" charset="-122"/>
                          <a:cs typeface="Arial" pitchFamily="34" charset="-120"/>
                        </a:rPr>
                        <a:t>Louvain modularity Q, strong/weak test (Radicchi), participation coefficient</a:t>
                      </a:r>
                      <a:endParaRPr lang="en-US" sz="1200" dirty="0">
                        <a:latin typeface="Arial" charset="0"/>
                        <a:ea typeface="Arial" charset="0"/>
                        <a:cs typeface="Arial" charset="0"/>
                      </a:endParaRPr>
                    </a:p>
                  </a:txBody>
                  <a:tcPr marL="101600" marR="101600" marT="76200" marB="762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131824"/>
                    </a:solidFill>
                  </a:tcPr>
                </a:tc>
                <a:tc>
                  <a:txBody>
                    <a:bodyPr/>
                    <a:lstStyle/>
                    <a:p>
                      <a:pPr marL="0" indent="0">
                        <a:buNone/>
                      </a:pPr>
                      <a:r>
                        <a:rPr lang="en-US" sz="1200" dirty="0">
                          <a:solidFill>
                            <a:srgbClr val="B4BCCB"/>
                          </a:solidFill>
                          <a:latin typeface="Arial" pitchFamily="34" charset="0"/>
                          <a:ea typeface="Arial" pitchFamily="34" charset="-122"/>
                          <a:cs typeface="Arial" pitchFamily="34" charset="-120"/>
                        </a:rPr>
                        <a:t>NMI against lesson and against HSK level</a:t>
                      </a:r>
                      <a:endParaRPr lang="en-US" sz="1200" dirty="0">
                        <a:latin typeface="Arial" charset="0"/>
                        <a:ea typeface="Arial" charset="0"/>
                        <a:cs typeface="Arial" charset="0"/>
                      </a:endParaRPr>
                    </a:p>
                  </a:txBody>
                  <a:tcPr marL="101600" marR="101600" marT="76200" marB="762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131824"/>
                    </a:solidFill>
                  </a:tcPr>
                </a:tc>
                <a:extLst>
                  <a:ext uri="{0D108BD9-81ED-4DB2-BD59-A6C34878D82A}">
                    <a16:rowId xmlns:a16="http://schemas.microsoft.com/office/drawing/2014/main" val="10004"/>
                  </a:ext>
                </a:extLst>
              </a:tr>
              <a:tr h="0">
                <a:tc>
                  <a:txBody>
                    <a:bodyPr/>
                    <a:lstStyle/>
                    <a:p>
                      <a:pPr marL="0" indent="0">
                        <a:buNone/>
                      </a:pPr>
                      <a:r>
                        <a:rPr lang="en-US" sz="1200" dirty="0">
                          <a:solidFill>
                            <a:srgbClr val="3987E5"/>
                          </a:solidFill>
                          <a:latin typeface="Arial" pitchFamily="34" charset="0"/>
                          <a:ea typeface="Arial" pitchFamily="34" charset="-122"/>
                          <a:cs typeface="Arial" pitchFamily="34" charset="-120"/>
                        </a:rPr>
                        <a:t>Robust?</a:t>
                      </a:r>
                      <a:endParaRPr lang="en-US" sz="1200" dirty="0">
                        <a:latin typeface="Arial" charset="0"/>
                        <a:ea typeface="Arial" charset="0"/>
                        <a:cs typeface="Arial" charset="0"/>
                      </a:endParaRPr>
                    </a:p>
                  </a:txBody>
                  <a:tcPr marL="101600" marR="101600" marT="76200" marB="762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c>
                  <a:txBody>
                    <a:bodyPr/>
                    <a:lstStyle/>
                    <a:p>
                      <a:pPr marL="0" indent="0">
                        <a:buNone/>
                      </a:pPr>
                      <a:r>
                        <a:rPr lang="en-US" sz="1200" dirty="0">
                          <a:solidFill>
                            <a:srgbClr val="B4BCCB"/>
                          </a:solidFill>
                          <a:latin typeface="Arial" pitchFamily="34" charset="0"/>
                          <a:ea typeface="Arial" pitchFamily="34" charset="-122"/>
                          <a:cs typeface="Arial" pitchFamily="34" charset="-120"/>
                        </a:rPr>
                        <a:t>Giant-component size as nodes are removed; Molloy–Reed criterion</a:t>
                      </a:r>
                      <a:endParaRPr lang="en-US" sz="1200" dirty="0">
                        <a:latin typeface="Arial" charset="0"/>
                        <a:ea typeface="Arial" charset="0"/>
                        <a:cs typeface="Arial" charset="0"/>
                      </a:endParaRPr>
                    </a:p>
                  </a:txBody>
                  <a:tcPr marL="101600" marR="101600" marT="76200" marB="762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c>
                  <a:txBody>
                    <a:bodyPr/>
                    <a:lstStyle/>
                    <a:p>
                      <a:pPr marL="0" indent="0">
                        <a:buNone/>
                      </a:pPr>
                      <a:r>
                        <a:rPr lang="en-US" sz="1200" dirty="0">
                          <a:solidFill>
                            <a:srgbClr val="B4BCCB"/>
                          </a:solidFill>
                          <a:latin typeface="Arial" pitchFamily="34" charset="0"/>
                          <a:ea typeface="Arial" pitchFamily="34" charset="-122"/>
                          <a:cs typeface="Arial" pitchFamily="34" charset="-120"/>
                        </a:rPr>
                        <a:t>Random failure vs degree, betweenness and adaptive attacks</a:t>
                      </a:r>
                      <a:endParaRPr lang="en-US" sz="1200" dirty="0">
                        <a:latin typeface="Arial" charset="0"/>
                        <a:ea typeface="Arial" charset="0"/>
                        <a:cs typeface="Arial" charset="0"/>
                      </a:endParaRPr>
                    </a:p>
                  </a:txBody>
                  <a:tcPr marL="101600" marR="101600" marT="76200" marB="762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Tools"/>
          <p:cNvSpPr txBox="1"/>
          <p:nvPr/>
        </p:nvSpPr>
        <p:spPr>
          <a:xfrm>
            <a:off x="812810" y="5333970"/>
            <a:ext cx="10566441" cy="215890"/>
          </a:xfrm>
          <a:prstGeom prst="rect">
            <a:avLst/>
          </a:prstGeom>
          <a:noFill/>
          <a:ln/>
        </p:spPr>
        <p:txBody>
          <a:bodyPr wrap="square" lIns="0" tIns="0" rIns="0" bIns="0" rtlCol="0" anchor="t"/>
          <a:lstStyle/>
          <a:p>
            <a:pPr marL="0" indent="0">
              <a:buNone/>
            </a:pPr>
            <a:r>
              <a:rPr lang="en-US" sz="1200" dirty="0">
                <a:solidFill>
                  <a:srgbClr val="7C8699"/>
                </a:solidFill>
                <a:latin typeface="Arial" pitchFamily="34" charset="0"/>
                <a:ea typeface="Arial" pitchFamily="34" charset="-122"/>
                <a:cs typeface="Arial" pitchFamily="34" charset="-120"/>
              </a:rPr>
              <a:t>Python · NetworkX 3.7 · powerlaw 2.0 · NumPy / SciPy · every random step seeded (42) · full analysis runs in 37 s</a:t>
            </a:r>
            <a:endParaRPr lang="en-US" sz="1200" dirty="0"/>
          </a:p>
        </p:txBody>
      </p:sp>
      <p:sp>
        <p:nvSpPr>
          <p:cNvPr id="25" name="Slide Number Placeholder 0"/>
          <p:cNvSpPr>
            <a:spLocks noGrp="1"/>
          </p:cNvSpPr>
          <p:nvPr>
            <p:ph type="sldNum" sz="quarter" idx="4294967295"/>
          </p:nvPr>
        </p:nvSpPr>
        <p:spPr>
          <a:xfrm>
            <a:off x="10109241" y="6235659"/>
            <a:ext cx="1270010" cy="21589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7C8699"/>
                </a:solidFill>
                <a:latin typeface="Consolas"/>
                <a:ea typeface="Consolas"/>
                <a:cs typeface="Consolas"/>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812810" y="1104870"/>
            <a:ext cx="10566441" cy="469910"/>
          </a:xfrm>
          <a:prstGeom prst="rect">
            <a:avLst/>
          </a:prstGeom>
          <a:noFill/>
          <a:ln/>
        </p:spPr>
        <p:txBody>
          <a:bodyPr wrap="square" lIns="0" tIns="0" rIns="0" bIns="0" rtlCol="0" anchor="t"/>
          <a:lstStyle/>
          <a:p>
            <a:pPr marL="0" indent="0" algn="l">
              <a:buNone/>
            </a:pPr>
            <a:r>
              <a:rPr lang="en-US" sz="3200" b="1" dirty="0">
                <a:solidFill>
                  <a:srgbClr val="F2F4F8"/>
                </a:solidFill>
                <a:latin typeface="Arial" pitchFamily="34" charset="0"/>
                <a:ea typeface="Arial" pitchFamily="34" charset="-122"/>
                <a:cs typeface="Arial" pitchFamily="34" charset="-120"/>
              </a:rPr>
              <a:t>A few function words are the hubs</a:t>
            </a:r>
            <a:endParaRPr lang="en-US" sz="3200" dirty="0"/>
          </a:p>
        </p:txBody>
      </p:sp>
      <p:sp>
        <p:nvSpPr>
          <p:cNvPr id="3" name="Eyebrow"/>
          <p:cNvSpPr txBox="1"/>
          <p:nvPr/>
        </p:nvSpPr>
        <p:spPr>
          <a:xfrm>
            <a:off x="812810" y="812810"/>
            <a:ext cx="10566441" cy="215890"/>
          </a:xfrm>
          <a:prstGeom prst="rect">
            <a:avLst/>
          </a:prstGeom>
          <a:noFill/>
          <a:ln/>
        </p:spPr>
        <p:txBody>
          <a:bodyPr wrap="square" lIns="0" tIns="0" rIns="0" bIns="0" rtlCol="0" anchor="ctr"/>
          <a:lstStyle/>
          <a:p>
            <a:pPr marL="0" indent="0">
              <a:buNone/>
            </a:pPr>
            <a:r>
              <a:rPr lang="en-US" sz="1200" kern="0" spc="150" dirty="0">
                <a:solidFill>
                  <a:srgbClr val="3987E5"/>
                </a:solidFill>
                <a:latin typeface="Consolas" pitchFamily="34" charset="0"/>
                <a:ea typeface="Consolas" pitchFamily="34" charset="-122"/>
                <a:cs typeface="Consolas" pitchFamily="34" charset="-120"/>
              </a:rPr>
              <a:t>04 · RESULTS · DEGREE DISTRIBUTION</a:t>
            </a:r>
            <a:endParaRPr lang="en-US" sz="1200" dirty="0"/>
          </a:p>
        </p:txBody>
      </p:sp>
      <p:graphicFrame>
        <p:nvGraphicFramePr>
          <p:cNvPr id="4" name="Chart: degree distribution"/>
          <p:cNvGraphicFramePr/>
          <p:nvPr/>
        </p:nvGraphicFramePr>
        <p:xfrm>
          <a:off x="812810" y="1835109"/>
          <a:ext cx="6349959" cy="3987790"/>
        </p:xfrm>
        <a:graphic>
          <a:graphicData uri="http://schemas.openxmlformats.org/drawingml/2006/chart">
            <c:chart xmlns:c="http://schemas.openxmlformats.org/drawingml/2006/chart" xmlns:r="http://schemas.openxmlformats.org/officeDocument/2006/relationships" r:id="rId3"/>
          </a:graphicData>
        </a:graphic>
      </p:graphicFrame>
      <p:sp>
        <p:nvSpPr>
          <p:cNvPr id="5" name="Legend observed"/>
          <p:cNvSpPr/>
          <p:nvPr/>
        </p:nvSpPr>
        <p:spPr>
          <a:xfrm>
            <a:off x="7467630" y="1943100"/>
            <a:ext cx="254020" cy="0"/>
          </a:xfrm>
          <a:prstGeom prst="line">
            <a:avLst/>
          </a:prstGeom>
          <a:noFill/>
          <a:ln w="28575">
            <a:solidFill>
              <a:srgbClr val="3987E5"/>
            </a:solidFill>
            <a:prstDash val="solid"/>
          </a:ln>
        </p:spPr>
      </p:sp>
      <p:sp>
        <p:nvSpPr>
          <p:cNvPr id="6" name="Text 8"/>
          <p:cNvSpPr txBox="1"/>
          <p:nvPr/>
        </p:nvSpPr>
        <p:spPr>
          <a:xfrm>
            <a:off x="7823241" y="1835109"/>
            <a:ext cx="3556010" cy="215890"/>
          </a:xfrm>
          <a:prstGeom prst="rect">
            <a:avLst/>
          </a:prstGeom>
          <a:noFill/>
          <a:ln/>
        </p:spPr>
        <p:txBody>
          <a:bodyPr wrap="square" lIns="0" tIns="0" rIns="0" bIns="0" rtlCol="0" anchor="ctr"/>
          <a:lstStyle/>
          <a:p>
            <a:pPr marL="0" indent="0">
              <a:buNone/>
            </a:pPr>
            <a:r>
              <a:rPr lang="en-US" sz="1200" dirty="0">
                <a:solidFill>
                  <a:srgbClr val="B4BCCB"/>
                </a:solidFill>
                <a:latin typeface="Arial" pitchFamily="34" charset="0"/>
                <a:ea typeface="Arial" pitchFamily="34" charset="-122"/>
                <a:cs typeface="Arial" pitchFamily="34" charset="-120"/>
              </a:rPr>
              <a:t>Observed distribution</a:t>
            </a:r>
            <a:endParaRPr lang="en-US" sz="1200" dirty="0"/>
          </a:p>
        </p:txBody>
      </p:sp>
      <p:sp>
        <p:nvSpPr>
          <p:cNvPr id="7" name="Legend fit"/>
          <p:cNvSpPr/>
          <p:nvPr/>
        </p:nvSpPr>
        <p:spPr>
          <a:xfrm>
            <a:off x="7467630" y="2209830"/>
            <a:ext cx="254020" cy="0"/>
          </a:xfrm>
          <a:prstGeom prst="line">
            <a:avLst/>
          </a:prstGeom>
          <a:noFill/>
          <a:ln w="28575">
            <a:solidFill>
              <a:srgbClr val="D95926"/>
            </a:solidFill>
            <a:prstDash val="dash"/>
          </a:ln>
        </p:spPr>
      </p:sp>
      <p:sp>
        <p:nvSpPr>
          <p:cNvPr id="8" name="Text 9"/>
          <p:cNvSpPr txBox="1"/>
          <p:nvPr/>
        </p:nvSpPr>
        <p:spPr>
          <a:xfrm>
            <a:off x="7823241" y="2101840"/>
            <a:ext cx="3556010" cy="215890"/>
          </a:xfrm>
          <a:prstGeom prst="rect">
            <a:avLst/>
          </a:prstGeom>
          <a:noFill/>
          <a:ln/>
        </p:spPr>
        <p:txBody>
          <a:bodyPr wrap="square" lIns="0" tIns="0" rIns="0" bIns="0" rtlCol="0" anchor="ctr"/>
          <a:lstStyle/>
          <a:p>
            <a:pPr marL="0" indent="0">
              <a:buNone/>
            </a:pPr>
            <a:r>
              <a:rPr lang="en-US" sz="1200" dirty="0">
                <a:solidFill>
                  <a:srgbClr val="B4BCCB"/>
                </a:solidFill>
                <a:latin typeface="Arial" pitchFamily="34" charset="0"/>
                <a:ea typeface="Arial" pitchFamily="34" charset="-122"/>
                <a:cs typeface="Arial" pitchFamily="34" charset="-120"/>
              </a:rPr>
              <a:t>Power-law fit, k ≥ 8</a:t>
            </a:r>
            <a:endParaRPr lang="en-US" sz="1200" dirty="0"/>
          </a:p>
        </p:txBody>
      </p:sp>
      <p:sp>
        <p:nvSpPr>
          <p:cNvPr id="9" name="Alpha"/>
          <p:cNvSpPr txBox="1"/>
          <p:nvPr/>
        </p:nvSpPr>
        <p:spPr>
          <a:xfrm>
            <a:off x="7467630" y="2495580"/>
            <a:ext cx="3911620" cy="482620"/>
          </a:xfrm>
          <a:prstGeom prst="rect">
            <a:avLst/>
          </a:prstGeom>
          <a:noFill/>
          <a:ln/>
        </p:spPr>
        <p:txBody>
          <a:bodyPr wrap="square" lIns="0" tIns="0" rIns="0" bIns="0" rtlCol="0" anchor="t"/>
          <a:lstStyle/>
          <a:p>
            <a:pPr marL="0" indent="0">
              <a:buNone/>
            </a:pPr>
            <a:r>
              <a:rPr lang="en-US" sz="3200" b="1" dirty="0">
                <a:solidFill>
                  <a:srgbClr val="F2F4F8"/>
                </a:solidFill>
                <a:latin typeface="Consolas" pitchFamily="34" charset="0"/>
                <a:ea typeface="Consolas" pitchFamily="34" charset="-122"/>
                <a:cs typeface="Consolas" pitchFamily="34" charset="-120"/>
              </a:rPr>
              <a:t>α = 2.75</a:t>
            </a:r>
            <a:endParaRPr lang="en-US" sz="3200" dirty="0"/>
          </a:p>
        </p:txBody>
      </p:sp>
      <p:sp>
        <p:nvSpPr>
          <p:cNvPr id="10" name="Text 10"/>
          <p:cNvSpPr txBox="1"/>
          <p:nvPr/>
        </p:nvSpPr>
        <p:spPr>
          <a:xfrm>
            <a:off x="7467630" y="3003530"/>
            <a:ext cx="3911620" cy="444490"/>
          </a:xfrm>
          <a:prstGeom prst="rect">
            <a:avLst/>
          </a:prstGeom>
          <a:noFill/>
          <a:ln/>
        </p:spPr>
        <p:txBody>
          <a:bodyPr wrap="square" lIns="0" tIns="0" rIns="0" bIns="0" rtlCol="0" anchor="t"/>
          <a:lstStyle/>
          <a:p>
            <a:pPr marL="0" indent="0">
              <a:lnSpc>
                <a:spcPct val="120000"/>
              </a:lnSpc>
              <a:buNone/>
            </a:pPr>
            <a:r>
              <a:rPr lang="en-US" sz="1200" dirty="0">
                <a:solidFill>
                  <a:srgbClr val="B4BCCB"/>
                </a:solidFill>
                <a:latin typeface="Arial" pitchFamily="34" charset="0"/>
                <a:ea typeface="Arial" pitchFamily="34" charset="-122"/>
                <a:cs typeface="Arial" pitchFamily="34" charset="-120"/>
              </a:rPr>
              <a:t>± 0.03 · fit to the 53% of nodes with k ≥ 8 · KS 0.041</a:t>
            </a:r>
            <a:endParaRPr lang="en-US" sz="1200" dirty="0"/>
          </a:p>
        </p:txBody>
      </p:sp>
      <p:sp>
        <p:nvSpPr>
          <p:cNvPr id="11" name="Max degree"/>
          <p:cNvSpPr txBox="1"/>
          <p:nvPr/>
        </p:nvSpPr>
        <p:spPr>
          <a:xfrm>
            <a:off x="7467630" y="3613160"/>
            <a:ext cx="1854220" cy="482620"/>
          </a:xfrm>
          <a:prstGeom prst="rect">
            <a:avLst/>
          </a:prstGeom>
          <a:noFill/>
          <a:ln/>
        </p:spPr>
        <p:txBody>
          <a:bodyPr wrap="square" lIns="0" tIns="0" rIns="0" bIns="0" rtlCol="0" anchor="t"/>
          <a:lstStyle/>
          <a:p>
            <a:pPr marL="0" indent="0">
              <a:buNone/>
            </a:pPr>
            <a:r>
              <a:rPr lang="en-US" sz="3200" b="1" dirty="0">
                <a:solidFill>
                  <a:srgbClr val="F2F4F8"/>
                </a:solidFill>
                <a:latin typeface="Consolas" pitchFamily="34" charset="0"/>
                <a:ea typeface="Consolas" pitchFamily="34" charset="-122"/>
                <a:cs typeface="Consolas" pitchFamily="34" charset="-120"/>
              </a:rPr>
              <a:t>745</a:t>
            </a:r>
            <a:endParaRPr lang="en-US" sz="3200" dirty="0"/>
          </a:p>
        </p:txBody>
      </p:sp>
      <p:sp>
        <p:nvSpPr>
          <p:cNvPr id="12" name="Text 11"/>
          <p:cNvSpPr txBox="1"/>
          <p:nvPr/>
        </p:nvSpPr>
        <p:spPr>
          <a:xfrm>
            <a:off x="7467630" y="4121109"/>
            <a:ext cx="1854220" cy="444490"/>
          </a:xfrm>
          <a:prstGeom prst="rect">
            <a:avLst/>
          </a:prstGeom>
          <a:noFill/>
          <a:ln/>
        </p:spPr>
        <p:txBody>
          <a:bodyPr wrap="square" lIns="0" tIns="0" rIns="0" bIns="0" rtlCol="0" anchor="t"/>
          <a:lstStyle/>
          <a:p>
            <a:pPr marL="0" indent="0">
              <a:lnSpc>
                <a:spcPct val="120000"/>
              </a:lnSpc>
              <a:buNone/>
            </a:pPr>
            <a:r>
              <a:rPr lang="en-US" sz="1200" dirty="0">
                <a:solidFill>
                  <a:srgbClr val="B4BCCB"/>
                </a:solidFill>
                <a:latin typeface="Arial" pitchFamily="34" charset="0"/>
                <a:ea typeface="Arial" pitchFamily="34" charset="-122"/>
                <a:cs typeface="Arial" pitchFamily="34" charset="-120"/>
              </a:rPr>
              <a:t>links on 我; the mean is 11.9</a:t>
            </a:r>
            <a:endParaRPr lang="en-US" sz="1200" dirty="0"/>
          </a:p>
        </p:txBody>
      </p:sp>
      <p:sp>
        <p:nvSpPr>
          <p:cNvPr id="13" name="Heterogeneity"/>
          <p:cNvSpPr txBox="1"/>
          <p:nvPr/>
        </p:nvSpPr>
        <p:spPr>
          <a:xfrm>
            <a:off x="9525030" y="3613160"/>
            <a:ext cx="1854220" cy="482620"/>
          </a:xfrm>
          <a:prstGeom prst="rect">
            <a:avLst/>
          </a:prstGeom>
          <a:noFill/>
          <a:ln/>
        </p:spPr>
        <p:txBody>
          <a:bodyPr wrap="square" lIns="0" tIns="0" rIns="0" bIns="0" rtlCol="0" anchor="t"/>
          <a:lstStyle/>
          <a:p>
            <a:pPr marL="0" indent="0">
              <a:buNone/>
            </a:pPr>
            <a:r>
              <a:rPr lang="en-US" sz="3200" b="1" dirty="0">
                <a:solidFill>
                  <a:srgbClr val="F2F4F8"/>
                </a:solidFill>
                <a:latin typeface="Consolas" pitchFamily="34" charset="0"/>
                <a:ea typeface="Consolas" pitchFamily="34" charset="-122"/>
                <a:cs typeface="Consolas" pitchFamily="34" charset="-120"/>
              </a:rPr>
              <a:t>72.6</a:t>
            </a:r>
            <a:endParaRPr lang="en-US" sz="3200" dirty="0"/>
          </a:p>
        </p:txBody>
      </p:sp>
      <p:sp>
        <p:nvSpPr>
          <p:cNvPr id="14" name="Text 12"/>
          <p:cNvSpPr txBox="1"/>
          <p:nvPr/>
        </p:nvSpPr>
        <p:spPr>
          <a:xfrm>
            <a:off x="9525030" y="4121109"/>
            <a:ext cx="1854220" cy="444490"/>
          </a:xfrm>
          <a:prstGeom prst="rect">
            <a:avLst/>
          </a:prstGeom>
          <a:noFill/>
          <a:ln/>
        </p:spPr>
        <p:txBody>
          <a:bodyPr wrap="square" lIns="0" tIns="0" rIns="0" bIns="0" rtlCol="0" anchor="t"/>
          <a:lstStyle/>
          <a:p>
            <a:pPr marL="0" indent="0">
              <a:lnSpc>
                <a:spcPct val="120000"/>
              </a:lnSpc>
              <a:buNone/>
            </a:pPr>
            <a:r>
              <a:rPr lang="en-US" sz="1200" dirty="0">
                <a:solidFill>
                  <a:srgbClr val="B4BCCB"/>
                </a:solidFill>
                <a:latin typeface="Arial" pitchFamily="34" charset="0"/>
                <a:ea typeface="Arial" pitchFamily="34" charset="-122"/>
                <a:cs typeface="Arial" pitchFamily="34" charset="-120"/>
              </a:rPr>
              <a:t>⟨k²⟩/⟨k⟩: hubs dominate</a:t>
            </a:r>
            <a:endParaRPr lang="en-US" sz="1200" dirty="0"/>
          </a:p>
        </p:txBody>
      </p:sp>
      <p:sp>
        <p:nvSpPr>
          <p:cNvPr id="15" name="Tests card"/>
          <p:cNvSpPr/>
          <p:nvPr/>
        </p:nvSpPr>
        <p:spPr>
          <a:xfrm>
            <a:off x="7467630" y="4730740"/>
            <a:ext cx="3911620" cy="1092159"/>
          </a:xfrm>
          <a:prstGeom prst="roundRect">
            <a:avLst>
              <a:gd name="adj" fmla="val 9302"/>
            </a:avLst>
          </a:prstGeom>
          <a:solidFill>
            <a:srgbClr val="10141C"/>
          </a:solidFill>
          <a:ln w="9525">
            <a:solidFill>
              <a:srgbClr val="262D3B"/>
            </a:solidFill>
            <a:prstDash val="solid"/>
          </a:ln>
        </p:spPr>
      </p:sp>
      <p:sp>
        <p:nvSpPr>
          <p:cNvPr id="16" name="Tests"/>
          <p:cNvSpPr txBox="1"/>
          <p:nvPr/>
        </p:nvSpPr>
        <p:spPr>
          <a:xfrm>
            <a:off x="7619970" y="4883170"/>
            <a:ext cx="3606759" cy="787390"/>
          </a:xfrm>
          <a:prstGeom prst="rect">
            <a:avLst/>
          </a:prstGeom>
          <a:noFill/>
          <a:ln/>
        </p:spPr>
        <p:txBody>
          <a:bodyPr wrap="square" lIns="0" tIns="0" rIns="0" bIns="0" rtlCol="0" anchor="t"/>
          <a:lstStyle/>
          <a:p>
            <a:pPr marL="0" indent="0">
              <a:lnSpc>
                <a:spcPct val="135000"/>
              </a:lnSpc>
              <a:buNone/>
            </a:pPr>
            <a:r>
              <a:rPr lang="en-US" sz="1200" dirty="0">
                <a:solidFill>
                  <a:srgbClr val="B4BCCB"/>
                </a:solidFill>
                <a:latin typeface="Arial" pitchFamily="34" charset="0"/>
                <a:ea typeface="Arial" pitchFamily="34" charset="-122"/>
                <a:cs typeface="Arial" pitchFamily="34" charset="-120"/>
              </a:rPr>
              <a:t>Top hubs: </a:t>
            </a:r>
            <a:r>
              <a:rPr lang="en-US" sz="1200" dirty="0">
                <a:solidFill>
                  <a:srgbClr val="F2F4F8"/>
                </a:solidFill>
                <a:latin typeface="Arial" pitchFamily="34" charset="0"/>
                <a:ea typeface="Arial" pitchFamily="34" charset="-122"/>
                <a:cs typeface="Arial" pitchFamily="34" charset="-120"/>
              </a:rPr>
              <a:t>我 745 · 你 680 · 的 645 · 了 632</a:t>
            </a:r>
            <a:endParaRPr lang="en-US" sz="1200" dirty="0"/>
          </a:p>
          <a:p>
            <a:pPr marL="0" indent="0">
              <a:lnSpc>
                <a:spcPct val="135000"/>
              </a:lnSpc>
              <a:buNone/>
            </a:pPr>
            <a:r>
              <a:rPr lang="en-US" sz="1200" dirty="0">
                <a:solidFill>
                  <a:srgbClr val="B4BCCB"/>
                </a:solidFill>
                <a:latin typeface="Arial" pitchFamily="34" charset="0"/>
                <a:ea typeface="Arial" pitchFamily="34" charset="-122"/>
                <a:cs typeface="Arial" pitchFamily="34" charset="-120"/>
              </a:rPr>
              <a:t>vs exponential: </a:t>
            </a:r>
            <a:r>
              <a:rPr lang="en-US" sz="1200" b="1" dirty="0">
                <a:solidFill>
                  <a:srgbClr val="F2F4F8"/>
                </a:solidFill>
                <a:latin typeface="Arial" pitchFamily="34" charset="0"/>
                <a:ea typeface="Arial" pitchFamily="34" charset="-122"/>
                <a:cs typeface="Arial" pitchFamily="34" charset="-120"/>
              </a:rPr>
              <a:t>power law wins</a:t>
            </a:r>
            <a:r>
              <a:rPr lang="en-US" sz="1200" dirty="0">
                <a:solidFill>
                  <a:srgbClr val="B4BCCB"/>
                </a:solidFill>
                <a:latin typeface="Arial" pitchFamily="34" charset="0"/>
                <a:ea typeface="Arial" pitchFamily="34" charset="-122"/>
                <a:cs typeface="Arial" pitchFamily="34" charset="-120"/>
              </a:rPr>
              <a:t>, p &lt; 0.001</a:t>
            </a:r>
            <a:endParaRPr lang="en-US" sz="1200" dirty="0"/>
          </a:p>
          <a:p>
            <a:pPr marL="0" indent="0">
              <a:lnSpc>
                <a:spcPct val="135000"/>
              </a:lnSpc>
              <a:buNone/>
            </a:pPr>
            <a:r>
              <a:rPr lang="en-US" sz="1200" dirty="0">
                <a:solidFill>
                  <a:srgbClr val="B4BCCB"/>
                </a:solidFill>
                <a:latin typeface="Arial" pitchFamily="34" charset="0"/>
                <a:ea typeface="Arial" pitchFamily="34" charset="-122"/>
                <a:cs typeface="Arial" pitchFamily="34" charset="-120"/>
              </a:rPr>
              <a:t>vs lognormal: </a:t>
            </a:r>
            <a:r>
              <a:rPr lang="en-US" sz="1200" b="1" dirty="0">
                <a:solidFill>
                  <a:srgbClr val="F2F4F8"/>
                </a:solidFill>
                <a:latin typeface="Arial" pitchFamily="34" charset="0"/>
                <a:ea typeface="Arial" pitchFamily="34" charset="-122"/>
                <a:cs typeface="Arial" pitchFamily="34" charset="-120"/>
              </a:rPr>
              <a:t>no clear winner</a:t>
            </a:r>
            <a:r>
              <a:rPr lang="en-US" sz="1200" dirty="0">
                <a:solidFill>
                  <a:srgbClr val="B4BCCB"/>
                </a:solidFill>
                <a:latin typeface="Arial" pitchFamily="34" charset="0"/>
                <a:ea typeface="Arial" pitchFamily="34" charset="-122"/>
                <a:cs typeface="Arial" pitchFamily="34" charset="-120"/>
              </a:rPr>
              <a:t>, p = 0.32</a:t>
            </a:r>
            <a:endParaRPr lang="en-US" sz="1200" dirty="0"/>
          </a:p>
        </p:txBody>
      </p:sp>
      <p:sp>
        <p:nvSpPr>
          <p:cNvPr id="25" name="Slide Number Placeholder 0"/>
          <p:cNvSpPr>
            <a:spLocks noGrp="1"/>
          </p:cNvSpPr>
          <p:nvPr>
            <p:ph type="sldNum" sz="quarter" idx="4294967295"/>
          </p:nvPr>
        </p:nvSpPr>
        <p:spPr>
          <a:xfrm>
            <a:off x="10109241" y="6235659"/>
            <a:ext cx="1270010" cy="21589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7C8699"/>
                </a:solidFill>
                <a:latin typeface="Consolas"/>
                <a:ea typeface="Consolas"/>
                <a:cs typeface="Consolas"/>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812810" y="1104870"/>
            <a:ext cx="10566441" cy="469910"/>
          </a:xfrm>
          <a:prstGeom prst="rect">
            <a:avLst/>
          </a:prstGeom>
          <a:noFill/>
          <a:ln/>
        </p:spPr>
        <p:txBody>
          <a:bodyPr wrap="square" lIns="0" tIns="0" rIns="0" bIns="0" rtlCol="0" anchor="t"/>
          <a:lstStyle/>
          <a:p>
            <a:pPr marL="0" indent="0" algn="l">
              <a:buNone/>
            </a:pPr>
            <a:r>
              <a:rPr lang="en-US" sz="3200" b="1" dirty="0">
                <a:solidFill>
                  <a:srgbClr val="F2F4F8"/>
                </a:solidFill>
                <a:latin typeface="Arial" pitchFamily="34" charset="0"/>
                <a:ea typeface="Arial" pitchFamily="34" charset="-122"/>
                <a:cs typeface="Arial" pitchFamily="34" charset="-120"/>
              </a:rPr>
              <a:t>Any two units are about 3.5 steps apart</a:t>
            </a:r>
            <a:endParaRPr lang="en-US" sz="3200" dirty="0"/>
          </a:p>
        </p:txBody>
      </p:sp>
      <p:sp>
        <p:nvSpPr>
          <p:cNvPr id="3" name="Eyebrow"/>
          <p:cNvSpPr txBox="1"/>
          <p:nvPr/>
        </p:nvSpPr>
        <p:spPr>
          <a:xfrm>
            <a:off x="812810" y="812810"/>
            <a:ext cx="10566441" cy="215890"/>
          </a:xfrm>
          <a:prstGeom prst="rect">
            <a:avLst/>
          </a:prstGeom>
          <a:noFill/>
          <a:ln/>
        </p:spPr>
        <p:txBody>
          <a:bodyPr wrap="square" lIns="0" tIns="0" rIns="0" bIns="0" rtlCol="0" anchor="ctr"/>
          <a:lstStyle/>
          <a:p>
            <a:pPr marL="0" indent="0">
              <a:buNone/>
            </a:pPr>
            <a:r>
              <a:rPr lang="en-US" sz="1200" kern="0" spc="150" dirty="0">
                <a:solidFill>
                  <a:srgbClr val="3987E5"/>
                </a:solidFill>
                <a:latin typeface="Consolas" pitchFamily="34" charset="0"/>
                <a:ea typeface="Consolas" pitchFamily="34" charset="-122"/>
                <a:cs typeface="Consolas" pitchFamily="34" charset="-120"/>
              </a:rPr>
              <a:t>04 · RESULTS · SMALL WORLD</a:t>
            </a:r>
            <a:endParaRPr lang="en-US" sz="1200" dirty="0"/>
          </a:p>
        </p:txBody>
      </p:sp>
      <p:sp>
        <p:nvSpPr>
          <p:cNvPr id="4" name="Text 13"/>
          <p:cNvSpPr txBox="1"/>
          <p:nvPr/>
        </p:nvSpPr>
        <p:spPr>
          <a:xfrm>
            <a:off x="812810" y="1835109"/>
            <a:ext cx="6096030" cy="254020"/>
          </a:xfrm>
          <a:prstGeom prst="rect">
            <a:avLst/>
          </a:prstGeom>
          <a:noFill/>
          <a:ln/>
        </p:spPr>
        <p:txBody>
          <a:bodyPr wrap="square" lIns="0" tIns="0" rIns="0" bIns="0" rtlCol="0" anchor="t"/>
          <a:lstStyle/>
          <a:p>
            <a:pPr marL="0" indent="0">
              <a:buNone/>
            </a:pPr>
            <a:r>
              <a:rPr lang="en-US" sz="1400" b="1" dirty="0">
                <a:solidFill>
                  <a:srgbClr val="F2F4F8"/>
                </a:solidFill>
                <a:latin typeface="Arial" pitchFamily="34" charset="0"/>
                <a:ea typeface="Arial" pitchFamily="34" charset="-122"/>
                <a:cs typeface="Arial" pitchFamily="34" charset="-120"/>
              </a:rPr>
              <a:t>Average clustering C</a:t>
            </a:r>
            <a:endParaRPr lang="en-US" sz="1400" dirty="0"/>
          </a:p>
        </p:txBody>
      </p:sp>
      <p:graphicFrame>
        <p:nvGraphicFramePr>
          <p:cNvPr id="5" name="Chart: clustering"/>
          <p:cNvGraphicFramePr/>
          <p:nvPr/>
        </p:nvGraphicFramePr>
        <p:xfrm>
          <a:off x="711220" y="2089130"/>
          <a:ext cx="6223041" cy="11175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14"/>
          <p:cNvSpPr txBox="1"/>
          <p:nvPr/>
        </p:nvSpPr>
        <p:spPr>
          <a:xfrm>
            <a:off x="812810" y="3435309"/>
            <a:ext cx="6096030" cy="254020"/>
          </a:xfrm>
          <a:prstGeom prst="rect">
            <a:avLst/>
          </a:prstGeom>
          <a:noFill/>
          <a:ln/>
        </p:spPr>
        <p:txBody>
          <a:bodyPr wrap="square" lIns="0" tIns="0" rIns="0" bIns="0" rtlCol="0" anchor="t"/>
          <a:lstStyle/>
          <a:p>
            <a:pPr marL="0" indent="0">
              <a:buNone/>
            </a:pPr>
            <a:r>
              <a:rPr lang="en-US" sz="1400" b="1" dirty="0">
                <a:solidFill>
                  <a:srgbClr val="F2F4F8"/>
                </a:solidFill>
                <a:latin typeface="Arial" pitchFamily="34" charset="0"/>
                <a:ea typeface="Arial" pitchFamily="34" charset="-122"/>
                <a:cs typeface="Arial" pitchFamily="34" charset="-120"/>
              </a:rPr>
              <a:t>Average shortest path L</a:t>
            </a:r>
            <a:endParaRPr lang="en-US" sz="1400" dirty="0"/>
          </a:p>
        </p:txBody>
      </p:sp>
      <p:graphicFrame>
        <p:nvGraphicFramePr>
          <p:cNvPr id="7" name="Chart: path length"/>
          <p:cNvGraphicFramePr/>
          <p:nvPr/>
        </p:nvGraphicFramePr>
        <p:xfrm>
          <a:off x="711220" y="3689330"/>
          <a:ext cx="6223041" cy="1117580"/>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 15"/>
          <p:cNvSpPr txBox="1"/>
          <p:nvPr/>
        </p:nvSpPr>
        <p:spPr>
          <a:xfrm>
            <a:off x="812810" y="5016490"/>
            <a:ext cx="6096030" cy="444490"/>
          </a:xfrm>
          <a:prstGeom prst="rect">
            <a:avLst/>
          </a:prstGeom>
          <a:noFill/>
          <a:ln/>
        </p:spPr>
        <p:txBody>
          <a:bodyPr wrap="square" lIns="0" tIns="0" rIns="0" bIns="0" rtlCol="0" anchor="t"/>
          <a:lstStyle/>
          <a:p>
            <a:pPr marL="0" indent="0">
              <a:lnSpc>
                <a:spcPct val="120000"/>
              </a:lnSpc>
              <a:buNone/>
            </a:pPr>
            <a:r>
              <a:rPr lang="en-US" sz="1200" dirty="0">
                <a:solidFill>
                  <a:srgbClr val="7C8699"/>
                </a:solidFill>
                <a:latin typeface="Arial" pitchFamily="34" charset="0"/>
                <a:ea typeface="Arial" pitchFamily="34" charset="-122"/>
                <a:cs typeface="Arial" pitchFamily="34" charset="-120"/>
              </a:rPr>
              <a:t>Each baseline is the mean of 3 graphs with the same 5,379 nodes and 32,076 links. Diameter: 8 for the HSK network, 6 for random graphs.</a:t>
            </a:r>
            <a:endParaRPr lang="en-US" sz="1200" dirty="0"/>
          </a:p>
        </p:txBody>
      </p:sp>
      <p:sp>
        <p:nvSpPr>
          <p:cNvPr id="9" name="Card σ = 85.8"/>
          <p:cNvSpPr/>
          <p:nvPr/>
        </p:nvSpPr>
        <p:spPr>
          <a:xfrm>
            <a:off x="7213610" y="1835109"/>
            <a:ext cx="4165641" cy="1244590"/>
          </a:xfrm>
          <a:prstGeom prst="roundRect">
            <a:avLst>
              <a:gd name="adj" fmla="val 8163"/>
            </a:avLst>
          </a:prstGeom>
          <a:solidFill>
            <a:srgbClr val="10141C"/>
          </a:solidFill>
          <a:ln w="9525">
            <a:solidFill>
              <a:srgbClr val="262D3B"/>
            </a:solidFill>
            <a:prstDash val="solid"/>
          </a:ln>
        </p:spPr>
      </p:sp>
      <p:sp>
        <p:nvSpPr>
          <p:cNvPr id="10" name="Text 16"/>
          <p:cNvSpPr txBox="1"/>
          <p:nvPr/>
        </p:nvSpPr>
        <p:spPr>
          <a:xfrm>
            <a:off x="7416790" y="1962120"/>
            <a:ext cx="3759190" cy="482620"/>
          </a:xfrm>
          <a:prstGeom prst="rect">
            <a:avLst/>
          </a:prstGeom>
          <a:noFill/>
          <a:ln/>
        </p:spPr>
        <p:txBody>
          <a:bodyPr wrap="square" lIns="0" tIns="0" rIns="0" bIns="0" rtlCol="0" anchor="t"/>
          <a:lstStyle/>
          <a:p>
            <a:pPr marL="0" indent="0">
              <a:buNone/>
            </a:pPr>
            <a:r>
              <a:rPr lang="en-US" sz="3200" b="1" dirty="0">
                <a:solidFill>
                  <a:srgbClr val="F2F4F8"/>
                </a:solidFill>
                <a:latin typeface="Consolas" pitchFamily="34" charset="0"/>
                <a:ea typeface="Consolas" pitchFamily="34" charset="-122"/>
                <a:cs typeface="Consolas" pitchFamily="34" charset="-120"/>
              </a:rPr>
              <a:t>σ = 85.8</a:t>
            </a:r>
            <a:endParaRPr lang="en-US" sz="3200" dirty="0"/>
          </a:p>
        </p:txBody>
      </p:sp>
      <p:sp>
        <p:nvSpPr>
          <p:cNvPr id="11" name="Text 17"/>
          <p:cNvSpPr txBox="1"/>
          <p:nvPr/>
        </p:nvSpPr>
        <p:spPr>
          <a:xfrm>
            <a:off x="7416790" y="2495580"/>
            <a:ext cx="3759190" cy="457200"/>
          </a:xfrm>
          <a:prstGeom prst="rect">
            <a:avLst/>
          </a:prstGeom>
          <a:noFill/>
          <a:ln/>
        </p:spPr>
        <p:txBody>
          <a:bodyPr wrap="square" lIns="0" tIns="0" rIns="0" bIns="0" rtlCol="0" anchor="t"/>
          <a:lstStyle/>
          <a:p>
            <a:pPr marL="0" indent="0">
              <a:lnSpc>
                <a:spcPct val="120000"/>
              </a:lnSpc>
              <a:buNone/>
            </a:pPr>
            <a:r>
              <a:rPr lang="en-US" sz="1200" b="1" dirty="0">
                <a:solidFill>
                  <a:srgbClr val="F2F4F8"/>
                </a:solidFill>
                <a:latin typeface="Arial" pitchFamily="34" charset="0"/>
                <a:ea typeface="Arial" pitchFamily="34" charset="-122"/>
                <a:cs typeface="Arial" pitchFamily="34" charset="-120"/>
              </a:rPr>
              <a:t>Small world</a:t>
            </a:r>
            <a:r>
              <a:rPr lang="en-US" sz="1200" dirty="0">
                <a:solidFill>
                  <a:srgbClr val="B4BCCB"/>
                </a:solidFill>
                <a:latin typeface="Arial" pitchFamily="34" charset="0"/>
                <a:ea typeface="Arial" pitchFamily="34" charset="-122"/>
                <a:cs typeface="Arial" pitchFamily="34" charset="-120"/>
              </a:rPr>
              <a:t> vs Erdős–Rényi: C is 79× random while L stays 0.92× random</a:t>
            </a:r>
            <a:endParaRPr lang="en-US" sz="1200" dirty="0"/>
          </a:p>
        </p:txBody>
      </p:sp>
      <p:sp>
        <p:nvSpPr>
          <p:cNvPr id="12" name="Card σ = 2.65"/>
          <p:cNvSpPr/>
          <p:nvPr/>
        </p:nvSpPr>
        <p:spPr>
          <a:xfrm>
            <a:off x="7213610" y="3181380"/>
            <a:ext cx="4165641" cy="1244590"/>
          </a:xfrm>
          <a:prstGeom prst="roundRect">
            <a:avLst>
              <a:gd name="adj" fmla="val 8163"/>
            </a:avLst>
          </a:prstGeom>
          <a:solidFill>
            <a:srgbClr val="10141C"/>
          </a:solidFill>
          <a:ln w="9525">
            <a:solidFill>
              <a:srgbClr val="262D3B"/>
            </a:solidFill>
            <a:prstDash val="solid"/>
          </a:ln>
        </p:spPr>
      </p:sp>
      <p:sp>
        <p:nvSpPr>
          <p:cNvPr id="13" name="Text 18"/>
          <p:cNvSpPr txBox="1"/>
          <p:nvPr/>
        </p:nvSpPr>
        <p:spPr>
          <a:xfrm>
            <a:off x="7416790" y="3308391"/>
            <a:ext cx="3759190" cy="482620"/>
          </a:xfrm>
          <a:prstGeom prst="rect">
            <a:avLst/>
          </a:prstGeom>
          <a:noFill/>
          <a:ln/>
        </p:spPr>
        <p:txBody>
          <a:bodyPr wrap="square" lIns="0" tIns="0" rIns="0" bIns="0" rtlCol="0" anchor="t"/>
          <a:lstStyle/>
          <a:p>
            <a:pPr marL="0" indent="0">
              <a:buNone/>
            </a:pPr>
            <a:r>
              <a:rPr lang="en-US" sz="3200" b="1" dirty="0">
                <a:solidFill>
                  <a:srgbClr val="F2F4F8"/>
                </a:solidFill>
                <a:latin typeface="Consolas" pitchFamily="34" charset="0"/>
                <a:ea typeface="Consolas" pitchFamily="34" charset="-122"/>
                <a:cs typeface="Consolas" pitchFamily="34" charset="-120"/>
              </a:rPr>
              <a:t>σ = 2.65</a:t>
            </a:r>
            <a:endParaRPr lang="en-US" sz="3200" dirty="0"/>
          </a:p>
        </p:txBody>
      </p:sp>
      <p:sp>
        <p:nvSpPr>
          <p:cNvPr id="14" name="Text 19"/>
          <p:cNvSpPr txBox="1"/>
          <p:nvPr/>
        </p:nvSpPr>
        <p:spPr>
          <a:xfrm>
            <a:off x="7416790" y="3841760"/>
            <a:ext cx="3759190" cy="457200"/>
          </a:xfrm>
          <a:prstGeom prst="rect">
            <a:avLst/>
          </a:prstGeom>
          <a:noFill/>
          <a:ln/>
        </p:spPr>
        <p:txBody>
          <a:bodyPr wrap="square" lIns="0" tIns="0" rIns="0" bIns="0" rtlCol="0" anchor="t"/>
          <a:lstStyle/>
          <a:p>
            <a:pPr marL="0" indent="0">
              <a:lnSpc>
                <a:spcPct val="120000"/>
              </a:lnSpc>
              <a:buNone/>
            </a:pPr>
            <a:r>
              <a:rPr lang="en-US" sz="1200" b="1" dirty="0">
                <a:solidFill>
                  <a:srgbClr val="F2F4F8"/>
                </a:solidFill>
                <a:latin typeface="Arial" pitchFamily="34" charset="0"/>
                <a:ea typeface="Arial" pitchFamily="34" charset="-122"/>
                <a:cs typeface="Arial" pitchFamily="34" charset="-120"/>
              </a:rPr>
              <a:t>Still above 1</a:t>
            </a:r>
            <a:r>
              <a:rPr lang="en-US" sz="1200" dirty="0">
                <a:solidFill>
                  <a:srgbClr val="B4BCCB"/>
                </a:solidFill>
                <a:latin typeface="Arial" pitchFamily="34" charset="0"/>
                <a:ea typeface="Arial" pitchFamily="34" charset="-122"/>
                <a:cs typeface="Arial" pitchFamily="34" charset="-120"/>
              </a:rPr>
              <a:t> against rewiring that keeps every node’s degree</a:t>
            </a:r>
            <a:endParaRPr lang="en-US" sz="1200" dirty="0"/>
          </a:p>
        </p:txBody>
      </p:sp>
      <p:sp>
        <p:nvSpPr>
          <p:cNvPr id="15" name="Card ω = 0.84"/>
          <p:cNvSpPr/>
          <p:nvPr/>
        </p:nvSpPr>
        <p:spPr>
          <a:xfrm>
            <a:off x="7213610" y="4527560"/>
            <a:ext cx="4165641" cy="1244590"/>
          </a:xfrm>
          <a:prstGeom prst="roundRect">
            <a:avLst>
              <a:gd name="adj" fmla="val 8163"/>
            </a:avLst>
          </a:prstGeom>
          <a:solidFill>
            <a:srgbClr val="10141C"/>
          </a:solidFill>
          <a:ln w="9525">
            <a:solidFill>
              <a:srgbClr val="262D3B"/>
            </a:solidFill>
            <a:prstDash val="solid"/>
          </a:ln>
        </p:spPr>
      </p:sp>
      <p:sp>
        <p:nvSpPr>
          <p:cNvPr id="16" name="Text 20"/>
          <p:cNvSpPr txBox="1"/>
          <p:nvPr/>
        </p:nvSpPr>
        <p:spPr>
          <a:xfrm>
            <a:off x="7416790" y="4654570"/>
            <a:ext cx="3759190" cy="482620"/>
          </a:xfrm>
          <a:prstGeom prst="rect">
            <a:avLst/>
          </a:prstGeom>
          <a:noFill/>
          <a:ln/>
        </p:spPr>
        <p:txBody>
          <a:bodyPr wrap="square" lIns="0" tIns="0" rIns="0" bIns="0" rtlCol="0" anchor="t"/>
          <a:lstStyle/>
          <a:p>
            <a:pPr marL="0" indent="0">
              <a:buNone/>
            </a:pPr>
            <a:r>
              <a:rPr lang="en-US" sz="3200" b="1" dirty="0">
                <a:solidFill>
                  <a:srgbClr val="F2F4F8"/>
                </a:solidFill>
                <a:latin typeface="Consolas" pitchFamily="34" charset="0"/>
                <a:ea typeface="Consolas" pitchFamily="34" charset="-122"/>
                <a:cs typeface="Consolas" pitchFamily="34" charset="-120"/>
              </a:rPr>
              <a:t>ω = 0.84</a:t>
            </a:r>
            <a:endParaRPr lang="en-US" sz="3200" dirty="0"/>
          </a:p>
        </p:txBody>
      </p:sp>
      <p:sp>
        <p:nvSpPr>
          <p:cNvPr id="17" name="Text 21"/>
          <p:cNvSpPr txBox="1"/>
          <p:nvPr/>
        </p:nvSpPr>
        <p:spPr>
          <a:xfrm>
            <a:off x="7416790" y="5187940"/>
            <a:ext cx="3759190" cy="457200"/>
          </a:xfrm>
          <a:prstGeom prst="rect">
            <a:avLst/>
          </a:prstGeom>
          <a:noFill/>
          <a:ln/>
        </p:spPr>
        <p:txBody>
          <a:bodyPr wrap="square" lIns="0" tIns="0" rIns="0" bIns="0" rtlCol="0" anchor="t"/>
          <a:lstStyle/>
          <a:p>
            <a:pPr marL="0" indent="0">
              <a:lnSpc>
                <a:spcPct val="120000"/>
              </a:lnSpc>
              <a:buNone/>
            </a:pPr>
            <a:r>
              <a:rPr lang="en-US" sz="1200" b="1" dirty="0">
                <a:solidFill>
                  <a:srgbClr val="F2F4F8"/>
                </a:solidFill>
                <a:latin typeface="Arial" pitchFamily="34" charset="0"/>
                <a:ea typeface="Arial" pitchFamily="34" charset="-122"/>
                <a:cs typeface="Arial" pitchFamily="34" charset="-120"/>
              </a:rPr>
              <a:t>Random-like</a:t>
            </a:r>
            <a:r>
              <a:rPr lang="en-US" sz="1200" dirty="0">
                <a:solidFill>
                  <a:srgbClr val="B4BCCB"/>
                </a:solidFill>
                <a:latin typeface="Arial" pitchFamily="34" charset="0"/>
                <a:ea typeface="Arial" pitchFamily="34" charset="-122"/>
                <a:cs typeface="Arial" pitchFamily="34" charset="-120"/>
              </a:rPr>
              <a:t> by ω: clustering is far below a lattice’s 0.68</a:t>
            </a:r>
            <a:endParaRPr lang="en-US" sz="1200" dirty="0"/>
          </a:p>
        </p:txBody>
      </p:sp>
      <p:sp>
        <p:nvSpPr>
          <p:cNvPr id="25" name="Slide Number Placeholder 0"/>
          <p:cNvSpPr>
            <a:spLocks noGrp="1"/>
          </p:cNvSpPr>
          <p:nvPr>
            <p:ph type="sldNum" sz="quarter" idx="4294967295"/>
          </p:nvPr>
        </p:nvSpPr>
        <p:spPr>
          <a:xfrm>
            <a:off x="10109241" y="6235659"/>
            <a:ext cx="1270010" cy="21589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7C8699"/>
                </a:solidFill>
                <a:latin typeface="Consolas"/>
                <a:ea typeface="Consolas"/>
                <a:cs typeface="Consolas"/>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812810" y="1104870"/>
            <a:ext cx="10566441" cy="469910"/>
          </a:xfrm>
          <a:prstGeom prst="rect">
            <a:avLst/>
          </a:prstGeom>
          <a:noFill/>
          <a:ln/>
        </p:spPr>
        <p:txBody>
          <a:bodyPr wrap="square" lIns="0" tIns="0" rIns="0" bIns="0" rtlCol="0" anchor="t"/>
          <a:lstStyle/>
          <a:p>
            <a:pPr marL="0" indent="0" algn="l">
              <a:buNone/>
            </a:pPr>
            <a:r>
              <a:rPr lang="en-US" sz="3200" b="1" dirty="0">
                <a:solidFill>
                  <a:srgbClr val="F2F4F8"/>
                </a:solidFill>
                <a:latin typeface="Arial" pitchFamily="34" charset="0"/>
                <a:ea typeface="Arial" pitchFamily="34" charset="-122"/>
                <a:cs typeface="Arial" pitchFamily="34" charset="-120"/>
              </a:rPr>
              <a:t>The same hubs win on every measure</a:t>
            </a:r>
            <a:endParaRPr lang="en-US" sz="3200" dirty="0"/>
          </a:p>
        </p:txBody>
      </p:sp>
      <p:sp>
        <p:nvSpPr>
          <p:cNvPr id="3" name="Eyebrow"/>
          <p:cNvSpPr txBox="1"/>
          <p:nvPr/>
        </p:nvSpPr>
        <p:spPr>
          <a:xfrm>
            <a:off x="812810" y="812810"/>
            <a:ext cx="10566441" cy="215890"/>
          </a:xfrm>
          <a:prstGeom prst="rect">
            <a:avLst/>
          </a:prstGeom>
          <a:noFill/>
          <a:ln/>
        </p:spPr>
        <p:txBody>
          <a:bodyPr wrap="square" lIns="0" tIns="0" rIns="0" bIns="0" rtlCol="0" anchor="ctr"/>
          <a:lstStyle/>
          <a:p>
            <a:pPr marL="0" indent="0">
              <a:buNone/>
            </a:pPr>
            <a:r>
              <a:rPr lang="en-US" sz="1200" kern="0" spc="150" dirty="0">
                <a:solidFill>
                  <a:srgbClr val="3987E5"/>
                </a:solidFill>
                <a:latin typeface="Consolas" pitchFamily="34" charset="0"/>
                <a:ea typeface="Consolas" pitchFamily="34" charset="-122"/>
                <a:cs typeface="Consolas" pitchFamily="34" charset="-120"/>
              </a:rPr>
              <a:t>04 · RESULTS · CENTRALITY</a:t>
            </a:r>
            <a:endParaRPr lang="en-US" sz="1200" dirty="0"/>
          </a:p>
        </p:txBody>
      </p:sp>
      <p:sp>
        <p:nvSpPr>
          <p:cNvPr id="4" name="Text 22"/>
          <p:cNvSpPr txBox="1"/>
          <p:nvPr/>
        </p:nvSpPr>
        <p:spPr>
          <a:xfrm>
            <a:off x="812810" y="1835109"/>
            <a:ext cx="5587990" cy="254020"/>
          </a:xfrm>
          <a:prstGeom prst="rect">
            <a:avLst/>
          </a:prstGeom>
          <a:noFill/>
          <a:ln/>
        </p:spPr>
        <p:txBody>
          <a:bodyPr wrap="square" lIns="0" tIns="0" rIns="0" bIns="0" rtlCol="0" anchor="t"/>
          <a:lstStyle/>
          <a:p>
            <a:pPr marL="0" indent="0">
              <a:buNone/>
            </a:pPr>
            <a:r>
              <a:rPr lang="en-US" sz="1400" b="1" dirty="0">
                <a:solidFill>
                  <a:srgbClr val="F2F4F8"/>
                </a:solidFill>
                <a:latin typeface="Arial" pitchFamily="34" charset="0"/>
                <a:ea typeface="Arial" pitchFamily="34" charset="-122"/>
                <a:cs typeface="Arial" pitchFamily="34" charset="-120"/>
              </a:rPr>
              <a:t>Top 8 nodes by degree</a:t>
            </a:r>
            <a:endParaRPr lang="en-US" sz="1400" dirty="0"/>
          </a:p>
        </p:txBody>
      </p:sp>
      <p:graphicFrame>
        <p:nvGraphicFramePr>
          <p:cNvPr id="8" name="Hubs table"/>
          <p:cNvGraphicFramePr>
            <a:graphicFrameLocks noGrp="1"/>
          </p:cNvGraphicFramePr>
          <p:nvPr>
            <p:extLst>
              <p:ext uri="{D42A27DB-BD31-4B8C-83A1-F6EECF244321}">
                <p14:modId xmlns:p14="http://schemas.microsoft.com/office/powerpoint/2010/main" val="1579011935"/>
              </p:ext>
            </p:extLst>
          </p:nvPr>
        </p:nvGraphicFramePr>
        <p:xfrm>
          <a:off x="812810" y="2152680"/>
          <a:ext cx="5587990" cy="2788920"/>
        </p:xfrm>
        <a:graphic>
          <a:graphicData uri="http://schemas.openxmlformats.org/drawingml/2006/table">
            <a:tbl>
              <a:tblPr/>
              <a:tblGrid>
                <a:gridCol w="335279">
                  <a:extLst>
                    <a:ext uri="{9D8B030D-6E8A-4147-A177-3AD203B41FA5}">
                      <a16:colId xmlns:a16="http://schemas.microsoft.com/office/drawing/2014/main" val="20000"/>
                    </a:ext>
                  </a:extLst>
                </a:gridCol>
                <a:gridCol w="1229358">
                  <a:extLst>
                    <a:ext uri="{9D8B030D-6E8A-4147-A177-3AD203B41FA5}">
                      <a16:colId xmlns:a16="http://schemas.microsoft.com/office/drawing/2014/main" val="20001"/>
                    </a:ext>
                  </a:extLst>
                </a:gridCol>
                <a:gridCol w="1844037">
                  <a:extLst>
                    <a:ext uri="{9D8B030D-6E8A-4147-A177-3AD203B41FA5}">
                      <a16:colId xmlns:a16="http://schemas.microsoft.com/office/drawing/2014/main" val="20002"/>
                    </a:ext>
                  </a:extLst>
                </a:gridCol>
                <a:gridCol w="782319">
                  <a:extLst>
                    <a:ext uri="{9D8B030D-6E8A-4147-A177-3AD203B41FA5}">
                      <a16:colId xmlns:a16="http://schemas.microsoft.com/office/drawing/2014/main" val="20003"/>
                    </a:ext>
                  </a:extLst>
                </a:gridCol>
                <a:gridCol w="1396997">
                  <a:extLst>
                    <a:ext uri="{9D8B030D-6E8A-4147-A177-3AD203B41FA5}">
                      <a16:colId xmlns:a16="http://schemas.microsoft.com/office/drawing/2014/main" val="20004"/>
                    </a:ext>
                  </a:extLst>
                </a:gridCol>
              </a:tblGrid>
              <a:tr h="0">
                <a:tc>
                  <a:txBody>
                    <a:bodyPr/>
                    <a:lstStyle/>
                    <a:p>
                      <a:pPr marL="0" indent="0" algn="l">
                        <a:buNone/>
                      </a:pPr>
                      <a:r>
                        <a:rPr lang="en-US" sz="1200" b="1" dirty="0">
                          <a:solidFill>
                            <a:srgbClr val="F2F4F8"/>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171C27"/>
                    </a:solidFill>
                  </a:tcPr>
                </a:tc>
                <a:tc>
                  <a:txBody>
                    <a:bodyPr/>
                    <a:lstStyle/>
                    <a:p>
                      <a:pPr marL="0" indent="0" algn="l">
                        <a:buNone/>
                      </a:pPr>
                      <a:r>
                        <a:rPr lang="en-US" sz="1200" b="1" dirty="0">
                          <a:solidFill>
                            <a:srgbClr val="F2F4F8"/>
                          </a:solidFill>
                          <a:latin typeface="Arial" pitchFamily="34" charset="0"/>
                          <a:ea typeface="Arial" pitchFamily="34" charset="-122"/>
                          <a:cs typeface="Arial" pitchFamily="34" charset="-120"/>
                        </a:rPr>
                        <a:t>Node</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171C27"/>
                    </a:solidFill>
                  </a:tcPr>
                </a:tc>
                <a:tc>
                  <a:txBody>
                    <a:bodyPr/>
                    <a:lstStyle/>
                    <a:p>
                      <a:pPr marL="0" indent="0" algn="l">
                        <a:buNone/>
                      </a:pPr>
                      <a:r>
                        <a:rPr lang="en-US" sz="1200" b="1" dirty="0">
                          <a:solidFill>
                            <a:srgbClr val="F2F4F8"/>
                          </a:solidFill>
                          <a:latin typeface="Arial" pitchFamily="34" charset="0"/>
                          <a:ea typeface="Arial" pitchFamily="34" charset="-122"/>
                          <a:cs typeface="Arial" pitchFamily="34" charset="-120"/>
                        </a:rPr>
                        <a:t>Meaning</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171C27"/>
                    </a:solidFill>
                  </a:tcPr>
                </a:tc>
                <a:tc>
                  <a:txBody>
                    <a:bodyPr/>
                    <a:lstStyle/>
                    <a:p>
                      <a:pPr marL="0" indent="0" algn="r">
                        <a:buNone/>
                      </a:pPr>
                      <a:r>
                        <a:rPr lang="en-US" sz="1200" b="1" dirty="0">
                          <a:solidFill>
                            <a:srgbClr val="F2F4F8"/>
                          </a:solidFill>
                          <a:latin typeface="Arial" pitchFamily="34" charset="0"/>
                          <a:ea typeface="Arial" pitchFamily="34" charset="-122"/>
                          <a:cs typeface="Arial" pitchFamily="34" charset="-120"/>
                        </a:rPr>
                        <a:t>Degree</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171C27"/>
                    </a:solidFill>
                  </a:tcPr>
                </a:tc>
                <a:tc>
                  <a:txBody>
                    <a:bodyPr/>
                    <a:lstStyle/>
                    <a:p>
                      <a:pPr marL="0" indent="0" algn="r">
                        <a:buNone/>
                      </a:pPr>
                      <a:r>
                        <a:rPr lang="en-US" sz="1200" b="1" dirty="0">
                          <a:solidFill>
                            <a:srgbClr val="F2F4F8"/>
                          </a:solidFill>
                          <a:latin typeface="Arial" pitchFamily="34" charset="0"/>
                          <a:ea typeface="Arial" pitchFamily="34" charset="-122"/>
                          <a:cs typeface="Arial" pitchFamily="34" charset="-120"/>
                        </a:rPr>
                        <a:t>Betweenness</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171C27"/>
                    </a:solidFill>
                  </a:tcPr>
                </a:tc>
                <a:extLst>
                  <a:ext uri="{0D108BD9-81ED-4DB2-BD59-A6C34878D82A}">
                    <a16:rowId xmlns:a16="http://schemas.microsoft.com/office/drawing/2014/main" val="10000"/>
                  </a:ext>
                </a:extLst>
              </a:tr>
              <a:tr h="0">
                <a:tc>
                  <a:txBody>
                    <a:bodyPr/>
                    <a:lstStyle/>
                    <a:p>
                      <a:pPr marL="0" indent="0" algn="l">
                        <a:buNone/>
                      </a:pPr>
                      <a:r>
                        <a:rPr lang="en-US" sz="1200" dirty="0">
                          <a:solidFill>
                            <a:srgbClr val="B4BCCB"/>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c>
                  <a:txBody>
                    <a:bodyPr/>
                    <a:lstStyle/>
                    <a:p>
                      <a:pPr marL="0" indent="0" algn="l">
                        <a:buNone/>
                      </a:pPr>
                      <a:r>
                        <a:rPr lang="en-US" sz="1200" dirty="0">
                          <a:solidFill>
                            <a:srgbClr val="F2F4F8"/>
                          </a:solidFill>
                          <a:latin typeface="Arial" pitchFamily="34" charset="0"/>
                          <a:ea typeface="Arial" pitchFamily="34" charset="-122"/>
                          <a:cs typeface="Arial" pitchFamily="34" charset="-120"/>
                        </a:rPr>
                        <a:t>我 wǒ</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c>
                  <a:txBody>
                    <a:bodyPr/>
                    <a:lstStyle/>
                    <a:p>
                      <a:pPr marL="0" indent="0" algn="l">
                        <a:buNone/>
                      </a:pPr>
                      <a:r>
                        <a:rPr lang="en-US" sz="1200" dirty="0">
                          <a:solidFill>
                            <a:srgbClr val="B4BCCB"/>
                          </a:solidFill>
                          <a:latin typeface="Arial" pitchFamily="34" charset="0"/>
                          <a:ea typeface="Arial" pitchFamily="34" charset="-122"/>
                          <a:cs typeface="Arial" pitchFamily="34" charset="-120"/>
                        </a:rPr>
                        <a:t>I, me</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c>
                  <a:txBody>
                    <a:bodyPr/>
                    <a:lstStyle/>
                    <a:p>
                      <a:pPr marL="0" indent="0" algn="r">
                        <a:buNone/>
                      </a:pPr>
                      <a:r>
                        <a:rPr lang="en-US" sz="1200" dirty="0">
                          <a:solidFill>
                            <a:srgbClr val="F2F4F8"/>
                          </a:solidFill>
                          <a:latin typeface="Arial" pitchFamily="34" charset="0"/>
                          <a:ea typeface="Arial" pitchFamily="34" charset="-122"/>
                          <a:cs typeface="Arial" pitchFamily="34" charset="-120"/>
                        </a:rPr>
                        <a:t>745</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c>
                  <a:txBody>
                    <a:bodyPr/>
                    <a:lstStyle/>
                    <a:p>
                      <a:pPr marL="0" indent="0" algn="r">
                        <a:buNone/>
                      </a:pPr>
                      <a:r>
                        <a:rPr lang="en-US" sz="1200" dirty="0">
                          <a:solidFill>
                            <a:srgbClr val="B4BCCB"/>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1200" dirty="0">
                          <a:solidFill>
                            <a:srgbClr val="B4BCCB"/>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0D1118"/>
                    </a:solidFill>
                  </a:tcPr>
                </a:tc>
                <a:tc>
                  <a:txBody>
                    <a:bodyPr/>
                    <a:lstStyle/>
                    <a:p>
                      <a:pPr marL="0" indent="0" algn="l">
                        <a:buNone/>
                      </a:pPr>
                      <a:r>
                        <a:rPr lang="en-US" sz="1200" dirty="0">
                          <a:solidFill>
                            <a:srgbClr val="F2F4F8"/>
                          </a:solidFill>
                          <a:latin typeface="Arial" pitchFamily="34" charset="0"/>
                          <a:ea typeface="Arial" pitchFamily="34" charset="-122"/>
                          <a:cs typeface="Arial" pitchFamily="34" charset="-120"/>
                        </a:rPr>
                        <a:t>你 nǐ</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0D1118"/>
                    </a:solidFill>
                  </a:tcPr>
                </a:tc>
                <a:tc>
                  <a:txBody>
                    <a:bodyPr/>
                    <a:lstStyle/>
                    <a:p>
                      <a:pPr marL="0" indent="0" algn="l">
                        <a:buNone/>
                      </a:pPr>
                      <a:r>
                        <a:rPr lang="en-US" sz="1200" dirty="0">
                          <a:solidFill>
                            <a:srgbClr val="B4BCCB"/>
                          </a:solidFill>
                          <a:latin typeface="Arial" pitchFamily="34" charset="0"/>
                          <a:ea typeface="Arial" pitchFamily="34" charset="-122"/>
                          <a:cs typeface="Arial" pitchFamily="34" charset="-120"/>
                        </a:rPr>
                        <a:t>you</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0D1118"/>
                    </a:solidFill>
                  </a:tcPr>
                </a:tc>
                <a:tc>
                  <a:txBody>
                    <a:bodyPr/>
                    <a:lstStyle/>
                    <a:p>
                      <a:pPr marL="0" indent="0" algn="r">
                        <a:buNone/>
                      </a:pPr>
                      <a:r>
                        <a:rPr lang="en-US" sz="1200" dirty="0">
                          <a:solidFill>
                            <a:srgbClr val="F2F4F8"/>
                          </a:solidFill>
                          <a:latin typeface="Arial" pitchFamily="34" charset="0"/>
                          <a:ea typeface="Arial" pitchFamily="34" charset="-122"/>
                          <a:cs typeface="Arial" pitchFamily="34" charset="-120"/>
                        </a:rPr>
                        <a:t>680</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0D1118"/>
                    </a:solidFill>
                  </a:tcPr>
                </a:tc>
                <a:tc>
                  <a:txBody>
                    <a:bodyPr/>
                    <a:lstStyle/>
                    <a:p>
                      <a:pPr marL="0" indent="0" algn="r">
                        <a:buNone/>
                      </a:pPr>
                      <a:r>
                        <a:rPr lang="en-US" sz="1200" dirty="0">
                          <a:solidFill>
                            <a:srgbClr val="B4BCCB"/>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0D1118"/>
                    </a:solidFill>
                  </a:tcPr>
                </a:tc>
                <a:extLst>
                  <a:ext uri="{0D108BD9-81ED-4DB2-BD59-A6C34878D82A}">
                    <a16:rowId xmlns:a16="http://schemas.microsoft.com/office/drawing/2014/main" val="10002"/>
                  </a:ext>
                </a:extLst>
              </a:tr>
              <a:tr h="0">
                <a:tc>
                  <a:txBody>
                    <a:bodyPr/>
                    <a:lstStyle/>
                    <a:p>
                      <a:pPr marL="0" indent="0" algn="l">
                        <a:buNone/>
                      </a:pPr>
                      <a:r>
                        <a:rPr lang="en-US" sz="1200" dirty="0">
                          <a:solidFill>
                            <a:srgbClr val="B4BCCB"/>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c>
                  <a:txBody>
                    <a:bodyPr/>
                    <a:lstStyle/>
                    <a:p>
                      <a:pPr marL="0" indent="0" algn="l">
                        <a:buNone/>
                      </a:pPr>
                      <a:r>
                        <a:rPr lang="en-US" sz="1200" dirty="0">
                          <a:solidFill>
                            <a:srgbClr val="F2F4F8"/>
                          </a:solidFill>
                          <a:latin typeface="Arial" pitchFamily="34" charset="0"/>
                          <a:ea typeface="Arial" pitchFamily="34" charset="-122"/>
                          <a:cs typeface="Arial" pitchFamily="34" charset="-120"/>
                        </a:rPr>
                        <a:t>的 de</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c>
                  <a:txBody>
                    <a:bodyPr/>
                    <a:lstStyle/>
                    <a:p>
                      <a:pPr marL="0" indent="0" algn="l">
                        <a:buNone/>
                      </a:pPr>
                      <a:r>
                        <a:rPr lang="en-US" sz="1200" dirty="0">
                          <a:solidFill>
                            <a:srgbClr val="B4BCCB"/>
                          </a:solidFill>
                          <a:latin typeface="Arial" pitchFamily="34" charset="0"/>
                          <a:ea typeface="Arial" pitchFamily="34" charset="-122"/>
                          <a:cs typeface="Arial" pitchFamily="34" charset="-120"/>
                        </a:rPr>
                        <a:t>attributive particle</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c>
                  <a:txBody>
                    <a:bodyPr/>
                    <a:lstStyle/>
                    <a:p>
                      <a:pPr marL="0" indent="0" algn="r">
                        <a:buNone/>
                      </a:pPr>
                      <a:r>
                        <a:rPr lang="en-US" sz="1200" dirty="0">
                          <a:solidFill>
                            <a:srgbClr val="F2F4F8"/>
                          </a:solidFill>
                          <a:latin typeface="Arial" pitchFamily="34" charset="0"/>
                          <a:ea typeface="Arial" pitchFamily="34" charset="-122"/>
                          <a:cs typeface="Arial" pitchFamily="34" charset="-120"/>
                        </a:rPr>
                        <a:t>645</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c>
                  <a:txBody>
                    <a:bodyPr/>
                    <a:lstStyle/>
                    <a:p>
                      <a:pPr marL="0" indent="0" algn="r">
                        <a:buNone/>
                      </a:pPr>
                      <a:r>
                        <a:rPr lang="en-US" sz="1200" dirty="0">
                          <a:solidFill>
                            <a:srgbClr val="B4BCCB"/>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l">
                        <a:buNone/>
                      </a:pPr>
                      <a:r>
                        <a:rPr lang="en-US" sz="1200" dirty="0">
                          <a:solidFill>
                            <a:srgbClr val="B4BCCB"/>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0D1118"/>
                    </a:solidFill>
                  </a:tcPr>
                </a:tc>
                <a:tc>
                  <a:txBody>
                    <a:bodyPr/>
                    <a:lstStyle/>
                    <a:p>
                      <a:pPr marL="0" indent="0" algn="l">
                        <a:buNone/>
                      </a:pPr>
                      <a:r>
                        <a:rPr lang="en-US" sz="1200" dirty="0">
                          <a:solidFill>
                            <a:srgbClr val="F2F4F8"/>
                          </a:solidFill>
                          <a:latin typeface="Arial" pitchFamily="34" charset="0"/>
                          <a:ea typeface="Arial" pitchFamily="34" charset="-122"/>
                          <a:cs typeface="Arial" pitchFamily="34" charset="-120"/>
                        </a:rPr>
                        <a:t>了 le</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0D1118"/>
                    </a:solidFill>
                  </a:tcPr>
                </a:tc>
                <a:tc>
                  <a:txBody>
                    <a:bodyPr/>
                    <a:lstStyle/>
                    <a:p>
                      <a:pPr marL="0" indent="0" algn="l">
                        <a:buNone/>
                      </a:pPr>
                      <a:r>
                        <a:rPr lang="en-US" sz="1200" dirty="0">
                          <a:solidFill>
                            <a:srgbClr val="B4BCCB"/>
                          </a:solidFill>
                          <a:latin typeface="Arial" pitchFamily="34" charset="0"/>
                          <a:ea typeface="Arial" pitchFamily="34" charset="-122"/>
                          <a:cs typeface="Arial" pitchFamily="34" charset="-120"/>
                        </a:rPr>
                        <a:t>particle of change</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0D1118"/>
                    </a:solidFill>
                  </a:tcPr>
                </a:tc>
                <a:tc>
                  <a:txBody>
                    <a:bodyPr/>
                    <a:lstStyle/>
                    <a:p>
                      <a:pPr marL="0" indent="0" algn="r">
                        <a:buNone/>
                      </a:pPr>
                      <a:r>
                        <a:rPr lang="en-US" sz="1200" dirty="0">
                          <a:solidFill>
                            <a:srgbClr val="F2F4F8"/>
                          </a:solidFill>
                          <a:latin typeface="Arial" pitchFamily="34" charset="0"/>
                          <a:ea typeface="Arial" pitchFamily="34" charset="-122"/>
                          <a:cs typeface="Arial" pitchFamily="34" charset="-120"/>
                        </a:rPr>
                        <a:t>632</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0D1118"/>
                    </a:solidFill>
                  </a:tcPr>
                </a:tc>
                <a:tc>
                  <a:txBody>
                    <a:bodyPr/>
                    <a:lstStyle/>
                    <a:p>
                      <a:pPr marL="0" indent="0" algn="r">
                        <a:buNone/>
                      </a:pPr>
                      <a:r>
                        <a:rPr lang="en-US" sz="1200" dirty="0">
                          <a:solidFill>
                            <a:srgbClr val="B4BCCB"/>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0D1118"/>
                    </a:solidFill>
                  </a:tcPr>
                </a:tc>
                <a:extLst>
                  <a:ext uri="{0D108BD9-81ED-4DB2-BD59-A6C34878D82A}">
                    <a16:rowId xmlns:a16="http://schemas.microsoft.com/office/drawing/2014/main" val="10004"/>
                  </a:ext>
                </a:extLst>
              </a:tr>
              <a:tr h="0">
                <a:tc>
                  <a:txBody>
                    <a:bodyPr/>
                    <a:lstStyle/>
                    <a:p>
                      <a:pPr marL="0" indent="0" algn="l">
                        <a:buNone/>
                      </a:pPr>
                      <a:r>
                        <a:rPr lang="en-US" sz="1200" dirty="0">
                          <a:solidFill>
                            <a:srgbClr val="B4BCCB"/>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c>
                  <a:txBody>
                    <a:bodyPr/>
                    <a:lstStyle/>
                    <a:p>
                      <a:pPr marL="0" indent="0" algn="l">
                        <a:buNone/>
                      </a:pPr>
                      <a:r>
                        <a:rPr lang="en-US" sz="1200" dirty="0">
                          <a:solidFill>
                            <a:srgbClr val="F2F4F8"/>
                          </a:solidFill>
                          <a:latin typeface="Arial" pitchFamily="34" charset="0"/>
                          <a:ea typeface="Arial" pitchFamily="34" charset="-122"/>
                          <a:cs typeface="Arial" pitchFamily="34" charset="-120"/>
                        </a:rPr>
                        <a:t>是 shì</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c>
                  <a:txBody>
                    <a:bodyPr/>
                    <a:lstStyle/>
                    <a:p>
                      <a:pPr marL="0" indent="0" algn="l">
                        <a:buNone/>
                      </a:pPr>
                      <a:r>
                        <a:rPr lang="en-US" sz="1200" dirty="0">
                          <a:solidFill>
                            <a:srgbClr val="B4BCCB"/>
                          </a:solidFill>
                          <a:latin typeface="Arial" pitchFamily="34" charset="0"/>
                          <a:ea typeface="Arial" pitchFamily="34" charset="-122"/>
                          <a:cs typeface="Arial" pitchFamily="34" charset="-120"/>
                        </a:rPr>
                        <a:t>to be</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c>
                  <a:txBody>
                    <a:bodyPr/>
                    <a:lstStyle/>
                    <a:p>
                      <a:pPr marL="0" indent="0" algn="r">
                        <a:buNone/>
                      </a:pPr>
                      <a:r>
                        <a:rPr lang="en-US" sz="1200" dirty="0">
                          <a:solidFill>
                            <a:srgbClr val="F2F4F8"/>
                          </a:solidFill>
                          <a:latin typeface="Arial" pitchFamily="34" charset="0"/>
                          <a:ea typeface="Arial" pitchFamily="34" charset="-122"/>
                          <a:cs typeface="Arial" pitchFamily="34" charset="-120"/>
                        </a:rPr>
                        <a:t>417</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c>
                  <a:txBody>
                    <a:bodyPr/>
                    <a:lstStyle/>
                    <a:p>
                      <a:pPr marL="0" indent="0" algn="r">
                        <a:buNone/>
                      </a:pPr>
                      <a:r>
                        <a:rPr lang="en-US" sz="1200" dirty="0">
                          <a:solidFill>
                            <a:srgbClr val="B4BCCB"/>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lgn="l">
                        <a:buNone/>
                      </a:pPr>
                      <a:r>
                        <a:rPr lang="en-US" sz="1200" dirty="0">
                          <a:solidFill>
                            <a:srgbClr val="B4BCCB"/>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0D1118"/>
                    </a:solidFill>
                  </a:tcPr>
                </a:tc>
                <a:tc>
                  <a:txBody>
                    <a:bodyPr/>
                    <a:lstStyle/>
                    <a:p>
                      <a:pPr marL="0" indent="0" algn="l">
                        <a:buNone/>
                      </a:pPr>
                      <a:r>
                        <a:rPr lang="en-US" sz="1200" dirty="0">
                          <a:solidFill>
                            <a:srgbClr val="F2F4F8"/>
                          </a:solidFill>
                          <a:latin typeface="Arial" pitchFamily="34" charset="0"/>
                          <a:ea typeface="Arial" pitchFamily="34" charset="-122"/>
                          <a:cs typeface="Arial" pitchFamily="34" charset="-120"/>
                        </a:rPr>
                        <a:t>不 bù</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0D1118"/>
                    </a:solidFill>
                  </a:tcPr>
                </a:tc>
                <a:tc>
                  <a:txBody>
                    <a:bodyPr/>
                    <a:lstStyle/>
                    <a:p>
                      <a:pPr marL="0" indent="0" algn="l">
                        <a:buNone/>
                      </a:pPr>
                      <a:r>
                        <a:rPr lang="en-US" sz="1200" dirty="0">
                          <a:solidFill>
                            <a:srgbClr val="B4BCCB"/>
                          </a:solidFill>
                          <a:latin typeface="Arial" pitchFamily="34" charset="0"/>
                          <a:ea typeface="Arial" pitchFamily="34" charset="-122"/>
                          <a:cs typeface="Arial" pitchFamily="34" charset="-120"/>
                        </a:rPr>
                        <a:t>no, not</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0D1118"/>
                    </a:solidFill>
                  </a:tcPr>
                </a:tc>
                <a:tc>
                  <a:txBody>
                    <a:bodyPr/>
                    <a:lstStyle/>
                    <a:p>
                      <a:pPr marL="0" indent="0" algn="r">
                        <a:buNone/>
                      </a:pPr>
                      <a:r>
                        <a:rPr lang="en-US" sz="1200" dirty="0">
                          <a:solidFill>
                            <a:srgbClr val="F2F4F8"/>
                          </a:solidFill>
                          <a:latin typeface="Arial" pitchFamily="34" charset="0"/>
                          <a:ea typeface="Arial" pitchFamily="34" charset="-122"/>
                          <a:cs typeface="Arial" pitchFamily="34" charset="-120"/>
                        </a:rPr>
                        <a:t>376</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0D1118"/>
                    </a:solidFill>
                  </a:tcPr>
                </a:tc>
                <a:tc>
                  <a:txBody>
                    <a:bodyPr/>
                    <a:lstStyle/>
                    <a:p>
                      <a:pPr marL="0" indent="0" algn="r">
                        <a:buNone/>
                      </a:pPr>
                      <a:r>
                        <a:rPr lang="en-US" sz="1200" dirty="0">
                          <a:solidFill>
                            <a:srgbClr val="B4BCCB"/>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0D1118"/>
                    </a:solidFill>
                  </a:tcPr>
                </a:tc>
                <a:extLst>
                  <a:ext uri="{0D108BD9-81ED-4DB2-BD59-A6C34878D82A}">
                    <a16:rowId xmlns:a16="http://schemas.microsoft.com/office/drawing/2014/main" val="10006"/>
                  </a:ext>
                </a:extLst>
              </a:tr>
              <a:tr h="0">
                <a:tc>
                  <a:txBody>
                    <a:bodyPr/>
                    <a:lstStyle/>
                    <a:p>
                      <a:pPr marL="0" indent="0" algn="l">
                        <a:buNone/>
                      </a:pPr>
                      <a:r>
                        <a:rPr lang="en-US" sz="1200" dirty="0">
                          <a:solidFill>
                            <a:srgbClr val="B4BCCB"/>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c>
                  <a:txBody>
                    <a:bodyPr/>
                    <a:lstStyle/>
                    <a:p>
                      <a:pPr marL="0" indent="0" algn="l">
                        <a:buNone/>
                      </a:pPr>
                      <a:r>
                        <a:rPr lang="en-US" sz="1200" dirty="0">
                          <a:solidFill>
                            <a:srgbClr val="F2F4F8"/>
                          </a:solidFill>
                          <a:latin typeface="Arial" pitchFamily="34" charset="0"/>
                          <a:ea typeface="Arial" pitchFamily="34" charset="-122"/>
                          <a:cs typeface="Arial" pitchFamily="34" charset="-120"/>
                        </a:rPr>
                        <a:t>什么 shénme</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c>
                  <a:txBody>
                    <a:bodyPr/>
                    <a:lstStyle/>
                    <a:p>
                      <a:pPr marL="0" indent="0" algn="l">
                        <a:buNone/>
                      </a:pPr>
                      <a:r>
                        <a:rPr lang="en-US" sz="1200" dirty="0">
                          <a:solidFill>
                            <a:srgbClr val="B4BCCB"/>
                          </a:solidFill>
                          <a:latin typeface="Arial" pitchFamily="34" charset="0"/>
                          <a:ea typeface="Arial" pitchFamily="34" charset="-122"/>
                          <a:cs typeface="Arial" pitchFamily="34" charset="-120"/>
                        </a:rPr>
                        <a:t>what (word)</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c>
                  <a:txBody>
                    <a:bodyPr/>
                    <a:lstStyle/>
                    <a:p>
                      <a:pPr marL="0" indent="0" algn="r">
                        <a:buNone/>
                      </a:pPr>
                      <a:r>
                        <a:rPr lang="en-US" sz="1200" dirty="0">
                          <a:solidFill>
                            <a:srgbClr val="F2F4F8"/>
                          </a:solidFill>
                          <a:latin typeface="Arial" pitchFamily="34" charset="0"/>
                          <a:ea typeface="Arial" pitchFamily="34" charset="-122"/>
                          <a:cs typeface="Arial" pitchFamily="34" charset="-120"/>
                        </a:rPr>
                        <a:t>330</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c>
                  <a:txBody>
                    <a:bodyPr/>
                    <a:lstStyle/>
                    <a:p>
                      <a:pPr marL="0" indent="0" algn="r">
                        <a:buNone/>
                      </a:pPr>
                      <a:r>
                        <a:rPr lang="en-US" sz="1200" dirty="0">
                          <a:solidFill>
                            <a:srgbClr val="B4BCCB"/>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marL="0" indent="0" algn="l">
                        <a:buNone/>
                      </a:pPr>
                      <a:r>
                        <a:rPr lang="en-US" sz="1200" dirty="0">
                          <a:solidFill>
                            <a:srgbClr val="B4BCCB"/>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0D1118"/>
                    </a:solidFill>
                  </a:tcPr>
                </a:tc>
                <a:tc>
                  <a:txBody>
                    <a:bodyPr/>
                    <a:lstStyle/>
                    <a:p>
                      <a:pPr marL="0" indent="0" algn="l">
                        <a:buNone/>
                      </a:pPr>
                      <a:r>
                        <a:rPr lang="en-US" sz="1200" dirty="0">
                          <a:solidFill>
                            <a:srgbClr val="F2F4F8"/>
                          </a:solidFill>
                          <a:latin typeface="Arial" pitchFamily="34" charset="0"/>
                          <a:ea typeface="Arial" pitchFamily="34" charset="-122"/>
                          <a:cs typeface="Arial" pitchFamily="34" charset="-120"/>
                        </a:rPr>
                        <a:t>去 qù</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0D1118"/>
                    </a:solidFill>
                  </a:tcPr>
                </a:tc>
                <a:tc>
                  <a:txBody>
                    <a:bodyPr/>
                    <a:lstStyle/>
                    <a:p>
                      <a:pPr marL="0" indent="0" algn="l">
                        <a:buNone/>
                      </a:pPr>
                      <a:r>
                        <a:rPr lang="en-US" sz="1200" dirty="0">
                          <a:solidFill>
                            <a:srgbClr val="B4BCCB"/>
                          </a:solidFill>
                          <a:latin typeface="Arial" pitchFamily="34" charset="0"/>
                          <a:ea typeface="Arial" pitchFamily="34" charset="-122"/>
                          <a:cs typeface="Arial" pitchFamily="34" charset="-120"/>
                        </a:rPr>
                        <a:t>to go</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0D1118"/>
                    </a:solidFill>
                  </a:tcPr>
                </a:tc>
                <a:tc>
                  <a:txBody>
                    <a:bodyPr/>
                    <a:lstStyle/>
                    <a:p>
                      <a:pPr marL="0" indent="0" algn="r">
                        <a:buNone/>
                      </a:pPr>
                      <a:r>
                        <a:rPr lang="en-US" sz="1200" dirty="0">
                          <a:solidFill>
                            <a:srgbClr val="F2F4F8"/>
                          </a:solidFill>
                          <a:latin typeface="Arial" pitchFamily="34" charset="0"/>
                          <a:ea typeface="Arial" pitchFamily="34" charset="-122"/>
                          <a:cs typeface="Arial" pitchFamily="34" charset="-120"/>
                        </a:rPr>
                        <a:t>301</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0D1118"/>
                    </a:solidFill>
                  </a:tcPr>
                </a:tc>
                <a:tc>
                  <a:txBody>
                    <a:bodyPr/>
                    <a:lstStyle/>
                    <a:p>
                      <a:pPr marL="0" indent="0" algn="r">
                        <a:buNone/>
                      </a:pPr>
                      <a:r>
                        <a:rPr lang="en-US" sz="1200" dirty="0">
                          <a:solidFill>
                            <a:srgbClr val="B4BCCB"/>
                          </a:solidFill>
                          <a:latin typeface="Arial" pitchFamily="34" charset="0"/>
                          <a:ea typeface="Arial" pitchFamily="34" charset="-122"/>
                          <a:cs typeface="Arial" pitchFamily="34" charset="-120"/>
                        </a:rPr>
                        <a:t>below #10</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0D1118"/>
                    </a:solidFill>
                  </a:tcPr>
                </a:tc>
                <a:extLst>
                  <a:ext uri="{0D108BD9-81ED-4DB2-BD59-A6C34878D82A}">
                    <a16:rowId xmlns:a16="http://schemas.microsoft.com/office/drawing/2014/main" val="10008"/>
                  </a:ext>
                </a:extLst>
              </a:tr>
            </a:tbl>
          </a:graphicData>
        </a:graphic>
      </p:graphicFrame>
      <p:sp>
        <p:nvSpPr>
          <p:cNvPr id="6" name="Text 23"/>
          <p:cNvSpPr txBox="1"/>
          <p:nvPr/>
        </p:nvSpPr>
        <p:spPr>
          <a:xfrm>
            <a:off x="812810" y="5067330"/>
            <a:ext cx="5587990" cy="215890"/>
          </a:xfrm>
          <a:prstGeom prst="rect">
            <a:avLst/>
          </a:prstGeom>
          <a:noFill/>
          <a:ln/>
        </p:spPr>
        <p:txBody>
          <a:bodyPr wrap="square" lIns="0" tIns="0" rIns="0" bIns="0" rtlCol="0" anchor="t"/>
          <a:lstStyle/>
          <a:p>
            <a:pPr marL="0" indent="0">
              <a:buNone/>
            </a:pPr>
            <a:r>
              <a:rPr lang="en-US" sz="1200" dirty="0">
                <a:solidFill>
                  <a:srgbClr val="7C8699"/>
                </a:solidFill>
                <a:latin typeface="Arial" pitchFamily="34" charset="0"/>
                <a:ea typeface="Arial" pitchFamily="34" charset="-122"/>
                <a:cs typeface="Arial" pitchFamily="34" charset="-120"/>
              </a:rPr>
              <a:t>Betweenness sampled from 300 source nodes.</a:t>
            </a:r>
            <a:endParaRPr lang="en-US" sz="1200" dirty="0"/>
          </a:p>
        </p:txBody>
      </p:sp>
      <p:sp>
        <p:nvSpPr>
          <p:cNvPr id="7" name="Text 24"/>
          <p:cNvSpPr txBox="1"/>
          <p:nvPr/>
        </p:nvSpPr>
        <p:spPr>
          <a:xfrm>
            <a:off x="6756410" y="1835109"/>
            <a:ext cx="4622841" cy="254020"/>
          </a:xfrm>
          <a:prstGeom prst="rect">
            <a:avLst/>
          </a:prstGeom>
          <a:noFill/>
          <a:ln/>
        </p:spPr>
        <p:txBody>
          <a:bodyPr wrap="square" lIns="0" tIns="0" rIns="0" bIns="0" rtlCol="0" anchor="t"/>
          <a:lstStyle/>
          <a:p>
            <a:pPr marL="0" indent="0">
              <a:buNone/>
            </a:pPr>
            <a:r>
              <a:rPr lang="en-US" sz="1400" b="1" dirty="0">
                <a:solidFill>
                  <a:srgbClr val="F2F4F8"/>
                </a:solidFill>
                <a:latin typeface="Arial" pitchFamily="34" charset="0"/>
                <a:ea typeface="Arial" pitchFamily="34" charset="-122"/>
                <a:cs typeface="Arial" pitchFamily="34" charset="-120"/>
              </a:rPr>
              <a:t>Rank agreement with degree (Spearman ρ)</a:t>
            </a:r>
            <a:endParaRPr lang="en-US" sz="1400" dirty="0"/>
          </a:p>
        </p:txBody>
      </p:sp>
      <p:graphicFrame>
        <p:nvGraphicFramePr>
          <p:cNvPr id="5" name="Chart: rank agreement"/>
          <p:cNvGraphicFramePr/>
          <p:nvPr/>
        </p:nvGraphicFramePr>
        <p:xfrm>
          <a:off x="6654820" y="2089130"/>
          <a:ext cx="4724430" cy="1841510"/>
        </p:xfrm>
        <a:graphic>
          <a:graphicData uri="http://schemas.openxmlformats.org/drawingml/2006/chart">
            <c:chart xmlns:c="http://schemas.openxmlformats.org/drawingml/2006/chart" xmlns:r="http://schemas.openxmlformats.org/officeDocument/2006/relationships" r:id="rId3"/>
          </a:graphicData>
        </a:graphic>
      </p:graphicFrame>
      <p:sp>
        <p:nvSpPr>
          <p:cNvPr id="9" name="Core card"/>
          <p:cNvSpPr/>
          <p:nvPr/>
        </p:nvSpPr>
        <p:spPr>
          <a:xfrm>
            <a:off x="6756410" y="4159240"/>
            <a:ext cx="4622841" cy="1460480"/>
          </a:xfrm>
          <a:prstGeom prst="roundRect">
            <a:avLst>
              <a:gd name="adj" fmla="val 6956"/>
            </a:avLst>
          </a:prstGeom>
          <a:solidFill>
            <a:srgbClr val="10141C"/>
          </a:solidFill>
          <a:ln w="9525">
            <a:solidFill>
              <a:srgbClr val="262D3B"/>
            </a:solidFill>
            <a:prstDash val="solid"/>
          </a:ln>
        </p:spPr>
      </p:sp>
      <p:sp>
        <p:nvSpPr>
          <p:cNvPr id="10" name="Max core"/>
          <p:cNvSpPr txBox="1"/>
          <p:nvPr/>
        </p:nvSpPr>
        <p:spPr>
          <a:xfrm>
            <a:off x="6959590" y="4311670"/>
            <a:ext cx="4216390" cy="482620"/>
          </a:xfrm>
          <a:prstGeom prst="rect">
            <a:avLst/>
          </a:prstGeom>
          <a:noFill/>
          <a:ln/>
        </p:spPr>
        <p:txBody>
          <a:bodyPr wrap="square" lIns="0" tIns="0" rIns="0" bIns="0" rtlCol="0" anchor="t"/>
          <a:lstStyle/>
          <a:p>
            <a:pPr marL="0" indent="0">
              <a:buNone/>
            </a:pPr>
            <a:r>
              <a:rPr lang="en-US" sz="3200" b="1" dirty="0">
                <a:solidFill>
                  <a:srgbClr val="F2F4F8"/>
                </a:solidFill>
                <a:latin typeface="Consolas" pitchFamily="34" charset="0"/>
                <a:ea typeface="Consolas" pitchFamily="34" charset="-122"/>
                <a:cs typeface="Consolas" pitchFamily="34" charset="-120"/>
              </a:rPr>
              <a:t>k = 9</a:t>
            </a:r>
            <a:endParaRPr lang="en-US" sz="3200" dirty="0"/>
          </a:p>
        </p:txBody>
      </p:sp>
      <p:sp>
        <p:nvSpPr>
          <p:cNvPr id="11" name="Text 25"/>
          <p:cNvSpPr txBox="1"/>
          <p:nvPr/>
        </p:nvSpPr>
        <p:spPr>
          <a:xfrm>
            <a:off x="6959590" y="4845040"/>
            <a:ext cx="4216390" cy="634959"/>
          </a:xfrm>
          <a:prstGeom prst="rect">
            <a:avLst/>
          </a:prstGeom>
          <a:noFill/>
          <a:ln/>
        </p:spPr>
        <p:txBody>
          <a:bodyPr wrap="square" lIns="0" tIns="0" rIns="0" bIns="0" rtlCol="0" anchor="t"/>
          <a:lstStyle/>
          <a:p>
            <a:pPr marL="0" indent="0">
              <a:lnSpc>
                <a:spcPct val="120000"/>
              </a:lnSpc>
              <a:buNone/>
            </a:pPr>
            <a:r>
              <a:rPr lang="en-US" sz="1200" dirty="0">
                <a:solidFill>
                  <a:srgbClr val="B4BCCB"/>
                </a:solidFill>
                <a:latin typeface="Arial" pitchFamily="34" charset="0"/>
                <a:ea typeface="Arial" pitchFamily="34" charset="-122"/>
                <a:cs typeface="Arial" pitchFamily="34" charset="-120"/>
              </a:rPr>
              <a:t>The innermost core holds 1,398 nodes (26%): all 50 lessons, 931 sentences, 192 characters, 171 words and 45 grammar points.</a:t>
            </a:r>
            <a:endParaRPr lang="en-US" sz="1200" dirty="0"/>
          </a:p>
        </p:txBody>
      </p:sp>
      <p:sp>
        <p:nvSpPr>
          <p:cNvPr id="25" name="Slide Number Placeholder 0"/>
          <p:cNvSpPr>
            <a:spLocks noGrp="1"/>
          </p:cNvSpPr>
          <p:nvPr>
            <p:ph type="sldNum" sz="quarter" idx="4294967295"/>
          </p:nvPr>
        </p:nvSpPr>
        <p:spPr>
          <a:xfrm>
            <a:off x="10109241" y="6235659"/>
            <a:ext cx="1270010" cy="21589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7C8699"/>
                </a:solidFill>
                <a:latin typeface="Consolas"/>
                <a:ea typeface="Consolas"/>
                <a:cs typeface="Consolas"/>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812810" y="1104870"/>
            <a:ext cx="10566441" cy="469910"/>
          </a:xfrm>
          <a:prstGeom prst="rect">
            <a:avLst/>
          </a:prstGeom>
          <a:noFill/>
          <a:ln/>
        </p:spPr>
        <p:txBody>
          <a:bodyPr wrap="square" lIns="0" tIns="0" rIns="0" bIns="0" rtlCol="0" anchor="t"/>
          <a:lstStyle/>
          <a:p>
            <a:pPr marL="0" indent="0" algn="l">
              <a:buNone/>
            </a:pPr>
            <a:r>
              <a:rPr lang="en-US" sz="3200" b="1" dirty="0">
                <a:solidFill>
                  <a:srgbClr val="F2F4F8"/>
                </a:solidFill>
                <a:latin typeface="Arial" pitchFamily="34" charset="0"/>
                <a:ea typeface="Arial" pitchFamily="34" charset="-122"/>
                <a:cs typeface="Arial" pitchFamily="34" charset="-120"/>
              </a:rPr>
              <a:t>Communities follow lessons, not levels</a:t>
            </a:r>
            <a:endParaRPr lang="en-US" sz="3200" dirty="0"/>
          </a:p>
        </p:txBody>
      </p:sp>
      <p:sp>
        <p:nvSpPr>
          <p:cNvPr id="3" name="Eyebrow"/>
          <p:cNvSpPr txBox="1"/>
          <p:nvPr/>
        </p:nvSpPr>
        <p:spPr>
          <a:xfrm>
            <a:off x="812810" y="812810"/>
            <a:ext cx="10566441" cy="215890"/>
          </a:xfrm>
          <a:prstGeom prst="rect">
            <a:avLst/>
          </a:prstGeom>
          <a:noFill/>
          <a:ln/>
        </p:spPr>
        <p:txBody>
          <a:bodyPr wrap="square" lIns="0" tIns="0" rIns="0" bIns="0" rtlCol="0" anchor="ctr"/>
          <a:lstStyle/>
          <a:p>
            <a:pPr marL="0" indent="0">
              <a:buNone/>
            </a:pPr>
            <a:r>
              <a:rPr lang="en-US" sz="1200" kern="0" spc="150" dirty="0">
                <a:solidFill>
                  <a:srgbClr val="3987E5"/>
                </a:solidFill>
                <a:latin typeface="Consolas" pitchFamily="34" charset="0"/>
                <a:ea typeface="Consolas" pitchFamily="34" charset="-122"/>
                <a:cs typeface="Consolas" pitchFamily="34" charset="-120"/>
              </a:rPr>
              <a:t>04 · RESULTS · COMMUNITIES</a:t>
            </a:r>
            <a:endParaRPr lang="en-US" sz="1200" dirty="0"/>
          </a:p>
        </p:txBody>
      </p:sp>
      <p:pic>
        <p:nvPicPr>
          <p:cNvPr id="4" name="Network render, top view" descr="Top view of the 3D network layout; each of the eight communities occupies its own region in its own colour"/>
          <p:cNvPicPr>
            <a:picLocks noChangeAspect="1"/>
          </p:cNvPicPr>
          <p:nvPr/>
        </p:nvPicPr>
        <p:blipFill>
          <a:blip r:embed="rId3"/>
          <a:stretch>
            <a:fillRect/>
          </a:stretch>
        </p:blipFill>
        <p:spPr>
          <a:xfrm>
            <a:off x="812810" y="1835109"/>
            <a:ext cx="3047970" cy="2216140"/>
          </a:xfrm>
          <a:prstGeom prst="rect">
            <a:avLst/>
          </a:prstGeom>
        </p:spPr>
      </p:pic>
      <p:sp>
        <p:nvSpPr>
          <p:cNvPr id="5" name="Render frame"/>
          <p:cNvSpPr/>
          <p:nvPr/>
        </p:nvSpPr>
        <p:spPr>
          <a:xfrm>
            <a:off x="812810" y="1835109"/>
            <a:ext cx="3047970" cy="2216140"/>
          </a:xfrm>
          <a:prstGeom prst="rect">
            <a:avLst/>
          </a:prstGeom>
          <a:ln w="9525">
            <a:solidFill>
              <a:srgbClr val="262D3B"/>
            </a:solidFill>
            <a:prstDash val="solid"/>
          </a:ln>
        </p:spPr>
      </p:sp>
      <p:sp>
        <p:nvSpPr>
          <p:cNvPr id="6" name="Metric 32 communities"/>
          <p:cNvSpPr/>
          <p:nvPr/>
        </p:nvSpPr>
        <p:spPr>
          <a:xfrm>
            <a:off x="812810" y="4203680"/>
            <a:ext cx="1485900" cy="717530"/>
          </a:xfrm>
          <a:prstGeom prst="roundRect">
            <a:avLst>
              <a:gd name="adj" fmla="val 14158"/>
            </a:avLst>
          </a:prstGeom>
          <a:solidFill>
            <a:srgbClr val="10141C"/>
          </a:solidFill>
          <a:ln w="9525">
            <a:solidFill>
              <a:srgbClr val="262D3B"/>
            </a:solidFill>
            <a:prstDash val="solid"/>
          </a:ln>
        </p:spPr>
      </p:sp>
      <p:sp>
        <p:nvSpPr>
          <p:cNvPr id="7" name="Text 26"/>
          <p:cNvSpPr txBox="1"/>
          <p:nvPr/>
        </p:nvSpPr>
        <p:spPr>
          <a:xfrm>
            <a:off x="939820" y="4292559"/>
            <a:ext cx="1270010" cy="304770"/>
          </a:xfrm>
          <a:prstGeom prst="rect">
            <a:avLst/>
          </a:prstGeom>
          <a:noFill/>
          <a:ln/>
        </p:spPr>
        <p:txBody>
          <a:bodyPr wrap="square" lIns="0" tIns="0" rIns="0" bIns="0" rtlCol="0" anchor="t"/>
          <a:lstStyle/>
          <a:p>
            <a:pPr marL="0" indent="0">
              <a:buNone/>
            </a:pPr>
            <a:r>
              <a:rPr lang="en-US" sz="1800" b="1" dirty="0">
                <a:solidFill>
                  <a:srgbClr val="F2F4F8"/>
                </a:solidFill>
                <a:latin typeface="Consolas" pitchFamily="34" charset="0"/>
                <a:ea typeface="Consolas" pitchFamily="34" charset="-122"/>
                <a:cs typeface="Consolas" pitchFamily="34" charset="-120"/>
              </a:rPr>
              <a:t>Q = 0.38</a:t>
            </a:r>
            <a:endParaRPr lang="en-US" sz="1800" dirty="0"/>
          </a:p>
        </p:txBody>
      </p:sp>
      <p:sp>
        <p:nvSpPr>
          <p:cNvPr id="8" name="Text 27"/>
          <p:cNvSpPr txBox="1"/>
          <p:nvPr/>
        </p:nvSpPr>
        <p:spPr>
          <a:xfrm>
            <a:off x="939820" y="4610130"/>
            <a:ext cx="1270010" cy="215890"/>
          </a:xfrm>
          <a:prstGeom prst="rect">
            <a:avLst/>
          </a:prstGeom>
          <a:noFill/>
          <a:ln/>
        </p:spPr>
        <p:txBody>
          <a:bodyPr wrap="square" lIns="0" tIns="0" rIns="0" bIns="0" rtlCol="0" anchor="t"/>
          <a:lstStyle/>
          <a:p>
            <a:pPr marL="0" indent="0">
              <a:buNone/>
            </a:pPr>
            <a:r>
              <a:rPr lang="en-US" sz="1200" dirty="0">
                <a:solidFill>
                  <a:srgbClr val="7C8699"/>
                </a:solidFill>
                <a:latin typeface="Arial" pitchFamily="34" charset="0"/>
                <a:ea typeface="Arial" pitchFamily="34" charset="-122"/>
                <a:cs typeface="Arial" pitchFamily="34" charset="-120"/>
              </a:rPr>
              <a:t>32 communities</a:t>
            </a:r>
            <a:endParaRPr lang="en-US" sz="1200" dirty="0"/>
          </a:p>
        </p:txBody>
      </p:sp>
      <p:sp>
        <p:nvSpPr>
          <p:cNvPr id="9" name="Metric merged into 8"/>
          <p:cNvSpPr/>
          <p:nvPr/>
        </p:nvSpPr>
        <p:spPr>
          <a:xfrm>
            <a:off x="2374880" y="4203680"/>
            <a:ext cx="1485900" cy="717530"/>
          </a:xfrm>
          <a:prstGeom prst="roundRect">
            <a:avLst>
              <a:gd name="adj" fmla="val 14158"/>
            </a:avLst>
          </a:prstGeom>
          <a:solidFill>
            <a:srgbClr val="10141C"/>
          </a:solidFill>
          <a:ln w="9525">
            <a:solidFill>
              <a:srgbClr val="262D3B"/>
            </a:solidFill>
            <a:prstDash val="solid"/>
          </a:ln>
        </p:spPr>
      </p:sp>
      <p:sp>
        <p:nvSpPr>
          <p:cNvPr id="10" name="Text 28"/>
          <p:cNvSpPr txBox="1"/>
          <p:nvPr/>
        </p:nvSpPr>
        <p:spPr>
          <a:xfrm>
            <a:off x="2501890" y="4292559"/>
            <a:ext cx="1270010" cy="304770"/>
          </a:xfrm>
          <a:prstGeom prst="rect">
            <a:avLst/>
          </a:prstGeom>
          <a:noFill/>
          <a:ln/>
        </p:spPr>
        <p:txBody>
          <a:bodyPr wrap="square" lIns="0" tIns="0" rIns="0" bIns="0" rtlCol="0" anchor="t"/>
          <a:lstStyle/>
          <a:p>
            <a:pPr marL="0" indent="0">
              <a:buNone/>
            </a:pPr>
            <a:r>
              <a:rPr lang="en-US" sz="1800" b="1" dirty="0">
                <a:solidFill>
                  <a:srgbClr val="F2F4F8"/>
                </a:solidFill>
                <a:latin typeface="Consolas" pitchFamily="34" charset="0"/>
                <a:ea typeface="Consolas" pitchFamily="34" charset="-122"/>
                <a:cs typeface="Consolas" pitchFamily="34" charset="-120"/>
              </a:rPr>
              <a:t>Q = 0.36</a:t>
            </a:r>
            <a:endParaRPr lang="en-US" sz="1800" dirty="0"/>
          </a:p>
        </p:txBody>
      </p:sp>
      <p:sp>
        <p:nvSpPr>
          <p:cNvPr id="11" name="Text 29"/>
          <p:cNvSpPr txBox="1"/>
          <p:nvPr/>
        </p:nvSpPr>
        <p:spPr>
          <a:xfrm>
            <a:off x="2501890" y="4610130"/>
            <a:ext cx="1270010" cy="215890"/>
          </a:xfrm>
          <a:prstGeom prst="rect">
            <a:avLst/>
          </a:prstGeom>
          <a:noFill/>
          <a:ln/>
        </p:spPr>
        <p:txBody>
          <a:bodyPr wrap="square" lIns="0" tIns="0" rIns="0" bIns="0" rtlCol="0" anchor="t"/>
          <a:lstStyle/>
          <a:p>
            <a:pPr marL="0" indent="0">
              <a:buNone/>
            </a:pPr>
            <a:r>
              <a:rPr lang="en-US" sz="1200" dirty="0">
                <a:solidFill>
                  <a:srgbClr val="7C8699"/>
                </a:solidFill>
                <a:latin typeface="Arial" pitchFamily="34" charset="0"/>
                <a:ea typeface="Arial" pitchFamily="34" charset="-122"/>
                <a:cs typeface="Arial" pitchFamily="34" charset="-120"/>
              </a:rPr>
              <a:t>merged into 8</a:t>
            </a:r>
            <a:endParaRPr lang="en-US" sz="1200" dirty="0"/>
          </a:p>
        </p:txBody>
      </p:sp>
      <p:sp>
        <p:nvSpPr>
          <p:cNvPr id="12" name="Metric NMI with lesson"/>
          <p:cNvSpPr/>
          <p:nvPr/>
        </p:nvSpPr>
        <p:spPr>
          <a:xfrm>
            <a:off x="812810" y="4997470"/>
            <a:ext cx="1485900" cy="717530"/>
          </a:xfrm>
          <a:prstGeom prst="roundRect">
            <a:avLst>
              <a:gd name="adj" fmla="val 14158"/>
            </a:avLst>
          </a:prstGeom>
          <a:solidFill>
            <a:srgbClr val="10141C"/>
          </a:solidFill>
          <a:ln w="9525">
            <a:solidFill>
              <a:srgbClr val="262D3B"/>
            </a:solidFill>
            <a:prstDash val="solid"/>
          </a:ln>
        </p:spPr>
      </p:sp>
      <p:sp>
        <p:nvSpPr>
          <p:cNvPr id="13" name="Text 30"/>
          <p:cNvSpPr txBox="1"/>
          <p:nvPr/>
        </p:nvSpPr>
        <p:spPr>
          <a:xfrm>
            <a:off x="939820" y="5086350"/>
            <a:ext cx="1270010" cy="304770"/>
          </a:xfrm>
          <a:prstGeom prst="rect">
            <a:avLst/>
          </a:prstGeom>
          <a:noFill/>
          <a:ln/>
        </p:spPr>
        <p:txBody>
          <a:bodyPr wrap="square" lIns="0" tIns="0" rIns="0" bIns="0" rtlCol="0" anchor="t"/>
          <a:lstStyle/>
          <a:p>
            <a:pPr marL="0" indent="0">
              <a:buNone/>
            </a:pPr>
            <a:r>
              <a:rPr lang="en-US" sz="1800" b="1" dirty="0">
                <a:solidFill>
                  <a:srgbClr val="F2F4F8"/>
                </a:solidFill>
                <a:latin typeface="Consolas" pitchFamily="34" charset="0"/>
                <a:ea typeface="Consolas" pitchFamily="34" charset="-122"/>
                <a:cs typeface="Consolas" pitchFamily="34" charset="-120"/>
              </a:rPr>
              <a:t>0.39</a:t>
            </a:r>
            <a:endParaRPr lang="en-US" sz="1800" dirty="0"/>
          </a:p>
        </p:txBody>
      </p:sp>
      <p:sp>
        <p:nvSpPr>
          <p:cNvPr id="14" name="Text 31"/>
          <p:cNvSpPr txBox="1"/>
          <p:nvPr/>
        </p:nvSpPr>
        <p:spPr>
          <a:xfrm>
            <a:off x="939820" y="5403830"/>
            <a:ext cx="1270010" cy="215890"/>
          </a:xfrm>
          <a:prstGeom prst="rect">
            <a:avLst/>
          </a:prstGeom>
          <a:noFill/>
          <a:ln/>
        </p:spPr>
        <p:txBody>
          <a:bodyPr wrap="square" lIns="0" tIns="0" rIns="0" bIns="0" rtlCol="0" anchor="t"/>
          <a:lstStyle/>
          <a:p>
            <a:pPr marL="0" indent="0">
              <a:buNone/>
            </a:pPr>
            <a:r>
              <a:rPr lang="en-US" sz="1200" dirty="0">
                <a:solidFill>
                  <a:srgbClr val="7C8699"/>
                </a:solidFill>
                <a:latin typeface="Arial" pitchFamily="34" charset="0"/>
                <a:ea typeface="Arial" pitchFamily="34" charset="-122"/>
                <a:cs typeface="Arial" pitchFamily="34" charset="-120"/>
              </a:rPr>
              <a:t>NMI with lesson</a:t>
            </a:r>
            <a:endParaRPr lang="en-US" sz="1200" dirty="0"/>
          </a:p>
        </p:txBody>
      </p:sp>
      <p:sp>
        <p:nvSpPr>
          <p:cNvPr id="15" name="Metric NMI with level"/>
          <p:cNvSpPr/>
          <p:nvPr/>
        </p:nvSpPr>
        <p:spPr>
          <a:xfrm>
            <a:off x="2374880" y="4997470"/>
            <a:ext cx="1485900" cy="717530"/>
          </a:xfrm>
          <a:prstGeom prst="roundRect">
            <a:avLst>
              <a:gd name="adj" fmla="val 14158"/>
            </a:avLst>
          </a:prstGeom>
          <a:solidFill>
            <a:srgbClr val="10141C"/>
          </a:solidFill>
          <a:ln w="9525">
            <a:solidFill>
              <a:srgbClr val="262D3B"/>
            </a:solidFill>
            <a:prstDash val="solid"/>
          </a:ln>
        </p:spPr>
      </p:sp>
      <p:sp>
        <p:nvSpPr>
          <p:cNvPr id="16" name="Text 32"/>
          <p:cNvSpPr txBox="1"/>
          <p:nvPr/>
        </p:nvSpPr>
        <p:spPr>
          <a:xfrm>
            <a:off x="2501890" y="5086350"/>
            <a:ext cx="1270010" cy="304770"/>
          </a:xfrm>
          <a:prstGeom prst="rect">
            <a:avLst/>
          </a:prstGeom>
          <a:noFill/>
          <a:ln/>
        </p:spPr>
        <p:txBody>
          <a:bodyPr wrap="square" lIns="0" tIns="0" rIns="0" bIns="0" rtlCol="0" anchor="t"/>
          <a:lstStyle/>
          <a:p>
            <a:pPr marL="0" indent="0">
              <a:buNone/>
            </a:pPr>
            <a:r>
              <a:rPr lang="en-US" sz="1800" b="1" dirty="0">
                <a:solidFill>
                  <a:srgbClr val="F2F4F8"/>
                </a:solidFill>
                <a:latin typeface="Consolas" pitchFamily="34" charset="0"/>
                <a:ea typeface="Consolas" pitchFamily="34" charset="-122"/>
                <a:cs typeface="Consolas" pitchFamily="34" charset="-120"/>
              </a:rPr>
              <a:t>0.10</a:t>
            </a:r>
            <a:endParaRPr lang="en-US" sz="1800" dirty="0"/>
          </a:p>
        </p:txBody>
      </p:sp>
      <p:sp>
        <p:nvSpPr>
          <p:cNvPr id="17" name="Text 33"/>
          <p:cNvSpPr txBox="1"/>
          <p:nvPr/>
        </p:nvSpPr>
        <p:spPr>
          <a:xfrm>
            <a:off x="2501890" y="5403830"/>
            <a:ext cx="1270010" cy="215890"/>
          </a:xfrm>
          <a:prstGeom prst="rect">
            <a:avLst/>
          </a:prstGeom>
          <a:noFill/>
          <a:ln/>
        </p:spPr>
        <p:txBody>
          <a:bodyPr wrap="square" lIns="0" tIns="0" rIns="0" bIns="0" rtlCol="0" anchor="t"/>
          <a:lstStyle/>
          <a:p>
            <a:pPr marL="0" indent="0">
              <a:buNone/>
            </a:pPr>
            <a:r>
              <a:rPr lang="en-US" sz="1200" dirty="0">
                <a:solidFill>
                  <a:srgbClr val="7C8699"/>
                </a:solidFill>
                <a:latin typeface="Arial" pitchFamily="34" charset="0"/>
                <a:ea typeface="Arial" pitchFamily="34" charset="-122"/>
                <a:cs typeface="Arial" pitchFamily="34" charset="-120"/>
              </a:rPr>
              <a:t>NMI with level</a:t>
            </a:r>
            <a:endParaRPr lang="en-US" sz="1200" dirty="0"/>
          </a:p>
        </p:txBody>
      </p:sp>
      <p:sp>
        <p:nvSpPr>
          <p:cNvPr id="18" name="Text 34"/>
          <p:cNvSpPr txBox="1"/>
          <p:nvPr/>
        </p:nvSpPr>
        <p:spPr>
          <a:xfrm>
            <a:off x="4216390" y="1835109"/>
            <a:ext cx="2984510" cy="215890"/>
          </a:xfrm>
          <a:prstGeom prst="rect">
            <a:avLst/>
          </a:prstGeom>
          <a:noFill/>
          <a:ln/>
        </p:spPr>
        <p:txBody>
          <a:bodyPr wrap="square" lIns="0" tIns="0" rIns="0" bIns="0" rtlCol="0" anchor="ctr"/>
          <a:lstStyle/>
          <a:p>
            <a:pPr marL="0" indent="0">
              <a:buNone/>
            </a:pPr>
            <a:r>
              <a:rPr lang="en-US" sz="1200" dirty="0">
                <a:solidFill>
                  <a:srgbClr val="7C8699"/>
                </a:solidFill>
                <a:latin typeface="Arial" pitchFamily="34" charset="0"/>
                <a:ea typeface="Arial" pitchFamily="34" charset="-122"/>
                <a:cs typeface="Arial" pitchFamily="34" charset="-120"/>
              </a:rPr>
              <a:t>Major community and its hubs</a:t>
            </a:r>
            <a:endParaRPr lang="en-US" sz="1200" dirty="0"/>
          </a:p>
        </p:txBody>
      </p:sp>
      <p:sp>
        <p:nvSpPr>
          <p:cNvPr id="19" name="Text 35"/>
          <p:cNvSpPr txBox="1"/>
          <p:nvPr/>
        </p:nvSpPr>
        <p:spPr>
          <a:xfrm>
            <a:off x="7302490" y="1835109"/>
            <a:ext cx="634959" cy="215890"/>
          </a:xfrm>
          <a:prstGeom prst="rect">
            <a:avLst/>
          </a:prstGeom>
          <a:noFill/>
          <a:ln/>
        </p:spPr>
        <p:txBody>
          <a:bodyPr wrap="square" lIns="0" tIns="0" rIns="0" bIns="0" rtlCol="0" anchor="ctr"/>
          <a:lstStyle/>
          <a:p>
            <a:pPr marL="0" indent="0" algn="r">
              <a:buNone/>
            </a:pPr>
            <a:r>
              <a:rPr lang="en-US" sz="1200" dirty="0">
                <a:solidFill>
                  <a:srgbClr val="7C8699"/>
                </a:solidFill>
                <a:latin typeface="Arial" pitchFamily="34" charset="0"/>
                <a:ea typeface="Arial" pitchFamily="34" charset="-122"/>
                <a:cs typeface="Arial" pitchFamily="34" charset="-120"/>
              </a:rPr>
              <a:t>Nodes</a:t>
            </a:r>
            <a:endParaRPr lang="en-US" sz="1200" dirty="0"/>
          </a:p>
        </p:txBody>
      </p:sp>
      <p:sp>
        <p:nvSpPr>
          <p:cNvPr id="20" name="Level swatch HSK 1"/>
          <p:cNvSpPr/>
          <p:nvPr/>
        </p:nvSpPr>
        <p:spPr>
          <a:xfrm>
            <a:off x="8089880" y="1892259"/>
            <a:ext cx="101590" cy="101590"/>
          </a:xfrm>
          <a:prstGeom prst="roundRect">
            <a:avLst>
              <a:gd name="adj" fmla="val 25022"/>
            </a:avLst>
          </a:prstGeom>
          <a:solidFill>
            <a:srgbClr val="C6DCF7"/>
          </a:solidFill>
          <a:ln w="12700">
            <a:solidFill>
              <a:srgbClr val="C6DCF7"/>
            </a:solidFill>
            <a:prstDash val="solid"/>
          </a:ln>
        </p:spPr>
      </p:sp>
      <p:sp>
        <p:nvSpPr>
          <p:cNvPr id="21" name="Text 36"/>
          <p:cNvSpPr txBox="1"/>
          <p:nvPr/>
        </p:nvSpPr>
        <p:spPr>
          <a:xfrm>
            <a:off x="8242310" y="1835109"/>
            <a:ext cx="698510" cy="215890"/>
          </a:xfrm>
          <a:prstGeom prst="rect">
            <a:avLst/>
          </a:prstGeom>
          <a:noFill/>
          <a:ln/>
        </p:spPr>
        <p:txBody>
          <a:bodyPr wrap="square" lIns="0" tIns="0" rIns="0" bIns="0" rtlCol="0" anchor="ctr"/>
          <a:lstStyle/>
          <a:p>
            <a:pPr marL="0" indent="0">
              <a:buNone/>
            </a:pPr>
            <a:r>
              <a:rPr lang="en-US" sz="1200" dirty="0">
                <a:solidFill>
                  <a:srgbClr val="B4BCCB"/>
                </a:solidFill>
                <a:latin typeface="Arial" pitchFamily="34" charset="0"/>
                <a:ea typeface="Arial" pitchFamily="34" charset="-122"/>
                <a:cs typeface="Arial" pitchFamily="34" charset="-120"/>
              </a:rPr>
              <a:t>HSK 1</a:t>
            </a:r>
            <a:endParaRPr lang="en-US" sz="1200" dirty="0"/>
          </a:p>
        </p:txBody>
      </p:sp>
      <p:sp>
        <p:nvSpPr>
          <p:cNvPr id="22" name="Level swatch HSK 2"/>
          <p:cNvSpPr/>
          <p:nvPr/>
        </p:nvSpPr>
        <p:spPr>
          <a:xfrm>
            <a:off x="9042410" y="1892259"/>
            <a:ext cx="101590" cy="101590"/>
          </a:xfrm>
          <a:prstGeom prst="roundRect">
            <a:avLst>
              <a:gd name="adj" fmla="val 25022"/>
            </a:avLst>
          </a:prstGeom>
          <a:solidFill>
            <a:srgbClr val="6AA5EE"/>
          </a:solidFill>
          <a:ln w="12700">
            <a:solidFill>
              <a:srgbClr val="6AA5EE"/>
            </a:solidFill>
            <a:prstDash val="solid"/>
          </a:ln>
        </p:spPr>
      </p:sp>
      <p:sp>
        <p:nvSpPr>
          <p:cNvPr id="23" name="Text 37"/>
          <p:cNvSpPr txBox="1"/>
          <p:nvPr/>
        </p:nvSpPr>
        <p:spPr>
          <a:xfrm>
            <a:off x="9194841" y="1835109"/>
            <a:ext cx="698510" cy="215890"/>
          </a:xfrm>
          <a:prstGeom prst="rect">
            <a:avLst/>
          </a:prstGeom>
          <a:noFill/>
          <a:ln/>
        </p:spPr>
        <p:txBody>
          <a:bodyPr wrap="square" lIns="0" tIns="0" rIns="0" bIns="0" rtlCol="0" anchor="ctr"/>
          <a:lstStyle/>
          <a:p>
            <a:pPr marL="0" indent="0">
              <a:buNone/>
            </a:pPr>
            <a:r>
              <a:rPr lang="en-US" sz="1200" dirty="0">
                <a:solidFill>
                  <a:srgbClr val="B4BCCB"/>
                </a:solidFill>
                <a:latin typeface="Arial" pitchFamily="34" charset="0"/>
                <a:ea typeface="Arial" pitchFamily="34" charset="-122"/>
                <a:cs typeface="Arial" pitchFamily="34" charset="-120"/>
              </a:rPr>
              <a:t>HSK 2</a:t>
            </a:r>
            <a:endParaRPr lang="en-US" sz="1200" dirty="0"/>
          </a:p>
        </p:txBody>
      </p:sp>
      <p:sp>
        <p:nvSpPr>
          <p:cNvPr id="24" name="Level swatch HSK 3"/>
          <p:cNvSpPr/>
          <p:nvPr/>
        </p:nvSpPr>
        <p:spPr>
          <a:xfrm>
            <a:off x="9994941" y="1892259"/>
            <a:ext cx="101590" cy="101590"/>
          </a:xfrm>
          <a:prstGeom prst="roundRect">
            <a:avLst>
              <a:gd name="adj" fmla="val 25022"/>
            </a:avLst>
          </a:prstGeom>
          <a:solidFill>
            <a:srgbClr val="2F6FC0"/>
          </a:solidFill>
          <a:ln w="12700">
            <a:solidFill>
              <a:srgbClr val="2F6FC0"/>
            </a:solidFill>
            <a:prstDash val="solid"/>
          </a:ln>
        </p:spPr>
      </p:sp>
      <p:sp>
        <p:nvSpPr>
          <p:cNvPr id="25" name="Text 38"/>
          <p:cNvSpPr txBox="1"/>
          <p:nvPr/>
        </p:nvSpPr>
        <p:spPr>
          <a:xfrm>
            <a:off x="10147280" y="1835109"/>
            <a:ext cx="698510" cy="215890"/>
          </a:xfrm>
          <a:prstGeom prst="rect">
            <a:avLst/>
          </a:prstGeom>
          <a:noFill/>
          <a:ln/>
        </p:spPr>
        <p:txBody>
          <a:bodyPr wrap="square" lIns="0" tIns="0" rIns="0" bIns="0" rtlCol="0" anchor="ctr"/>
          <a:lstStyle/>
          <a:p>
            <a:pPr marL="0" indent="0">
              <a:buNone/>
            </a:pPr>
            <a:r>
              <a:rPr lang="en-US" sz="1200" dirty="0">
                <a:solidFill>
                  <a:srgbClr val="B4BCCB"/>
                </a:solidFill>
                <a:latin typeface="Arial" pitchFamily="34" charset="0"/>
                <a:ea typeface="Arial" pitchFamily="34" charset="-122"/>
                <a:cs typeface="Arial" pitchFamily="34" charset="-120"/>
              </a:rPr>
              <a:t>HSK 3</a:t>
            </a:r>
            <a:endParaRPr lang="en-US" sz="1200" dirty="0"/>
          </a:p>
        </p:txBody>
      </p:sp>
      <p:sp>
        <p:nvSpPr>
          <p:cNvPr id="26" name="Community colour 1"/>
          <p:cNvSpPr/>
          <p:nvPr/>
        </p:nvSpPr>
        <p:spPr>
          <a:xfrm>
            <a:off x="4216390" y="2241560"/>
            <a:ext cx="101590" cy="101590"/>
          </a:xfrm>
          <a:prstGeom prst="ellipse">
            <a:avLst/>
          </a:prstGeom>
          <a:solidFill>
            <a:srgbClr val="3987E5"/>
          </a:solidFill>
          <a:ln w="12700">
            <a:solidFill>
              <a:srgbClr val="3987E5"/>
            </a:solidFill>
            <a:prstDash val="solid"/>
          </a:ln>
        </p:spPr>
      </p:sp>
      <p:sp>
        <p:nvSpPr>
          <p:cNvPr id="27" name="Community 1"/>
          <p:cNvSpPr txBox="1"/>
          <p:nvPr/>
        </p:nvSpPr>
        <p:spPr>
          <a:xfrm>
            <a:off x="4406859" y="2184410"/>
            <a:ext cx="2794041" cy="215890"/>
          </a:xfrm>
          <a:prstGeom prst="rect">
            <a:avLst/>
          </a:prstGeom>
          <a:noFill/>
          <a:ln/>
        </p:spPr>
        <p:txBody>
          <a:bodyPr wrap="square" lIns="0" tIns="0" rIns="0" bIns="0" rtlCol="0" anchor="ctr"/>
          <a:lstStyle/>
          <a:p>
            <a:pPr marL="0" indent="0">
              <a:buNone/>
            </a:pPr>
            <a:r>
              <a:rPr lang="en-US" sz="1200" dirty="0">
                <a:solidFill>
                  <a:srgbClr val="F2F4F8"/>
                </a:solidFill>
                <a:latin typeface="Arial" pitchFamily="34" charset="0"/>
                <a:ea typeface="Arial" pitchFamily="34" charset="-122"/>
                <a:cs typeface="Arial" pitchFamily="34" charset="-120"/>
              </a:rPr>
              <a:t>Pointing and wanting  </a:t>
            </a:r>
            <a:r>
              <a:rPr lang="en-US" sz="1200" dirty="0">
                <a:solidFill>
                  <a:srgbClr val="7C8699"/>
                </a:solidFill>
                <a:latin typeface="Arial" pitchFamily="34" charset="0"/>
                <a:ea typeface="Arial" pitchFamily="34" charset="-122"/>
                <a:cs typeface="Arial" pitchFamily="34" charset="-120"/>
              </a:rPr>
              <a:t>个 这 那</a:t>
            </a:r>
            <a:endParaRPr lang="en-US" sz="1200" dirty="0"/>
          </a:p>
        </p:txBody>
      </p:sp>
      <p:sp>
        <p:nvSpPr>
          <p:cNvPr id="28" name="Text 39"/>
          <p:cNvSpPr txBox="1"/>
          <p:nvPr/>
        </p:nvSpPr>
        <p:spPr>
          <a:xfrm>
            <a:off x="7302490" y="2184410"/>
            <a:ext cx="634959" cy="215890"/>
          </a:xfrm>
          <a:prstGeom prst="rect">
            <a:avLst/>
          </a:prstGeom>
          <a:noFill/>
          <a:ln/>
        </p:spPr>
        <p:txBody>
          <a:bodyPr wrap="square" lIns="0" tIns="0" rIns="0" bIns="0" rtlCol="0" anchor="ctr"/>
          <a:lstStyle/>
          <a:p>
            <a:pPr marL="0" indent="0" algn="r">
              <a:buNone/>
            </a:pPr>
            <a:r>
              <a:rPr lang="en-US" sz="1200" dirty="0">
                <a:solidFill>
                  <a:srgbClr val="F2F4F8"/>
                </a:solidFill>
                <a:latin typeface="Consolas" pitchFamily="34" charset="0"/>
                <a:ea typeface="Consolas" pitchFamily="34" charset="-122"/>
                <a:cs typeface="Consolas" pitchFamily="34" charset="-120"/>
              </a:rPr>
              <a:t>911</a:t>
            </a:r>
            <a:endParaRPr lang="en-US" sz="1200" dirty="0"/>
          </a:p>
        </p:txBody>
      </p:sp>
      <p:sp>
        <p:nvSpPr>
          <p:cNvPr id="29" name="Community colour 2"/>
          <p:cNvSpPr/>
          <p:nvPr/>
        </p:nvSpPr>
        <p:spPr>
          <a:xfrm>
            <a:off x="4216390" y="2546330"/>
            <a:ext cx="101590" cy="101590"/>
          </a:xfrm>
          <a:prstGeom prst="ellipse">
            <a:avLst/>
          </a:prstGeom>
          <a:solidFill>
            <a:srgbClr val="D95926"/>
          </a:solidFill>
          <a:ln w="12700">
            <a:solidFill>
              <a:srgbClr val="D95926"/>
            </a:solidFill>
            <a:prstDash val="solid"/>
          </a:ln>
        </p:spPr>
      </p:sp>
      <p:sp>
        <p:nvSpPr>
          <p:cNvPr id="30" name="Community 2"/>
          <p:cNvSpPr txBox="1"/>
          <p:nvPr/>
        </p:nvSpPr>
        <p:spPr>
          <a:xfrm>
            <a:off x="4406859" y="2489180"/>
            <a:ext cx="2794041" cy="215890"/>
          </a:xfrm>
          <a:prstGeom prst="rect">
            <a:avLst/>
          </a:prstGeom>
          <a:noFill/>
          <a:ln/>
        </p:spPr>
        <p:txBody>
          <a:bodyPr wrap="square" lIns="0" tIns="0" rIns="0" bIns="0" rtlCol="0" anchor="ctr"/>
          <a:lstStyle/>
          <a:p>
            <a:pPr marL="0" indent="0">
              <a:buNone/>
            </a:pPr>
            <a:r>
              <a:rPr lang="en-US" sz="1200" dirty="0">
                <a:solidFill>
                  <a:srgbClr val="F2F4F8"/>
                </a:solidFill>
                <a:latin typeface="Arial" pitchFamily="34" charset="0"/>
                <a:ea typeface="Arial" pitchFamily="34" charset="-122"/>
                <a:cs typeface="Arial" pitchFamily="34" charset="-120"/>
              </a:rPr>
              <a:t>Negation and goodness  </a:t>
            </a:r>
            <a:r>
              <a:rPr lang="en-US" sz="1200" dirty="0">
                <a:solidFill>
                  <a:srgbClr val="7C8699"/>
                </a:solidFill>
                <a:latin typeface="Arial" pitchFamily="34" charset="0"/>
                <a:ea typeface="Arial" pitchFamily="34" charset="-122"/>
                <a:cs typeface="Arial" pitchFamily="34" charset="-120"/>
              </a:rPr>
              <a:t>不 好 很</a:t>
            </a:r>
            <a:endParaRPr lang="en-US" sz="1200" dirty="0"/>
          </a:p>
        </p:txBody>
      </p:sp>
      <p:sp>
        <p:nvSpPr>
          <p:cNvPr id="31" name="Text 40"/>
          <p:cNvSpPr txBox="1"/>
          <p:nvPr/>
        </p:nvSpPr>
        <p:spPr>
          <a:xfrm>
            <a:off x="7302490" y="2489180"/>
            <a:ext cx="634959" cy="215890"/>
          </a:xfrm>
          <a:prstGeom prst="rect">
            <a:avLst/>
          </a:prstGeom>
          <a:noFill/>
          <a:ln/>
        </p:spPr>
        <p:txBody>
          <a:bodyPr wrap="square" lIns="0" tIns="0" rIns="0" bIns="0" rtlCol="0" anchor="ctr"/>
          <a:lstStyle/>
          <a:p>
            <a:pPr marL="0" indent="0" algn="r">
              <a:buNone/>
            </a:pPr>
            <a:r>
              <a:rPr lang="en-US" sz="1200" dirty="0">
                <a:solidFill>
                  <a:srgbClr val="F2F4F8"/>
                </a:solidFill>
                <a:latin typeface="Consolas" pitchFamily="34" charset="0"/>
                <a:ea typeface="Consolas" pitchFamily="34" charset="-122"/>
                <a:cs typeface="Consolas" pitchFamily="34" charset="-120"/>
              </a:rPr>
              <a:t>793</a:t>
            </a:r>
            <a:endParaRPr lang="en-US" sz="1200" dirty="0"/>
          </a:p>
        </p:txBody>
      </p:sp>
      <p:sp>
        <p:nvSpPr>
          <p:cNvPr id="32" name="Community colour 3"/>
          <p:cNvSpPr/>
          <p:nvPr/>
        </p:nvSpPr>
        <p:spPr>
          <a:xfrm>
            <a:off x="4216390" y="2851191"/>
            <a:ext cx="101590" cy="101590"/>
          </a:xfrm>
          <a:prstGeom prst="ellipse">
            <a:avLst/>
          </a:prstGeom>
          <a:solidFill>
            <a:srgbClr val="199E70"/>
          </a:solidFill>
          <a:ln w="12700">
            <a:solidFill>
              <a:srgbClr val="199E70"/>
            </a:solidFill>
            <a:prstDash val="solid"/>
          </a:ln>
        </p:spPr>
      </p:sp>
      <p:sp>
        <p:nvSpPr>
          <p:cNvPr id="33" name="Community 3"/>
          <p:cNvSpPr txBox="1"/>
          <p:nvPr/>
        </p:nvSpPr>
        <p:spPr>
          <a:xfrm>
            <a:off x="4406859" y="2794041"/>
            <a:ext cx="2794041" cy="215890"/>
          </a:xfrm>
          <a:prstGeom prst="rect">
            <a:avLst/>
          </a:prstGeom>
          <a:noFill/>
          <a:ln/>
        </p:spPr>
        <p:txBody>
          <a:bodyPr wrap="square" lIns="0" tIns="0" rIns="0" bIns="0" rtlCol="0" anchor="ctr"/>
          <a:lstStyle/>
          <a:p>
            <a:pPr marL="0" indent="0">
              <a:buNone/>
            </a:pPr>
            <a:r>
              <a:rPr lang="en-US" sz="1200" dirty="0">
                <a:solidFill>
                  <a:srgbClr val="F2F4F8"/>
                </a:solidFill>
                <a:latin typeface="Arial" pitchFamily="34" charset="0"/>
                <a:ea typeface="Arial" pitchFamily="34" charset="-122"/>
                <a:cs typeface="Arial" pitchFamily="34" charset="-120"/>
              </a:rPr>
              <a:t>Having and wanting more  </a:t>
            </a:r>
            <a:r>
              <a:rPr lang="en-US" sz="1200" dirty="0">
                <a:solidFill>
                  <a:srgbClr val="7C8699"/>
                </a:solidFill>
                <a:latin typeface="Arial" pitchFamily="34" charset="0"/>
                <a:ea typeface="Arial" pitchFamily="34" charset="-122"/>
                <a:cs typeface="Arial" pitchFamily="34" charset="-120"/>
              </a:rPr>
              <a:t>了 有 多</a:t>
            </a:r>
            <a:endParaRPr lang="en-US" sz="1200" dirty="0"/>
          </a:p>
        </p:txBody>
      </p:sp>
      <p:sp>
        <p:nvSpPr>
          <p:cNvPr id="34" name="Text 41"/>
          <p:cNvSpPr txBox="1"/>
          <p:nvPr/>
        </p:nvSpPr>
        <p:spPr>
          <a:xfrm>
            <a:off x="7302490" y="2794041"/>
            <a:ext cx="634959" cy="215890"/>
          </a:xfrm>
          <a:prstGeom prst="rect">
            <a:avLst/>
          </a:prstGeom>
          <a:noFill/>
          <a:ln/>
        </p:spPr>
        <p:txBody>
          <a:bodyPr wrap="square" lIns="0" tIns="0" rIns="0" bIns="0" rtlCol="0" anchor="ctr"/>
          <a:lstStyle/>
          <a:p>
            <a:pPr marL="0" indent="0" algn="r">
              <a:buNone/>
            </a:pPr>
            <a:r>
              <a:rPr lang="en-US" sz="1200" dirty="0">
                <a:solidFill>
                  <a:srgbClr val="F2F4F8"/>
                </a:solidFill>
                <a:latin typeface="Consolas" pitchFamily="34" charset="0"/>
                <a:ea typeface="Consolas" pitchFamily="34" charset="-122"/>
                <a:cs typeface="Consolas" pitchFamily="34" charset="-120"/>
              </a:rPr>
              <a:t>787</a:t>
            </a:r>
            <a:endParaRPr lang="en-US" sz="1200" dirty="0"/>
          </a:p>
        </p:txBody>
      </p:sp>
      <p:sp>
        <p:nvSpPr>
          <p:cNvPr id="35" name="Community colour 4"/>
          <p:cNvSpPr/>
          <p:nvPr/>
        </p:nvSpPr>
        <p:spPr>
          <a:xfrm>
            <a:off x="4216390" y="3155960"/>
            <a:ext cx="101590" cy="101590"/>
          </a:xfrm>
          <a:prstGeom prst="ellipse">
            <a:avLst/>
          </a:prstGeom>
          <a:solidFill>
            <a:srgbClr val="C98500"/>
          </a:solidFill>
          <a:ln w="12700">
            <a:solidFill>
              <a:srgbClr val="C98500"/>
            </a:solidFill>
            <a:prstDash val="solid"/>
          </a:ln>
        </p:spPr>
      </p:sp>
      <p:sp>
        <p:nvSpPr>
          <p:cNvPr id="36" name="Community 4"/>
          <p:cNvSpPr txBox="1"/>
          <p:nvPr/>
        </p:nvSpPr>
        <p:spPr>
          <a:xfrm>
            <a:off x="4406859" y="3098810"/>
            <a:ext cx="2794041" cy="215890"/>
          </a:xfrm>
          <a:prstGeom prst="rect">
            <a:avLst/>
          </a:prstGeom>
          <a:noFill/>
          <a:ln/>
        </p:spPr>
        <p:txBody>
          <a:bodyPr wrap="square" lIns="0" tIns="0" rIns="0" bIns="0" rtlCol="0" anchor="ctr"/>
          <a:lstStyle/>
          <a:p>
            <a:pPr marL="0" indent="0">
              <a:buNone/>
            </a:pPr>
            <a:r>
              <a:rPr lang="en-US" sz="1200" dirty="0">
                <a:solidFill>
                  <a:srgbClr val="F2F4F8"/>
                </a:solidFill>
                <a:latin typeface="Arial" pitchFamily="34" charset="0"/>
                <a:ea typeface="Arial" pitchFamily="34" charset="-122"/>
                <a:cs typeface="Arial" pitchFamily="34" charset="-120"/>
              </a:rPr>
              <a:t>Linking and contrast  </a:t>
            </a:r>
            <a:r>
              <a:rPr lang="en-US" sz="1200" dirty="0">
                <a:solidFill>
                  <a:srgbClr val="7C8699"/>
                </a:solidFill>
                <a:latin typeface="Arial" pitchFamily="34" charset="0"/>
                <a:ea typeface="Arial" pitchFamily="34" charset="-122"/>
                <a:cs typeface="Arial" pitchFamily="34" charset="-120"/>
              </a:rPr>
              <a:t>就 吧 没</a:t>
            </a:r>
            <a:endParaRPr lang="en-US" sz="1200" dirty="0"/>
          </a:p>
        </p:txBody>
      </p:sp>
      <p:sp>
        <p:nvSpPr>
          <p:cNvPr id="37" name="Text 42"/>
          <p:cNvSpPr txBox="1"/>
          <p:nvPr/>
        </p:nvSpPr>
        <p:spPr>
          <a:xfrm>
            <a:off x="7302490" y="3098810"/>
            <a:ext cx="634959" cy="215890"/>
          </a:xfrm>
          <a:prstGeom prst="rect">
            <a:avLst/>
          </a:prstGeom>
          <a:noFill/>
          <a:ln/>
        </p:spPr>
        <p:txBody>
          <a:bodyPr wrap="square" lIns="0" tIns="0" rIns="0" bIns="0" rtlCol="0" anchor="ctr"/>
          <a:lstStyle/>
          <a:p>
            <a:pPr marL="0" indent="0" algn="r">
              <a:buNone/>
            </a:pPr>
            <a:r>
              <a:rPr lang="en-US" sz="1200" dirty="0">
                <a:solidFill>
                  <a:srgbClr val="F2F4F8"/>
                </a:solidFill>
                <a:latin typeface="Consolas" pitchFamily="34" charset="0"/>
                <a:ea typeface="Consolas" pitchFamily="34" charset="-122"/>
                <a:cs typeface="Consolas" pitchFamily="34" charset="-120"/>
              </a:rPr>
              <a:t>743</a:t>
            </a:r>
            <a:endParaRPr lang="en-US" sz="1200" dirty="0"/>
          </a:p>
        </p:txBody>
      </p:sp>
      <p:sp>
        <p:nvSpPr>
          <p:cNvPr id="38" name="Community colour 5"/>
          <p:cNvSpPr/>
          <p:nvPr/>
        </p:nvSpPr>
        <p:spPr>
          <a:xfrm>
            <a:off x="4216390" y="3460730"/>
            <a:ext cx="101590" cy="101590"/>
          </a:xfrm>
          <a:prstGeom prst="ellipse">
            <a:avLst/>
          </a:prstGeom>
          <a:solidFill>
            <a:srgbClr val="D55181"/>
          </a:solidFill>
          <a:ln w="12700">
            <a:solidFill>
              <a:srgbClr val="D55181"/>
            </a:solidFill>
            <a:prstDash val="solid"/>
          </a:ln>
        </p:spPr>
      </p:sp>
      <p:sp>
        <p:nvSpPr>
          <p:cNvPr id="39" name="Community 5"/>
          <p:cNvSpPr txBox="1"/>
          <p:nvPr/>
        </p:nvSpPr>
        <p:spPr>
          <a:xfrm>
            <a:off x="4406859" y="3403580"/>
            <a:ext cx="2794041" cy="215890"/>
          </a:xfrm>
          <a:prstGeom prst="rect">
            <a:avLst/>
          </a:prstGeom>
          <a:noFill/>
          <a:ln/>
        </p:spPr>
        <p:txBody>
          <a:bodyPr wrap="square" lIns="0" tIns="0" rIns="0" bIns="0" rtlCol="0" anchor="ctr"/>
          <a:lstStyle/>
          <a:p>
            <a:pPr marL="0" indent="0">
              <a:buNone/>
            </a:pPr>
            <a:r>
              <a:rPr lang="en-US" sz="1200" dirty="0">
                <a:solidFill>
                  <a:srgbClr val="F2F4F8"/>
                </a:solidFill>
                <a:latin typeface="Arial" pitchFamily="34" charset="0"/>
                <a:ea typeface="Arial" pitchFamily="34" charset="-122"/>
                <a:cs typeface="Arial" pitchFamily="34" charset="-120"/>
              </a:rPr>
              <a:t>Asking and going  </a:t>
            </a:r>
            <a:r>
              <a:rPr lang="en-US" sz="1200" dirty="0">
                <a:solidFill>
                  <a:srgbClr val="7C8699"/>
                </a:solidFill>
                <a:latin typeface="Arial" pitchFamily="34" charset="0"/>
                <a:ea typeface="Arial" pitchFamily="34" charset="-122"/>
                <a:cs typeface="Arial" pitchFamily="34" charset="-120"/>
              </a:rPr>
              <a:t>什么 去 一</a:t>
            </a:r>
            <a:endParaRPr lang="en-US" sz="1200" dirty="0"/>
          </a:p>
        </p:txBody>
      </p:sp>
      <p:sp>
        <p:nvSpPr>
          <p:cNvPr id="40" name="Text 43"/>
          <p:cNvSpPr txBox="1"/>
          <p:nvPr/>
        </p:nvSpPr>
        <p:spPr>
          <a:xfrm>
            <a:off x="7302490" y="3403580"/>
            <a:ext cx="634959" cy="215890"/>
          </a:xfrm>
          <a:prstGeom prst="rect">
            <a:avLst/>
          </a:prstGeom>
          <a:noFill/>
          <a:ln/>
        </p:spPr>
        <p:txBody>
          <a:bodyPr wrap="square" lIns="0" tIns="0" rIns="0" bIns="0" rtlCol="0" anchor="ctr"/>
          <a:lstStyle/>
          <a:p>
            <a:pPr marL="0" indent="0" algn="r">
              <a:buNone/>
            </a:pPr>
            <a:r>
              <a:rPr lang="en-US" sz="1200" dirty="0">
                <a:solidFill>
                  <a:srgbClr val="F2F4F8"/>
                </a:solidFill>
                <a:latin typeface="Consolas" pitchFamily="34" charset="0"/>
                <a:ea typeface="Consolas" pitchFamily="34" charset="-122"/>
                <a:cs typeface="Consolas" pitchFamily="34" charset="-120"/>
              </a:rPr>
              <a:t>723</a:t>
            </a:r>
            <a:endParaRPr lang="en-US" sz="1200" dirty="0"/>
          </a:p>
        </p:txBody>
      </p:sp>
      <p:sp>
        <p:nvSpPr>
          <p:cNvPr id="41" name="Community colour 6"/>
          <p:cNvSpPr/>
          <p:nvPr/>
        </p:nvSpPr>
        <p:spPr>
          <a:xfrm>
            <a:off x="4216390" y="3765591"/>
            <a:ext cx="101590" cy="101590"/>
          </a:xfrm>
          <a:prstGeom prst="ellipse">
            <a:avLst/>
          </a:prstGeom>
          <a:solidFill>
            <a:srgbClr val="008300"/>
          </a:solidFill>
          <a:ln w="12700">
            <a:solidFill>
              <a:srgbClr val="008300"/>
            </a:solidFill>
            <a:prstDash val="solid"/>
          </a:ln>
        </p:spPr>
      </p:sp>
      <p:sp>
        <p:nvSpPr>
          <p:cNvPr id="42" name="Community 6"/>
          <p:cNvSpPr txBox="1"/>
          <p:nvPr/>
        </p:nvSpPr>
        <p:spPr>
          <a:xfrm>
            <a:off x="4406859" y="3708441"/>
            <a:ext cx="2794041" cy="215890"/>
          </a:xfrm>
          <a:prstGeom prst="rect">
            <a:avLst/>
          </a:prstGeom>
          <a:noFill/>
          <a:ln/>
        </p:spPr>
        <p:txBody>
          <a:bodyPr wrap="square" lIns="0" tIns="0" rIns="0" bIns="0" rtlCol="0" anchor="ctr"/>
          <a:lstStyle/>
          <a:p>
            <a:pPr marL="0" indent="0">
              <a:buNone/>
            </a:pPr>
            <a:r>
              <a:rPr lang="en-US" sz="1200" dirty="0">
                <a:solidFill>
                  <a:srgbClr val="F2F4F8"/>
                </a:solidFill>
                <a:latin typeface="Arial" pitchFamily="34" charset="0"/>
                <a:ea typeface="Arial" pitchFamily="34" charset="-122"/>
                <a:cs typeface="Arial" pitchFamily="34" charset="-120"/>
              </a:rPr>
              <a:t>Comparing and degree  </a:t>
            </a:r>
            <a:r>
              <a:rPr lang="en-US" sz="1200" dirty="0">
                <a:solidFill>
                  <a:srgbClr val="7C8699"/>
                </a:solidFill>
                <a:latin typeface="Arial" pitchFamily="34" charset="0"/>
                <a:ea typeface="Arial" pitchFamily="34" charset="-122"/>
                <a:cs typeface="Arial" pitchFamily="34" charset="-120"/>
              </a:rPr>
              <a:t>得</a:t>
            </a:r>
            <a:endParaRPr lang="en-US" sz="1200" dirty="0"/>
          </a:p>
        </p:txBody>
      </p:sp>
      <p:sp>
        <p:nvSpPr>
          <p:cNvPr id="43" name="Text 44"/>
          <p:cNvSpPr txBox="1"/>
          <p:nvPr/>
        </p:nvSpPr>
        <p:spPr>
          <a:xfrm>
            <a:off x="7302490" y="3708441"/>
            <a:ext cx="634959" cy="215890"/>
          </a:xfrm>
          <a:prstGeom prst="rect">
            <a:avLst/>
          </a:prstGeom>
          <a:noFill/>
          <a:ln/>
        </p:spPr>
        <p:txBody>
          <a:bodyPr wrap="square" lIns="0" tIns="0" rIns="0" bIns="0" rtlCol="0" anchor="ctr"/>
          <a:lstStyle/>
          <a:p>
            <a:pPr marL="0" indent="0" algn="r">
              <a:buNone/>
            </a:pPr>
            <a:r>
              <a:rPr lang="en-US" sz="1200" dirty="0">
                <a:solidFill>
                  <a:srgbClr val="F2F4F8"/>
                </a:solidFill>
                <a:latin typeface="Consolas" pitchFamily="34" charset="0"/>
                <a:ea typeface="Consolas" pitchFamily="34" charset="-122"/>
                <a:cs typeface="Consolas" pitchFamily="34" charset="-120"/>
              </a:rPr>
              <a:t>557</a:t>
            </a:r>
            <a:endParaRPr lang="en-US" sz="1200" dirty="0"/>
          </a:p>
        </p:txBody>
      </p:sp>
      <p:sp>
        <p:nvSpPr>
          <p:cNvPr id="44" name="Community colour 7"/>
          <p:cNvSpPr/>
          <p:nvPr/>
        </p:nvSpPr>
        <p:spPr>
          <a:xfrm>
            <a:off x="4216390" y="4070360"/>
            <a:ext cx="101590" cy="101590"/>
          </a:xfrm>
          <a:prstGeom prst="ellipse">
            <a:avLst/>
          </a:prstGeom>
          <a:solidFill>
            <a:srgbClr val="9085E9"/>
          </a:solidFill>
          <a:ln w="12700">
            <a:solidFill>
              <a:srgbClr val="9085E9"/>
            </a:solidFill>
            <a:prstDash val="solid"/>
          </a:ln>
        </p:spPr>
      </p:sp>
      <p:sp>
        <p:nvSpPr>
          <p:cNvPr id="45" name="Community 7"/>
          <p:cNvSpPr txBox="1"/>
          <p:nvPr/>
        </p:nvSpPr>
        <p:spPr>
          <a:xfrm>
            <a:off x="4406859" y="4013210"/>
            <a:ext cx="2794041" cy="215890"/>
          </a:xfrm>
          <a:prstGeom prst="rect">
            <a:avLst/>
          </a:prstGeom>
          <a:noFill/>
          <a:ln/>
        </p:spPr>
        <p:txBody>
          <a:bodyPr wrap="square" lIns="0" tIns="0" rIns="0" bIns="0" rtlCol="0" anchor="ctr"/>
          <a:lstStyle/>
          <a:p>
            <a:pPr marL="0" indent="0">
              <a:buNone/>
            </a:pPr>
            <a:r>
              <a:rPr lang="en-US" sz="1200" dirty="0">
                <a:solidFill>
                  <a:srgbClr val="F2F4F8"/>
                </a:solidFill>
                <a:latin typeface="Arial" pitchFamily="34" charset="0"/>
                <a:ea typeface="Arial" pitchFamily="34" charset="-122"/>
                <a:cs typeface="Arial" pitchFamily="34" charset="-120"/>
              </a:rPr>
              <a:t>Core pronouns and “is”  </a:t>
            </a:r>
            <a:r>
              <a:rPr lang="en-US" sz="1200" dirty="0">
                <a:solidFill>
                  <a:srgbClr val="7C8699"/>
                </a:solidFill>
                <a:latin typeface="Arial" pitchFamily="34" charset="0"/>
                <a:ea typeface="Arial" pitchFamily="34" charset="-122"/>
                <a:cs typeface="Arial" pitchFamily="34" charset="-120"/>
              </a:rPr>
              <a:t>我 你 的 是</a:t>
            </a:r>
            <a:endParaRPr lang="en-US" sz="1200" dirty="0"/>
          </a:p>
        </p:txBody>
      </p:sp>
      <p:sp>
        <p:nvSpPr>
          <p:cNvPr id="46" name="Text 45"/>
          <p:cNvSpPr txBox="1"/>
          <p:nvPr/>
        </p:nvSpPr>
        <p:spPr>
          <a:xfrm>
            <a:off x="7302490" y="4013210"/>
            <a:ext cx="634959" cy="215890"/>
          </a:xfrm>
          <a:prstGeom prst="rect">
            <a:avLst/>
          </a:prstGeom>
          <a:noFill/>
          <a:ln/>
        </p:spPr>
        <p:txBody>
          <a:bodyPr wrap="square" lIns="0" tIns="0" rIns="0" bIns="0" rtlCol="0" anchor="ctr"/>
          <a:lstStyle/>
          <a:p>
            <a:pPr marL="0" indent="0" algn="r">
              <a:buNone/>
            </a:pPr>
            <a:r>
              <a:rPr lang="en-US" sz="1200" dirty="0">
                <a:solidFill>
                  <a:srgbClr val="F2F4F8"/>
                </a:solidFill>
                <a:latin typeface="Consolas" pitchFamily="34" charset="0"/>
                <a:ea typeface="Consolas" pitchFamily="34" charset="-122"/>
                <a:cs typeface="Consolas" pitchFamily="34" charset="-120"/>
              </a:rPr>
              <a:t>442</a:t>
            </a:r>
            <a:endParaRPr lang="en-US" sz="1200" dirty="0"/>
          </a:p>
        </p:txBody>
      </p:sp>
      <p:sp>
        <p:nvSpPr>
          <p:cNvPr id="47" name="Community colour 8"/>
          <p:cNvSpPr/>
          <p:nvPr/>
        </p:nvSpPr>
        <p:spPr>
          <a:xfrm>
            <a:off x="4216390" y="4375130"/>
            <a:ext cx="101590" cy="101590"/>
          </a:xfrm>
          <a:prstGeom prst="ellipse">
            <a:avLst/>
          </a:prstGeom>
          <a:solidFill>
            <a:srgbClr val="E66767"/>
          </a:solidFill>
          <a:ln w="12700">
            <a:solidFill>
              <a:srgbClr val="E66767"/>
            </a:solidFill>
            <a:prstDash val="solid"/>
          </a:ln>
        </p:spPr>
      </p:sp>
      <p:sp>
        <p:nvSpPr>
          <p:cNvPr id="48" name="Community 8"/>
          <p:cNvSpPr txBox="1"/>
          <p:nvPr/>
        </p:nvSpPr>
        <p:spPr>
          <a:xfrm>
            <a:off x="4406859" y="4317980"/>
            <a:ext cx="2794041" cy="215890"/>
          </a:xfrm>
          <a:prstGeom prst="rect">
            <a:avLst/>
          </a:prstGeom>
          <a:noFill/>
          <a:ln/>
        </p:spPr>
        <p:txBody>
          <a:bodyPr wrap="square" lIns="0" tIns="0" rIns="0" bIns="0" rtlCol="0" anchor="ctr"/>
          <a:lstStyle/>
          <a:p>
            <a:pPr marL="0" indent="0">
              <a:buNone/>
            </a:pPr>
            <a:r>
              <a:rPr lang="en-US" sz="1200" dirty="0">
                <a:solidFill>
                  <a:srgbClr val="F2F4F8"/>
                </a:solidFill>
                <a:latin typeface="Arial" pitchFamily="34" charset="0"/>
                <a:ea typeface="Arial" pitchFamily="34" charset="-122"/>
                <a:cs typeface="Arial" pitchFamily="34" charset="-120"/>
              </a:rPr>
              <a:t>Place and ongoing action  </a:t>
            </a:r>
            <a:r>
              <a:rPr lang="en-US" sz="1200" dirty="0">
                <a:solidFill>
                  <a:srgbClr val="7C8699"/>
                </a:solidFill>
                <a:latin typeface="Arial" pitchFamily="34" charset="0"/>
                <a:ea typeface="Arial" pitchFamily="34" charset="-122"/>
                <a:cs typeface="Arial" pitchFamily="34" charset="-120"/>
              </a:rPr>
              <a:t>在 呢</a:t>
            </a:r>
            <a:endParaRPr lang="en-US" sz="1200" dirty="0"/>
          </a:p>
        </p:txBody>
      </p:sp>
      <p:sp>
        <p:nvSpPr>
          <p:cNvPr id="49" name="Text 46"/>
          <p:cNvSpPr txBox="1"/>
          <p:nvPr/>
        </p:nvSpPr>
        <p:spPr>
          <a:xfrm>
            <a:off x="7302490" y="4317980"/>
            <a:ext cx="634959" cy="215890"/>
          </a:xfrm>
          <a:prstGeom prst="rect">
            <a:avLst/>
          </a:prstGeom>
          <a:noFill/>
          <a:ln/>
        </p:spPr>
        <p:txBody>
          <a:bodyPr wrap="square" lIns="0" tIns="0" rIns="0" bIns="0" rtlCol="0" anchor="ctr"/>
          <a:lstStyle/>
          <a:p>
            <a:pPr marL="0" indent="0" algn="r">
              <a:buNone/>
            </a:pPr>
            <a:r>
              <a:rPr lang="en-US" sz="1200" dirty="0">
                <a:solidFill>
                  <a:srgbClr val="F2F4F8"/>
                </a:solidFill>
                <a:latin typeface="Consolas" pitchFamily="34" charset="0"/>
                <a:ea typeface="Consolas" pitchFamily="34" charset="-122"/>
                <a:cs typeface="Consolas" pitchFamily="34" charset="-120"/>
              </a:rPr>
              <a:t>423</a:t>
            </a:r>
            <a:endParaRPr lang="en-US" sz="1200" dirty="0"/>
          </a:p>
        </p:txBody>
      </p:sp>
      <p:graphicFrame>
        <p:nvGraphicFramePr>
          <p:cNvPr id="50" name="Chart: HSK level mix by community"/>
          <p:cNvGraphicFramePr/>
          <p:nvPr/>
        </p:nvGraphicFramePr>
        <p:xfrm>
          <a:off x="8039130" y="2139970"/>
          <a:ext cx="3340120" cy="2438430"/>
        </p:xfrm>
        <a:graphic>
          <a:graphicData uri="http://schemas.openxmlformats.org/drawingml/2006/chart">
            <c:chart xmlns:c="http://schemas.openxmlformats.org/drawingml/2006/chart" xmlns:r="http://schemas.openxmlformats.org/officeDocument/2006/relationships" r:id="rId4"/>
          </a:graphicData>
        </a:graphic>
      </p:graphicFrame>
      <p:sp>
        <p:nvSpPr>
          <p:cNvPr id="51" name="Community findings"/>
          <p:cNvSpPr txBox="1"/>
          <p:nvPr/>
        </p:nvSpPr>
        <p:spPr>
          <a:xfrm>
            <a:off x="4216390" y="4730740"/>
            <a:ext cx="7162770" cy="952530"/>
          </a:xfrm>
          <a:prstGeom prst="rect">
            <a:avLst/>
          </a:prstGeom>
          <a:noFill/>
          <a:ln/>
        </p:spPr>
        <p:txBody>
          <a:bodyPr wrap="square" lIns="0" tIns="0" rIns="0" bIns="0" rtlCol="0" anchor="t"/>
          <a:lstStyle/>
          <a:p>
            <a:pPr marL="0" indent="0">
              <a:lnSpc>
                <a:spcPct val="125000"/>
              </a:lnSpc>
              <a:spcAft>
                <a:spcPts val="800"/>
              </a:spcAft>
              <a:buNone/>
            </a:pPr>
            <a:r>
              <a:rPr lang="en-US" sz="1200" b="1" dirty="0">
                <a:solidFill>
                  <a:srgbClr val="F2F4F8"/>
                </a:solidFill>
                <a:latin typeface="Arial" pitchFamily="34" charset="0"/>
                <a:ea typeface="Arial" pitchFamily="34" charset="-122"/>
                <a:cs typeface="Arial" pitchFamily="34" charset="-120"/>
              </a:rPr>
              <a:t>Weak, not strong: </a:t>
            </a:r>
            <a:r>
              <a:rPr lang="en-US" sz="1200" dirty="0">
                <a:solidFill>
                  <a:srgbClr val="B4BCCB"/>
                </a:solidFill>
                <a:latin typeface="Arial" pitchFamily="34" charset="0"/>
                <a:ea typeface="Arial" pitchFamily="34" charset="-122"/>
                <a:cs typeface="Arial" pitchFamily="34" charset="-120"/>
              </a:rPr>
              <a:t>none of the 8 passes the strong test and 2 pass the weak test; the tightest keeps 36% of its links inside.</a:t>
            </a:r>
            <a:endParaRPr lang="en-US" sz="1200" dirty="0"/>
          </a:p>
          <a:p>
            <a:pPr marL="0" indent="0">
              <a:lnSpc>
                <a:spcPct val="125000"/>
              </a:lnSpc>
              <a:spcAft>
                <a:spcPts val="800"/>
              </a:spcAft>
              <a:buNone/>
            </a:pPr>
            <a:r>
              <a:rPr lang="en-US" sz="1200" b="1" dirty="0">
                <a:solidFill>
                  <a:srgbClr val="F2F4F8"/>
                </a:solidFill>
                <a:latin typeface="Arial" pitchFamily="34" charset="0"/>
                <a:ea typeface="Arial" pitchFamily="34" charset="-122"/>
                <a:cs typeface="Arial" pitchFamily="34" charset="-120"/>
              </a:rPr>
              <a:t>Lessons, not levels: </a:t>
            </a:r>
            <a:r>
              <a:rPr lang="en-US" sz="1200" dirty="0">
                <a:solidFill>
                  <a:srgbClr val="B4BCCB"/>
                </a:solidFill>
                <a:latin typeface="Arial" pitchFamily="34" charset="0"/>
                <a:ea typeface="Arial" pitchFamily="34" charset="-122"/>
                <a:cs typeface="Arial" pitchFamily="34" charset="-120"/>
              </a:rPr>
              <a:t>only one community is mostly HSK 1 (70%); the other seven mix all three levels.</a:t>
            </a:r>
            <a:endParaRPr lang="en-US" sz="1200" dirty="0"/>
          </a:p>
        </p:txBody>
      </p:sp>
      <p:sp>
        <p:nvSpPr>
          <p:cNvPr id="52" name="Slide Number Placeholder 0"/>
          <p:cNvSpPr>
            <a:spLocks noGrp="1"/>
          </p:cNvSpPr>
          <p:nvPr>
            <p:ph type="sldNum" sz="quarter" idx="4294967295"/>
          </p:nvPr>
        </p:nvSpPr>
        <p:spPr>
          <a:xfrm>
            <a:off x="10109241" y="6235659"/>
            <a:ext cx="1270010" cy="21589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7C8699"/>
                </a:solidFill>
                <a:latin typeface="Consolas"/>
                <a:ea typeface="Consolas"/>
                <a:cs typeface="Consolas"/>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812810" y="1104870"/>
            <a:ext cx="10566441" cy="469910"/>
          </a:xfrm>
          <a:prstGeom prst="rect">
            <a:avLst/>
          </a:prstGeom>
          <a:noFill/>
          <a:ln/>
        </p:spPr>
        <p:txBody>
          <a:bodyPr wrap="square" lIns="0" tIns="0" rIns="0" bIns="0" rtlCol="0" anchor="t"/>
          <a:lstStyle/>
          <a:p>
            <a:pPr marL="0" indent="0" algn="l">
              <a:buNone/>
            </a:pPr>
            <a:r>
              <a:rPr lang="en-US" sz="3200" b="1" dirty="0">
                <a:solidFill>
                  <a:srgbClr val="F2F4F8"/>
                </a:solidFill>
                <a:latin typeface="Arial" pitchFamily="34" charset="0"/>
                <a:ea typeface="Arial" pitchFamily="34" charset="-122"/>
                <a:cs typeface="Arial" pitchFamily="34" charset="-120"/>
              </a:rPr>
              <a:t>Robust to failure, fragile to attack</a:t>
            </a:r>
            <a:endParaRPr lang="en-US" sz="3200" dirty="0"/>
          </a:p>
        </p:txBody>
      </p:sp>
      <p:sp>
        <p:nvSpPr>
          <p:cNvPr id="3" name="Eyebrow"/>
          <p:cNvSpPr txBox="1"/>
          <p:nvPr/>
        </p:nvSpPr>
        <p:spPr>
          <a:xfrm>
            <a:off x="812810" y="812810"/>
            <a:ext cx="10566441" cy="215890"/>
          </a:xfrm>
          <a:prstGeom prst="rect">
            <a:avLst/>
          </a:prstGeom>
          <a:noFill/>
          <a:ln/>
        </p:spPr>
        <p:txBody>
          <a:bodyPr wrap="square" lIns="0" tIns="0" rIns="0" bIns="0" rtlCol="0" anchor="ctr"/>
          <a:lstStyle/>
          <a:p>
            <a:pPr marL="0" indent="0">
              <a:buNone/>
            </a:pPr>
            <a:r>
              <a:rPr lang="en-US" sz="1200" kern="0" spc="150" dirty="0">
                <a:solidFill>
                  <a:srgbClr val="3987E5"/>
                </a:solidFill>
                <a:latin typeface="Consolas" pitchFamily="34" charset="0"/>
                <a:ea typeface="Consolas" pitchFamily="34" charset="-122"/>
                <a:cs typeface="Consolas" pitchFamily="34" charset="-120"/>
              </a:rPr>
              <a:t>04 · RESULTS · ROBUSTNESS</a:t>
            </a:r>
            <a:endParaRPr lang="en-US" sz="1200" dirty="0"/>
          </a:p>
        </p:txBody>
      </p:sp>
      <p:graphicFrame>
        <p:nvGraphicFramePr>
          <p:cNvPr id="4" name="Chart: robustness"/>
          <p:cNvGraphicFramePr/>
          <p:nvPr/>
        </p:nvGraphicFramePr>
        <p:xfrm>
          <a:off x="812810" y="1835109"/>
          <a:ext cx="6349959" cy="3987790"/>
        </p:xfrm>
        <a:graphic>
          <a:graphicData uri="http://schemas.openxmlformats.org/drawingml/2006/chart">
            <c:chart xmlns:c="http://schemas.openxmlformats.org/drawingml/2006/chart" xmlns:r="http://schemas.openxmlformats.org/officeDocument/2006/relationships" r:id="rId3"/>
          </a:graphicData>
        </a:graphic>
      </p:graphicFrame>
      <p:sp>
        <p:nvSpPr>
          <p:cNvPr id="5" name="Legend Random failure (mean of 5 runs)"/>
          <p:cNvSpPr/>
          <p:nvPr/>
        </p:nvSpPr>
        <p:spPr>
          <a:xfrm>
            <a:off x="7467630" y="1943100"/>
            <a:ext cx="254020" cy="0"/>
          </a:xfrm>
          <a:prstGeom prst="line">
            <a:avLst/>
          </a:prstGeom>
          <a:noFill/>
          <a:ln w="28575">
            <a:solidFill>
              <a:srgbClr val="3987E5"/>
            </a:solidFill>
            <a:prstDash val="solid"/>
          </a:ln>
        </p:spPr>
      </p:sp>
      <p:sp>
        <p:nvSpPr>
          <p:cNvPr id="6" name="Text 47"/>
          <p:cNvSpPr txBox="1"/>
          <p:nvPr/>
        </p:nvSpPr>
        <p:spPr>
          <a:xfrm>
            <a:off x="7823241" y="1835109"/>
            <a:ext cx="2920959" cy="215890"/>
          </a:xfrm>
          <a:prstGeom prst="rect">
            <a:avLst/>
          </a:prstGeom>
          <a:noFill/>
          <a:ln/>
        </p:spPr>
        <p:txBody>
          <a:bodyPr wrap="square" lIns="0" tIns="0" rIns="0" bIns="0" rtlCol="0" anchor="ctr"/>
          <a:lstStyle/>
          <a:p>
            <a:pPr marL="0" indent="0">
              <a:buNone/>
            </a:pPr>
            <a:r>
              <a:rPr lang="en-US" sz="1200" dirty="0">
                <a:solidFill>
                  <a:srgbClr val="B4BCCB"/>
                </a:solidFill>
                <a:latin typeface="Arial" pitchFamily="34" charset="0"/>
                <a:ea typeface="Arial" pitchFamily="34" charset="-122"/>
                <a:cs typeface="Arial" pitchFamily="34" charset="-120"/>
              </a:rPr>
              <a:t>Random failure (mean of 5 runs)</a:t>
            </a:r>
            <a:endParaRPr lang="en-US" sz="1200" dirty="0"/>
          </a:p>
        </p:txBody>
      </p:sp>
      <p:sp>
        <p:nvSpPr>
          <p:cNvPr id="7" name="At 20% removed: Random failure (mean of 5 runs)"/>
          <p:cNvSpPr txBox="1"/>
          <p:nvPr/>
        </p:nvSpPr>
        <p:spPr>
          <a:xfrm>
            <a:off x="10807659" y="1835109"/>
            <a:ext cx="571500" cy="215890"/>
          </a:xfrm>
          <a:prstGeom prst="rect">
            <a:avLst/>
          </a:prstGeom>
          <a:noFill/>
          <a:ln/>
        </p:spPr>
        <p:txBody>
          <a:bodyPr wrap="square" lIns="0" tIns="0" rIns="0" bIns="0" rtlCol="0" anchor="ctr"/>
          <a:lstStyle/>
          <a:p>
            <a:pPr marL="0" indent="0" algn="r">
              <a:buNone/>
            </a:pPr>
            <a:r>
              <a:rPr lang="en-US" sz="1200" b="1" dirty="0">
                <a:solidFill>
                  <a:srgbClr val="F2F4F8"/>
                </a:solidFill>
                <a:latin typeface="Consolas" pitchFamily="34" charset="0"/>
                <a:ea typeface="Consolas" pitchFamily="34" charset="-122"/>
                <a:cs typeface="Consolas" pitchFamily="34" charset="-120"/>
              </a:rPr>
              <a:t>78%</a:t>
            </a:r>
            <a:endParaRPr lang="en-US" sz="1200" dirty="0"/>
          </a:p>
        </p:txBody>
      </p:sp>
      <p:sp>
        <p:nvSpPr>
          <p:cNvPr id="8" name="Legend Attack by betweenness"/>
          <p:cNvSpPr/>
          <p:nvPr/>
        </p:nvSpPr>
        <p:spPr>
          <a:xfrm>
            <a:off x="7467630" y="2209830"/>
            <a:ext cx="254020" cy="0"/>
          </a:xfrm>
          <a:prstGeom prst="line">
            <a:avLst/>
          </a:prstGeom>
          <a:noFill/>
          <a:ln w="28575">
            <a:solidFill>
              <a:srgbClr val="199E70"/>
            </a:solidFill>
            <a:prstDash val="solid"/>
          </a:ln>
        </p:spPr>
      </p:sp>
      <p:sp>
        <p:nvSpPr>
          <p:cNvPr id="9" name="Text 48"/>
          <p:cNvSpPr txBox="1"/>
          <p:nvPr/>
        </p:nvSpPr>
        <p:spPr>
          <a:xfrm>
            <a:off x="7823241" y="2101840"/>
            <a:ext cx="2920959" cy="215890"/>
          </a:xfrm>
          <a:prstGeom prst="rect">
            <a:avLst/>
          </a:prstGeom>
          <a:noFill/>
          <a:ln/>
        </p:spPr>
        <p:txBody>
          <a:bodyPr wrap="square" lIns="0" tIns="0" rIns="0" bIns="0" rtlCol="0" anchor="ctr"/>
          <a:lstStyle/>
          <a:p>
            <a:pPr marL="0" indent="0">
              <a:buNone/>
            </a:pPr>
            <a:r>
              <a:rPr lang="en-US" sz="1200" dirty="0">
                <a:solidFill>
                  <a:srgbClr val="B4BCCB"/>
                </a:solidFill>
                <a:latin typeface="Arial" pitchFamily="34" charset="0"/>
                <a:ea typeface="Arial" pitchFamily="34" charset="-122"/>
                <a:cs typeface="Arial" pitchFamily="34" charset="-120"/>
              </a:rPr>
              <a:t>Attack by betweenness</a:t>
            </a:r>
            <a:endParaRPr lang="en-US" sz="1200" dirty="0"/>
          </a:p>
        </p:txBody>
      </p:sp>
      <p:sp>
        <p:nvSpPr>
          <p:cNvPr id="10" name="At 20% removed: Attack by betweenness"/>
          <p:cNvSpPr txBox="1"/>
          <p:nvPr/>
        </p:nvSpPr>
        <p:spPr>
          <a:xfrm>
            <a:off x="10807659" y="2101840"/>
            <a:ext cx="571500" cy="215890"/>
          </a:xfrm>
          <a:prstGeom prst="rect">
            <a:avLst/>
          </a:prstGeom>
          <a:noFill/>
          <a:ln/>
        </p:spPr>
        <p:txBody>
          <a:bodyPr wrap="square" lIns="0" tIns="0" rIns="0" bIns="0" rtlCol="0" anchor="ctr"/>
          <a:lstStyle/>
          <a:p>
            <a:pPr marL="0" indent="0" algn="r">
              <a:buNone/>
            </a:pPr>
            <a:r>
              <a:rPr lang="en-US" sz="1200" b="1" dirty="0">
                <a:solidFill>
                  <a:srgbClr val="F2F4F8"/>
                </a:solidFill>
                <a:latin typeface="Consolas" pitchFamily="34" charset="0"/>
                <a:ea typeface="Consolas" pitchFamily="34" charset="-122"/>
                <a:cs typeface="Consolas" pitchFamily="34" charset="-120"/>
              </a:rPr>
              <a:t>62%</a:t>
            </a:r>
            <a:endParaRPr lang="en-US" sz="1200" dirty="0"/>
          </a:p>
        </p:txBody>
      </p:sp>
      <p:sp>
        <p:nvSpPr>
          <p:cNvPr id="11" name="Legend Attack by degree"/>
          <p:cNvSpPr/>
          <p:nvPr/>
        </p:nvSpPr>
        <p:spPr>
          <a:xfrm>
            <a:off x="7467630" y="2476470"/>
            <a:ext cx="254020" cy="0"/>
          </a:xfrm>
          <a:prstGeom prst="line">
            <a:avLst/>
          </a:prstGeom>
          <a:noFill/>
          <a:ln w="28575">
            <a:solidFill>
              <a:srgbClr val="D95926"/>
            </a:solidFill>
            <a:prstDash val="solid"/>
          </a:ln>
        </p:spPr>
      </p:sp>
      <p:sp>
        <p:nvSpPr>
          <p:cNvPr id="12" name="Text 49"/>
          <p:cNvSpPr txBox="1"/>
          <p:nvPr/>
        </p:nvSpPr>
        <p:spPr>
          <a:xfrm>
            <a:off x="7823241" y="2368570"/>
            <a:ext cx="2920959" cy="215890"/>
          </a:xfrm>
          <a:prstGeom prst="rect">
            <a:avLst/>
          </a:prstGeom>
          <a:noFill/>
          <a:ln/>
        </p:spPr>
        <p:txBody>
          <a:bodyPr wrap="square" lIns="0" tIns="0" rIns="0" bIns="0" rtlCol="0" anchor="ctr"/>
          <a:lstStyle/>
          <a:p>
            <a:pPr marL="0" indent="0">
              <a:buNone/>
            </a:pPr>
            <a:r>
              <a:rPr lang="en-US" sz="1200" dirty="0">
                <a:solidFill>
                  <a:srgbClr val="B4BCCB"/>
                </a:solidFill>
                <a:latin typeface="Arial" pitchFamily="34" charset="0"/>
                <a:ea typeface="Arial" pitchFamily="34" charset="-122"/>
                <a:cs typeface="Arial" pitchFamily="34" charset="-120"/>
              </a:rPr>
              <a:t>Attack by degree</a:t>
            </a:r>
            <a:endParaRPr lang="en-US" sz="1200" dirty="0"/>
          </a:p>
        </p:txBody>
      </p:sp>
      <p:sp>
        <p:nvSpPr>
          <p:cNvPr id="13" name="At 20% removed: Attack by degree"/>
          <p:cNvSpPr txBox="1"/>
          <p:nvPr/>
        </p:nvSpPr>
        <p:spPr>
          <a:xfrm>
            <a:off x="10807659" y="2368570"/>
            <a:ext cx="571500" cy="215890"/>
          </a:xfrm>
          <a:prstGeom prst="rect">
            <a:avLst/>
          </a:prstGeom>
          <a:noFill/>
          <a:ln/>
        </p:spPr>
        <p:txBody>
          <a:bodyPr wrap="square" lIns="0" tIns="0" rIns="0" bIns="0" rtlCol="0" anchor="ctr"/>
          <a:lstStyle/>
          <a:p>
            <a:pPr marL="0" indent="0" algn="r">
              <a:buNone/>
            </a:pPr>
            <a:r>
              <a:rPr lang="en-US" sz="1200" b="1" dirty="0">
                <a:solidFill>
                  <a:srgbClr val="F2F4F8"/>
                </a:solidFill>
                <a:latin typeface="Consolas" pitchFamily="34" charset="0"/>
                <a:ea typeface="Consolas" pitchFamily="34" charset="-122"/>
                <a:cs typeface="Consolas" pitchFamily="34" charset="-120"/>
              </a:rPr>
              <a:t>44%</a:t>
            </a:r>
            <a:endParaRPr lang="en-US" sz="1200" dirty="0"/>
          </a:p>
        </p:txBody>
      </p:sp>
      <p:sp>
        <p:nvSpPr>
          <p:cNvPr id="14" name="Legend Degree, recomputed every step"/>
          <p:cNvSpPr/>
          <p:nvPr/>
        </p:nvSpPr>
        <p:spPr>
          <a:xfrm>
            <a:off x="7467630" y="2743200"/>
            <a:ext cx="254020" cy="0"/>
          </a:xfrm>
          <a:prstGeom prst="line">
            <a:avLst/>
          </a:prstGeom>
          <a:noFill/>
          <a:ln w="28575">
            <a:solidFill>
              <a:srgbClr val="B4BCCB"/>
            </a:solidFill>
            <a:prstDash val="dash"/>
          </a:ln>
        </p:spPr>
      </p:sp>
      <p:sp>
        <p:nvSpPr>
          <p:cNvPr id="15" name="Text 50"/>
          <p:cNvSpPr txBox="1"/>
          <p:nvPr/>
        </p:nvSpPr>
        <p:spPr>
          <a:xfrm>
            <a:off x="7823241" y="2635209"/>
            <a:ext cx="2920959" cy="215890"/>
          </a:xfrm>
          <a:prstGeom prst="rect">
            <a:avLst/>
          </a:prstGeom>
          <a:noFill/>
          <a:ln/>
        </p:spPr>
        <p:txBody>
          <a:bodyPr wrap="square" lIns="0" tIns="0" rIns="0" bIns="0" rtlCol="0" anchor="ctr"/>
          <a:lstStyle/>
          <a:p>
            <a:pPr marL="0" indent="0">
              <a:buNone/>
            </a:pPr>
            <a:r>
              <a:rPr lang="en-US" sz="1200" dirty="0">
                <a:solidFill>
                  <a:srgbClr val="B4BCCB"/>
                </a:solidFill>
                <a:latin typeface="Arial" pitchFamily="34" charset="0"/>
                <a:ea typeface="Arial" pitchFamily="34" charset="-122"/>
                <a:cs typeface="Arial" pitchFamily="34" charset="-120"/>
              </a:rPr>
              <a:t>Degree, recomputed every step</a:t>
            </a:r>
            <a:endParaRPr lang="en-US" sz="1200" dirty="0"/>
          </a:p>
        </p:txBody>
      </p:sp>
      <p:sp>
        <p:nvSpPr>
          <p:cNvPr id="16" name="At 20% removed: Degree, recomputed every step"/>
          <p:cNvSpPr txBox="1"/>
          <p:nvPr/>
        </p:nvSpPr>
        <p:spPr>
          <a:xfrm>
            <a:off x="10807659" y="2635209"/>
            <a:ext cx="571500" cy="215890"/>
          </a:xfrm>
          <a:prstGeom prst="rect">
            <a:avLst/>
          </a:prstGeom>
          <a:noFill/>
          <a:ln/>
        </p:spPr>
        <p:txBody>
          <a:bodyPr wrap="square" lIns="0" tIns="0" rIns="0" bIns="0" rtlCol="0" anchor="ctr"/>
          <a:lstStyle/>
          <a:p>
            <a:pPr marL="0" indent="0" algn="r">
              <a:buNone/>
            </a:pPr>
            <a:r>
              <a:rPr lang="en-US" sz="1200" b="1" dirty="0">
                <a:solidFill>
                  <a:srgbClr val="F2F4F8"/>
                </a:solidFill>
                <a:latin typeface="Consolas" pitchFamily="34" charset="0"/>
                <a:ea typeface="Consolas" pitchFamily="34" charset="-122"/>
                <a:cs typeface="Consolas" pitchFamily="34" charset="-120"/>
              </a:rPr>
              <a:t>2%</a:t>
            </a:r>
            <a:endParaRPr lang="en-US" sz="1200" dirty="0"/>
          </a:p>
        </p:txBody>
      </p:sp>
      <p:sp>
        <p:nvSpPr>
          <p:cNvPr id="17" name="Text 51"/>
          <p:cNvSpPr txBox="1"/>
          <p:nvPr/>
        </p:nvSpPr>
        <p:spPr>
          <a:xfrm>
            <a:off x="7823241" y="2914650"/>
            <a:ext cx="3556010" cy="215890"/>
          </a:xfrm>
          <a:prstGeom prst="rect">
            <a:avLst/>
          </a:prstGeom>
          <a:noFill/>
          <a:ln/>
        </p:spPr>
        <p:txBody>
          <a:bodyPr wrap="square" lIns="0" tIns="0" rIns="0" bIns="0" rtlCol="0" anchor="ctr"/>
          <a:lstStyle/>
          <a:p>
            <a:pPr marL="0" indent="0">
              <a:buNone/>
            </a:pPr>
            <a:r>
              <a:rPr lang="en-US" sz="1200" dirty="0">
                <a:solidFill>
                  <a:srgbClr val="7C8699"/>
                </a:solidFill>
                <a:latin typeface="Arial" pitchFamily="34" charset="0"/>
                <a:ea typeface="Arial" pitchFamily="34" charset="-122"/>
                <a:cs typeface="Arial" pitchFamily="34" charset="-120"/>
              </a:rPr>
              <a:t>Shares still connected after removing 20% of nodes</a:t>
            </a:r>
            <a:endParaRPr lang="en-US" sz="1200" dirty="0"/>
          </a:p>
        </p:txBody>
      </p:sp>
      <p:sp>
        <p:nvSpPr>
          <p:cNvPr id="18" name="Text 52"/>
          <p:cNvSpPr txBox="1"/>
          <p:nvPr/>
        </p:nvSpPr>
        <p:spPr>
          <a:xfrm>
            <a:off x="7467630" y="3282970"/>
            <a:ext cx="3911620" cy="254020"/>
          </a:xfrm>
          <a:prstGeom prst="rect">
            <a:avLst/>
          </a:prstGeom>
          <a:noFill/>
          <a:ln/>
        </p:spPr>
        <p:txBody>
          <a:bodyPr wrap="square" lIns="0" tIns="0" rIns="0" bIns="0" rtlCol="0" anchor="t"/>
          <a:lstStyle/>
          <a:p>
            <a:pPr marL="0" indent="0">
              <a:buNone/>
            </a:pPr>
            <a:r>
              <a:rPr lang="en-US" sz="1400" b="1" dirty="0">
                <a:solidFill>
                  <a:srgbClr val="F2F4F8"/>
                </a:solidFill>
                <a:latin typeface="Arial" pitchFamily="34" charset="0"/>
                <a:ea typeface="Arial" pitchFamily="34" charset="-122"/>
                <a:cs typeface="Arial" pitchFamily="34" charset="-120"/>
              </a:rPr>
              <a:t>Removed until the giant is below 50%</a:t>
            </a:r>
            <a:endParaRPr lang="en-US" sz="1400" dirty="0"/>
          </a:p>
        </p:txBody>
      </p:sp>
      <p:sp>
        <p:nvSpPr>
          <p:cNvPr id="19" name="Text 53"/>
          <p:cNvSpPr txBox="1"/>
          <p:nvPr/>
        </p:nvSpPr>
        <p:spPr>
          <a:xfrm>
            <a:off x="7467630" y="3575030"/>
            <a:ext cx="2540020" cy="215890"/>
          </a:xfrm>
          <a:prstGeom prst="rect">
            <a:avLst/>
          </a:prstGeom>
          <a:noFill/>
          <a:ln/>
        </p:spPr>
        <p:txBody>
          <a:bodyPr wrap="square" lIns="0" tIns="0" rIns="0" bIns="0" rtlCol="0" anchor="ctr"/>
          <a:lstStyle/>
          <a:p>
            <a:pPr marL="0" indent="0">
              <a:buNone/>
            </a:pPr>
            <a:r>
              <a:rPr lang="en-US" sz="1200" dirty="0">
                <a:solidFill>
                  <a:srgbClr val="B4BCCB"/>
                </a:solidFill>
                <a:latin typeface="Arial" pitchFamily="34" charset="0"/>
                <a:ea typeface="Arial" pitchFamily="34" charset="-122"/>
                <a:cs typeface="Arial" pitchFamily="34" charset="-120"/>
              </a:rPr>
              <a:t>Random failure</a:t>
            </a:r>
            <a:endParaRPr lang="en-US" sz="1200" dirty="0"/>
          </a:p>
        </p:txBody>
      </p:sp>
      <p:sp>
        <p:nvSpPr>
          <p:cNvPr id="20" name="Text 54"/>
          <p:cNvSpPr txBox="1"/>
          <p:nvPr/>
        </p:nvSpPr>
        <p:spPr>
          <a:xfrm>
            <a:off x="9372600" y="3575030"/>
            <a:ext cx="2006559" cy="215890"/>
          </a:xfrm>
          <a:prstGeom prst="rect">
            <a:avLst/>
          </a:prstGeom>
          <a:noFill/>
          <a:ln/>
        </p:spPr>
        <p:txBody>
          <a:bodyPr wrap="square" lIns="0" tIns="0" rIns="0" bIns="0" rtlCol="0" anchor="ctr"/>
          <a:lstStyle/>
          <a:p>
            <a:pPr marL="0" indent="0" algn="r">
              <a:buNone/>
            </a:pPr>
            <a:r>
              <a:rPr lang="en-US" sz="1200" dirty="0">
                <a:solidFill>
                  <a:srgbClr val="F2F4F8"/>
                </a:solidFill>
                <a:latin typeface="Consolas" pitchFamily="34" charset="0"/>
                <a:ea typeface="Consolas" pitchFamily="34" charset="-122"/>
                <a:cs typeface="Consolas" pitchFamily="34" charset="-120"/>
              </a:rPr>
              <a:t>not within 30%</a:t>
            </a:r>
            <a:endParaRPr lang="en-US" sz="1200" dirty="0"/>
          </a:p>
        </p:txBody>
      </p:sp>
      <p:sp>
        <p:nvSpPr>
          <p:cNvPr id="21" name="Text 55"/>
          <p:cNvSpPr txBox="1"/>
          <p:nvPr/>
        </p:nvSpPr>
        <p:spPr>
          <a:xfrm>
            <a:off x="7467630" y="3829050"/>
            <a:ext cx="2540020" cy="215890"/>
          </a:xfrm>
          <a:prstGeom prst="rect">
            <a:avLst/>
          </a:prstGeom>
          <a:noFill/>
          <a:ln/>
        </p:spPr>
        <p:txBody>
          <a:bodyPr wrap="square" lIns="0" tIns="0" rIns="0" bIns="0" rtlCol="0" anchor="ctr"/>
          <a:lstStyle/>
          <a:p>
            <a:pPr marL="0" indent="0">
              <a:buNone/>
            </a:pPr>
            <a:r>
              <a:rPr lang="en-US" sz="1200" dirty="0">
                <a:solidFill>
                  <a:srgbClr val="B4BCCB"/>
                </a:solidFill>
                <a:latin typeface="Arial" pitchFamily="34" charset="0"/>
                <a:ea typeface="Arial" pitchFamily="34" charset="-122"/>
                <a:cs typeface="Arial" pitchFamily="34" charset="-120"/>
              </a:rPr>
              <a:t>Betweenness attack</a:t>
            </a:r>
            <a:endParaRPr lang="en-US" sz="1200" dirty="0"/>
          </a:p>
        </p:txBody>
      </p:sp>
      <p:sp>
        <p:nvSpPr>
          <p:cNvPr id="22" name="Text 56"/>
          <p:cNvSpPr txBox="1"/>
          <p:nvPr/>
        </p:nvSpPr>
        <p:spPr>
          <a:xfrm>
            <a:off x="9372600" y="3829050"/>
            <a:ext cx="2006559" cy="215890"/>
          </a:xfrm>
          <a:prstGeom prst="rect">
            <a:avLst/>
          </a:prstGeom>
          <a:noFill/>
          <a:ln/>
        </p:spPr>
        <p:txBody>
          <a:bodyPr wrap="square" lIns="0" tIns="0" rIns="0" bIns="0" rtlCol="0" anchor="ctr"/>
          <a:lstStyle/>
          <a:p>
            <a:pPr marL="0" indent="0" algn="r">
              <a:buNone/>
            </a:pPr>
            <a:r>
              <a:rPr lang="en-US" sz="1200" dirty="0">
                <a:solidFill>
                  <a:srgbClr val="F2F4F8"/>
                </a:solidFill>
                <a:latin typeface="Consolas" pitchFamily="34" charset="0"/>
                <a:ea typeface="Consolas" pitchFamily="34" charset="-122"/>
                <a:cs typeface="Consolas" pitchFamily="34" charset="-120"/>
              </a:rPr>
              <a:t>28%</a:t>
            </a:r>
            <a:endParaRPr lang="en-US" sz="1200" dirty="0"/>
          </a:p>
        </p:txBody>
      </p:sp>
      <p:sp>
        <p:nvSpPr>
          <p:cNvPr id="23" name="Text 57"/>
          <p:cNvSpPr txBox="1"/>
          <p:nvPr/>
        </p:nvSpPr>
        <p:spPr>
          <a:xfrm>
            <a:off x="7467630" y="4083070"/>
            <a:ext cx="2540020" cy="215890"/>
          </a:xfrm>
          <a:prstGeom prst="rect">
            <a:avLst/>
          </a:prstGeom>
          <a:noFill/>
          <a:ln/>
        </p:spPr>
        <p:txBody>
          <a:bodyPr wrap="square" lIns="0" tIns="0" rIns="0" bIns="0" rtlCol="0" anchor="ctr"/>
          <a:lstStyle/>
          <a:p>
            <a:pPr marL="0" indent="0">
              <a:buNone/>
            </a:pPr>
            <a:r>
              <a:rPr lang="en-US" sz="1200" dirty="0">
                <a:solidFill>
                  <a:srgbClr val="B4BCCB"/>
                </a:solidFill>
                <a:latin typeface="Arial" pitchFamily="34" charset="0"/>
                <a:ea typeface="Arial" pitchFamily="34" charset="-122"/>
                <a:cs typeface="Arial" pitchFamily="34" charset="-120"/>
              </a:rPr>
              <a:t>Degree attack</a:t>
            </a:r>
            <a:endParaRPr lang="en-US" sz="1200" dirty="0"/>
          </a:p>
        </p:txBody>
      </p:sp>
      <p:sp>
        <p:nvSpPr>
          <p:cNvPr id="24" name="Text 58"/>
          <p:cNvSpPr txBox="1"/>
          <p:nvPr/>
        </p:nvSpPr>
        <p:spPr>
          <a:xfrm>
            <a:off x="9372600" y="4083070"/>
            <a:ext cx="2006559" cy="215890"/>
          </a:xfrm>
          <a:prstGeom prst="rect">
            <a:avLst/>
          </a:prstGeom>
          <a:noFill/>
          <a:ln/>
        </p:spPr>
        <p:txBody>
          <a:bodyPr wrap="square" lIns="0" tIns="0" rIns="0" bIns="0" rtlCol="0" anchor="ctr"/>
          <a:lstStyle/>
          <a:p>
            <a:pPr marL="0" indent="0" algn="r">
              <a:buNone/>
            </a:pPr>
            <a:r>
              <a:rPr lang="en-US" sz="1200" dirty="0">
                <a:solidFill>
                  <a:srgbClr val="F2F4F8"/>
                </a:solidFill>
                <a:latin typeface="Consolas" pitchFamily="34" charset="0"/>
                <a:ea typeface="Consolas" pitchFamily="34" charset="-122"/>
                <a:cs typeface="Consolas" pitchFamily="34" charset="-120"/>
              </a:rPr>
              <a:t>18%</a:t>
            </a:r>
            <a:endParaRPr lang="en-US" sz="1200" dirty="0"/>
          </a:p>
        </p:txBody>
      </p:sp>
      <p:sp>
        <p:nvSpPr>
          <p:cNvPr id="25" name="Text 59"/>
          <p:cNvSpPr txBox="1"/>
          <p:nvPr/>
        </p:nvSpPr>
        <p:spPr>
          <a:xfrm>
            <a:off x="7467630" y="4337091"/>
            <a:ext cx="2540020" cy="215890"/>
          </a:xfrm>
          <a:prstGeom prst="rect">
            <a:avLst/>
          </a:prstGeom>
          <a:noFill/>
          <a:ln/>
        </p:spPr>
        <p:txBody>
          <a:bodyPr wrap="square" lIns="0" tIns="0" rIns="0" bIns="0" rtlCol="0" anchor="ctr"/>
          <a:lstStyle/>
          <a:p>
            <a:pPr marL="0" indent="0">
              <a:buNone/>
            </a:pPr>
            <a:r>
              <a:rPr lang="en-US" sz="1200" dirty="0">
                <a:solidFill>
                  <a:srgbClr val="B4BCCB"/>
                </a:solidFill>
                <a:latin typeface="Arial" pitchFamily="34" charset="0"/>
                <a:ea typeface="Arial" pitchFamily="34" charset="-122"/>
                <a:cs typeface="Arial" pitchFamily="34" charset="-120"/>
              </a:rPr>
              <a:t>Adaptive degree attack</a:t>
            </a:r>
            <a:endParaRPr lang="en-US" sz="1200" dirty="0"/>
          </a:p>
        </p:txBody>
      </p:sp>
      <p:sp>
        <p:nvSpPr>
          <p:cNvPr id="26" name="Text 60"/>
          <p:cNvSpPr txBox="1"/>
          <p:nvPr/>
        </p:nvSpPr>
        <p:spPr>
          <a:xfrm>
            <a:off x="9372600" y="4337091"/>
            <a:ext cx="2006559" cy="215890"/>
          </a:xfrm>
          <a:prstGeom prst="rect">
            <a:avLst/>
          </a:prstGeom>
          <a:noFill/>
          <a:ln/>
        </p:spPr>
        <p:txBody>
          <a:bodyPr wrap="square" lIns="0" tIns="0" rIns="0" bIns="0" rtlCol="0" anchor="ctr"/>
          <a:lstStyle/>
          <a:p>
            <a:pPr marL="0" indent="0" algn="r">
              <a:buNone/>
            </a:pPr>
            <a:r>
              <a:rPr lang="en-US" sz="1200" dirty="0">
                <a:solidFill>
                  <a:srgbClr val="F2F4F8"/>
                </a:solidFill>
                <a:latin typeface="Consolas" pitchFamily="34" charset="0"/>
                <a:ea typeface="Consolas" pitchFamily="34" charset="-122"/>
                <a:cs typeface="Consolas" pitchFamily="34" charset="-120"/>
              </a:rPr>
              <a:t>14%</a:t>
            </a:r>
            <a:endParaRPr lang="en-US" sz="1200" dirty="0"/>
          </a:p>
        </p:txBody>
      </p:sp>
      <p:sp>
        <p:nvSpPr>
          <p:cNvPr id="27" name="Molloy-Reed card"/>
          <p:cNvSpPr/>
          <p:nvPr/>
        </p:nvSpPr>
        <p:spPr>
          <a:xfrm>
            <a:off x="7467630" y="4692609"/>
            <a:ext cx="3911620" cy="1130290"/>
          </a:xfrm>
          <a:prstGeom prst="roundRect">
            <a:avLst>
              <a:gd name="adj" fmla="val 8988"/>
            </a:avLst>
          </a:prstGeom>
          <a:solidFill>
            <a:srgbClr val="10141C"/>
          </a:solidFill>
          <a:ln w="9525">
            <a:solidFill>
              <a:srgbClr val="262D3B"/>
            </a:solidFill>
            <a:prstDash val="solid"/>
          </a:ln>
        </p:spPr>
      </p:sp>
      <p:sp>
        <p:nvSpPr>
          <p:cNvPr id="28" name="Text 61"/>
          <p:cNvSpPr txBox="1"/>
          <p:nvPr/>
        </p:nvSpPr>
        <p:spPr>
          <a:xfrm>
            <a:off x="7645390" y="4806909"/>
            <a:ext cx="3556010" cy="482620"/>
          </a:xfrm>
          <a:prstGeom prst="rect">
            <a:avLst/>
          </a:prstGeom>
          <a:noFill/>
          <a:ln/>
        </p:spPr>
        <p:txBody>
          <a:bodyPr wrap="square" lIns="0" tIns="0" rIns="0" bIns="0" rtlCol="0" anchor="t"/>
          <a:lstStyle/>
          <a:p>
            <a:pPr marL="0" indent="0">
              <a:buNone/>
            </a:pPr>
            <a:r>
              <a:rPr lang="en-US" sz="3200" b="1" dirty="0">
                <a:solidFill>
                  <a:srgbClr val="F2F4F8"/>
                </a:solidFill>
                <a:latin typeface="Consolas" pitchFamily="34" charset="0"/>
                <a:ea typeface="Consolas" pitchFamily="34" charset="-122"/>
                <a:cs typeface="Consolas" pitchFamily="34" charset="-120"/>
              </a:rPr>
              <a:t>κ = 72.6</a:t>
            </a:r>
            <a:endParaRPr lang="en-US" sz="3200" dirty="0"/>
          </a:p>
        </p:txBody>
      </p:sp>
      <p:sp>
        <p:nvSpPr>
          <p:cNvPr id="29" name="Text 62"/>
          <p:cNvSpPr txBox="1"/>
          <p:nvPr/>
        </p:nvSpPr>
        <p:spPr>
          <a:xfrm>
            <a:off x="7645390" y="5314950"/>
            <a:ext cx="3556010" cy="444490"/>
          </a:xfrm>
          <a:prstGeom prst="rect">
            <a:avLst/>
          </a:prstGeom>
          <a:noFill/>
          <a:ln/>
        </p:spPr>
        <p:txBody>
          <a:bodyPr wrap="square" lIns="0" tIns="0" rIns="0" bIns="0" rtlCol="0" anchor="t"/>
          <a:lstStyle/>
          <a:p>
            <a:pPr marL="0" indent="0">
              <a:lnSpc>
                <a:spcPct val="120000"/>
              </a:lnSpc>
              <a:buNone/>
            </a:pPr>
            <a:r>
              <a:rPr lang="en-US" sz="1200" dirty="0">
                <a:solidFill>
                  <a:srgbClr val="B4BCCB"/>
                </a:solidFill>
                <a:latin typeface="Arial" pitchFamily="34" charset="0"/>
                <a:ea typeface="Arial" pitchFamily="34" charset="-122"/>
                <a:cs typeface="Arial" pitchFamily="34" charset="-120"/>
              </a:rPr>
              <a:t>Molloy–Reed: κ ≫ 2, so random failure must remove 98.6% to break it</a:t>
            </a:r>
            <a:endParaRPr lang="en-US" sz="1200" dirty="0"/>
          </a:p>
        </p:txBody>
      </p:sp>
      <p:sp>
        <p:nvSpPr>
          <p:cNvPr id="30" name="Slide Number Placeholder 0"/>
          <p:cNvSpPr>
            <a:spLocks noGrp="1"/>
          </p:cNvSpPr>
          <p:nvPr>
            <p:ph type="sldNum" sz="quarter" idx="4294967295"/>
          </p:nvPr>
        </p:nvSpPr>
        <p:spPr>
          <a:xfrm>
            <a:off x="10109241" y="6235659"/>
            <a:ext cx="1270010" cy="21589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7C8699"/>
                </a:solidFill>
                <a:latin typeface="Consolas"/>
                <a:ea typeface="Consolas"/>
                <a:cs typeface="Consolas"/>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812810" y="1104870"/>
            <a:ext cx="10566441" cy="469910"/>
          </a:xfrm>
          <a:prstGeom prst="rect">
            <a:avLst/>
          </a:prstGeom>
          <a:noFill/>
          <a:ln/>
        </p:spPr>
        <p:txBody>
          <a:bodyPr wrap="square" lIns="0" tIns="0" rIns="0" bIns="0" rtlCol="0" anchor="t"/>
          <a:lstStyle/>
          <a:p>
            <a:pPr marL="0" indent="0" algn="l">
              <a:buNone/>
            </a:pPr>
            <a:r>
              <a:rPr lang="en-US" sz="3200" b="1" dirty="0">
                <a:solidFill>
                  <a:srgbClr val="F2F4F8"/>
                </a:solidFill>
                <a:latin typeface="Arial" pitchFamily="34" charset="0"/>
                <a:ea typeface="Arial" pitchFamily="34" charset="-122"/>
                <a:cs typeface="Arial" pitchFamily="34" charset="-120"/>
              </a:rPr>
              <a:t>What the structure means for learning</a:t>
            </a:r>
            <a:endParaRPr lang="en-US" sz="3200" dirty="0"/>
          </a:p>
        </p:txBody>
      </p:sp>
      <p:sp>
        <p:nvSpPr>
          <p:cNvPr id="3" name="Eyebrow"/>
          <p:cNvSpPr txBox="1"/>
          <p:nvPr/>
        </p:nvSpPr>
        <p:spPr>
          <a:xfrm>
            <a:off x="812810" y="812810"/>
            <a:ext cx="10566441" cy="215890"/>
          </a:xfrm>
          <a:prstGeom prst="rect">
            <a:avLst/>
          </a:prstGeom>
          <a:noFill/>
          <a:ln/>
        </p:spPr>
        <p:txBody>
          <a:bodyPr wrap="square" lIns="0" tIns="0" rIns="0" bIns="0" rtlCol="0" anchor="ctr"/>
          <a:lstStyle/>
          <a:p>
            <a:pPr marL="0" indent="0">
              <a:buNone/>
            </a:pPr>
            <a:r>
              <a:rPr lang="en-US" sz="1200" kern="0" spc="150" dirty="0">
                <a:solidFill>
                  <a:srgbClr val="3987E5"/>
                </a:solidFill>
                <a:latin typeface="Consolas" pitchFamily="34" charset="0"/>
                <a:ea typeface="Consolas" pitchFamily="34" charset="-122"/>
                <a:cs typeface="Consolas" pitchFamily="34" charset="-120"/>
              </a:rPr>
              <a:t>05 · DISCUSSION</a:t>
            </a:r>
            <a:endParaRPr lang="en-US" sz="1200" dirty="0"/>
          </a:p>
        </p:txBody>
      </p:sp>
      <p:sp>
        <p:nvSpPr>
          <p:cNvPr id="4" name="Text 63"/>
          <p:cNvSpPr txBox="1"/>
          <p:nvPr/>
        </p:nvSpPr>
        <p:spPr>
          <a:xfrm>
            <a:off x="812810" y="1835109"/>
            <a:ext cx="5080041" cy="254020"/>
          </a:xfrm>
          <a:prstGeom prst="rect">
            <a:avLst/>
          </a:prstGeom>
          <a:noFill/>
          <a:ln/>
        </p:spPr>
        <p:txBody>
          <a:bodyPr wrap="square" lIns="0" tIns="0" rIns="0" bIns="0" rtlCol="0" anchor="t"/>
          <a:lstStyle/>
          <a:p>
            <a:pPr marL="0" indent="0">
              <a:buNone/>
            </a:pPr>
            <a:r>
              <a:rPr lang="en-US" sz="1400" b="1" dirty="0">
                <a:solidFill>
                  <a:srgbClr val="3987E5"/>
                </a:solidFill>
                <a:latin typeface="Arial" pitchFamily="34" charset="0"/>
                <a:ea typeface="Arial" pitchFamily="34" charset="-122"/>
                <a:cs typeface="Arial" pitchFamily="34" charset="-120"/>
              </a:rPr>
              <a:t>Theoretical</a:t>
            </a:r>
            <a:endParaRPr lang="en-US" sz="1400" dirty="0"/>
          </a:p>
        </p:txBody>
      </p:sp>
      <p:sp>
        <p:nvSpPr>
          <p:cNvPr id="5" name="Text 64"/>
          <p:cNvSpPr txBox="1"/>
          <p:nvPr/>
        </p:nvSpPr>
        <p:spPr>
          <a:xfrm>
            <a:off x="812810" y="2203430"/>
            <a:ext cx="5080041" cy="254020"/>
          </a:xfrm>
          <a:prstGeom prst="rect">
            <a:avLst/>
          </a:prstGeom>
          <a:noFill/>
          <a:ln/>
        </p:spPr>
        <p:txBody>
          <a:bodyPr wrap="square" lIns="0" tIns="0" rIns="0" bIns="0" rtlCol="0" anchor="t"/>
          <a:lstStyle/>
          <a:p>
            <a:pPr marL="0" indent="0">
              <a:buNone/>
            </a:pPr>
            <a:r>
              <a:rPr lang="en-US" sz="1400" b="1" dirty="0">
                <a:solidFill>
                  <a:srgbClr val="F2F4F8"/>
                </a:solidFill>
                <a:latin typeface="Arial" pitchFamily="34" charset="0"/>
                <a:ea typeface="Arial" pitchFamily="34" charset="-122"/>
                <a:cs typeface="Arial" pitchFamily="34" charset="-120"/>
              </a:rPr>
              <a:t>Designed text behaves like natural language</a:t>
            </a:r>
            <a:endParaRPr lang="en-US" sz="1400" dirty="0"/>
          </a:p>
        </p:txBody>
      </p:sp>
      <p:sp>
        <p:nvSpPr>
          <p:cNvPr id="6" name="Text 65"/>
          <p:cNvSpPr txBox="1"/>
          <p:nvPr/>
        </p:nvSpPr>
        <p:spPr>
          <a:xfrm>
            <a:off x="812810" y="2482870"/>
            <a:ext cx="5080041" cy="457200"/>
          </a:xfrm>
          <a:prstGeom prst="rect">
            <a:avLst/>
          </a:prstGeom>
          <a:noFill/>
          <a:ln/>
        </p:spPr>
        <p:txBody>
          <a:bodyPr wrap="square" lIns="0" tIns="0" rIns="0" bIns="0" rtlCol="0" anchor="t"/>
          <a:lstStyle/>
          <a:p>
            <a:pPr marL="0" indent="0">
              <a:lnSpc>
                <a:spcPct val="120000"/>
              </a:lnSpc>
              <a:buNone/>
            </a:pPr>
            <a:r>
              <a:rPr lang="en-US" sz="1200" dirty="0">
                <a:solidFill>
                  <a:srgbClr val="B4BCCB"/>
                </a:solidFill>
                <a:latin typeface="Arial" pitchFamily="34" charset="0"/>
                <a:ea typeface="Arial" pitchFamily="34" charset="-122"/>
                <a:cs typeface="Arial" pitchFamily="34" charset="-120"/>
              </a:rPr>
              <a:t>Heavy tail, small world and loose modules, like the word networks of natural language (Ferrer i Cancho &amp; Solé).</a:t>
            </a:r>
            <a:endParaRPr lang="en-US" sz="1200" dirty="0"/>
          </a:p>
        </p:txBody>
      </p:sp>
      <p:sp>
        <p:nvSpPr>
          <p:cNvPr id="7" name="Text 66"/>
          <p:cNvSpPr txBox="1"/>
          <p:nvPr/>
        </p:nvSpPr>
        <p:spPr>
          <a:xfrm>
            <a:off x="812810" y="3067080"/>
            <a:ext cx="5080041" cy="254020"/>
          </a:xfrm>
          <a:prstGeom prst="rect">
            <a:avLst/>
          </a:prstGeom>
          <a:noFill/>
          <a:ln/>
        </p:spPr>
        <p:txBody>
          <a:bodyPr wrap="square" lIns="0" tIns="0" rIns="0" bIns="0" rtlCol="0" anchor="t"/>
          <a:lstStyle/>
          <a:p>
            <a:pPr marL="0" indent="0">
              <a:buNone/>
            </a:pPr>
            <a:r>
              <a:rPr lang="en-US" sz="1400" b="1" dirty="0">
                <a:solidFill>
                  <a:srgbClr val="F2F4F8"/>
                </a:solidFill>
                <a:latin typeface="Arial" pitchFamily="34" charset="0"/>
                <a:ea typeface="Arial" pitchFamily="34" charset="-122"/>
                <a:cs typeface="Arial" pitchFamily="34" charset="-120"/>
              </a:rPr>
              <a:t>Hubs come from reuse</a:t>
            </a:r>
            <a:endParaRPr lang="en-US" sz="1400" dirty="0"/>
          </a:p>
        </p:txBody>
      </p:sp>
      <p:sp>
        <p:nvSpPr>
          <p:cNvPr id="8" name="Text 67"/>
          <p:cNvSpPr txBox="1"/>
          <p:nvPr/>
        </p:nvSpPr>
        <p:spPr>
          <a:xfrm>
            <a:off x="812810" y="3346430"/>
            <a:ext cx="5080041" cy="457200"/>
          </a:xfrm>
          <a:prstGeom prst="rect">
            <a:avLst/>
          </a:prstGeom>
          <a:noFill/>
          <a:ln/>
        </p:spPr>
        <p:txBody>
          <a:bodyPr wrap="square" lIns="0" tIns="0" rIns="0" bIns="0" rtlCol="0" anchor="t"/>
          <a:lstStyle/>
          <a:p>
            <a:pPr marL="0" indent="0">
              <a:lnSpc>
                <a:spcPct val="120000"/>
              </a:lnSpc>
              <a:buNone/>
            </a:pPr>
            <a:r>
              <a:rPr lang="en-US" sz="1200" dirty="0">
                <a:solidFill>
                  <a:srgbClr val="B4BCCB"/>
                </a:solidFill>
                <a:latin typeface="Arial" pitchFamily="34" charset="0"/>
                <a:ea typeface="Arial" pitchFamily="34" charset="-122"/>
                <a:cs typeface="Arial" pitchFamily="34" charset="-120"/>
              </a:rPr>
              <a:t>Each lesson links back to the same few function words, as preferential attachment predicts; growth over lessons is still to be tested.</a:t>
            </a:r>
            <a:endParaRPr lang="en-US" sz="1200" dirty="0"/>
          </a:p>
        </p:txBody>
      </p:sp>
      <p:sp>
        <p:nvSpPr>
          <p:cNvPr id="9" name="Text 68"/>
          <p:cNvSpPr txBox="1"/>
          <p:nvPr/>
        </p:nvSpPr>
        <p:spPr>
          <a:xfrm>
            <a:off x="812810" y="3930640"/>
            <a:ext cx="5080041" cy="254020"/>
          </a:xfrm>
          <a:prstGeom prst="rect">
            <a:avLst/>
          </a:prstGeom>
          <a:noFill/>
          <a:ln/>
        </p:spPr>
        <p:txBody>
          <a:bodyPr wrap="square" lIns="0" tIns="0" rIns="0" bIns="0" rtlCol="0" anchor="t"/>
          <a:lstStyle/>
          <a:p>
            <a:pPr marL="0" indent="0">
              <a:buNone/>
            </a:pPr>
            <a:r>
              <a:rPr lang="en-US" sz="1400" b="1" dirty="0">
                <a:solidFill>
                  <a:srgbClr val="F2F4F8"/>
                </a:solidFill>
                <a:latin typeface="Arial" pitchFamily="34" charset="0"/>
                <a:ea typeface="Arial" pitchFamily="34" charset="-122"/>
                <a:cs typeface="Arial" pitchFamily="34" charset="-120"/>
              </a:rPr>
              <a:t>Robust yet fragile</a:t>
            </a:r>
            <a:endParaRPr lang="en-US" sz="1400" dirty="0"/>
          </a:p>
        </p:txBody>
      </p:sp>
      <p:sp>
        <p:nvSpPr>
          <p:cNvPr id="10" name="Text 69"/>
          <p:cNvSpPr txBox="1"/>
          <p:nvPr/>
        </p:nvSpPr>
        <p:spPr>
          <a:xfrm>
            <a:off x="812810" y="4210080"/>
            <a:ext cx="5080041" cy="457200"/>
          </a:xfrm>
          <a:prstGeom prst="rect">
            <a:avLst/>
          </a:prstGeom>
          <a:noFill/>
          <a:ln/>
        </p:spPr>
        <p:txBody>
          <a:bodyPr wrap="square" lIns="0" tIns="0" rIns="0" bIns="0" rtlCol="0" anchor="t"/>
          <a:lstStyle/>
          <a:p>
            <a:pPr marL="0" indent="0">
              <a:lnSpc>
                <a:spcPct val="120000"/>
              </a:lnSpc>
              <a:buNone/>
            </a:pPr>
            <a:r>
              <a:rPr lang="en-US" sz="1200" dirty="0">
                <a:solidFill>
                  <a:srgbClr val="B4BCCB"/>
                </a:solidFill>
                <a:latin typeface="Arial" pitchFamily="34" charset="0"/>
                <a:ea typeface="Arial" pitchFamily="34" charset="-122"/>
                <a:cs typeface="Arial" pitchFamily="34" charset="-120"/>
              </a:rPr>
              <a:t>As Albert et al. found for the Internet: random gaps cost little, missing hubs cost most of the network.</a:t>
            </a:r>
            <a:endParaRPr lang="en-US" sz="1200" dirty="0"/>
          </a:p>
        </p:txBody>
      </p:sp>
      <p:sp>
        <p:nvSpPr>
          <p:cNvPr id="11" name="Text 70"/>
          <p:cNvSpPr txBox="1"/>
          <p:nvPr/>
        </p:nvSpPr>
        <p:spPr>
          <a:xfrm>
            <a:off x="812810" y="4794291"/>
            <a:ext cx="5080041" cy="254020"/>
          </a:xfrm>
          <a:prstGeom prst="rect">
            <a:avLst/>
          </a:prstGeom>
          <a:noFill/>
          <a:ln/>
        </p:spPr>
        <p:txBody>
          <a:bodyPr wrap="square" lIns="0" tIns="0" rIns="0" bIns="0" rtlCol="0" anchor="t"/>
          <a:lstStyle/>
          <a:p>
            <a:pPr marL="0" indent="0">
              <a:buNone/>
            </a:pPr>
            <a:r>
              <a:rPr lang="en-US" sz="1400" b="1" dirty="0">
                <a:solidFill>
                  <a:srgbClr val="F2F4F8"/>
                </a:solidFill>
                <a:latin typeface="Arial" pitchFamily="34" charset="0"/>
                <a:ea typeface="Arial" pitchFamily="34" charset="-122"/>
                <a:cs typeface="Arial" pitchFamily="34" charset="-120"/>
              </a:rPr>
              <a:t>Organised by topic, not difficulty</a:t>
            </a:r>
            <a:endParaRPr lang="en-US" sz="1400" dirty="0"/>
          </a:p>
        </p:txBody>
      </p:sp>
      <p:sp>
        <p:nvSpPr>
          <p:cNvPr id="12" name="Text 71"/>
          <p:cNvSpPr txBox="1"/>
          <p:nvPr/>
        </p:nvSpPr>
        <p:spPr>
          <a:xfrm>
            <a:off x="812810" y="5073640"/>
            <a:ext cx="5080041" cy="457200"/>
          </a:xfrm>
          <a:prstGeom prst="rect">
            <a:avLst/>
          </a:prstGeom>
          <a:noFill/>
          <a:ln/>
        </p:spPr>
        <p:txBody>
          <a:bodyPr wrap="square" lIns="0" tIns="0" rIns="0" bIns="0" rtlCol="0" anchor="t"/>
          <a:lstStyle/>
          <a:p>
            <a:pPr marL="0" indent="0">
              <a:lnSpc>
                <a:spcPct val="120000"/>
              </a:lnSpc>
              <a:buNone/>
            </a:pPr>
            <a:r>
              <a:rPr lang="en-US" sz="1200" dirty="0">
                <a:solidFill>
                  <a:srgbClr val="B4BCCB"/>
                </a:solidFill>
                <a:latin typeface="Arial" pitchFamily="34" charset="0"/>
                <a:ea typeface="Arial" pitchFamily="34" charset="-122"/>
                <a:cs typeface="Arial" pitchFamily="34" charset="-120"/>
              </a:rPr>
              <a:t>Communities match lessons (NMI 0.39) far more than HSK levels (0.10).</a:t>
            </a:r>
            <a:endParaRPr lang="en-US" sz="1200" dirty="0"/>
          </a:p>
        </p:txBody>
      </p:sp>
      <p:sp>
        <p:nvSpPr>
          <p:cNvPr id="13" name="Text 72"/>
          <p:cNvSpPr txBox="1"/>
          <p:nvPr/>
        </p:nvSpPr>
        <p:spPr>
          <a:xfrm>
            <a:off x="6299210" y="1835109"/>
            <a:ext cx="5080041" cy="254020"/>
          </a:xfrm>
          <a:prstGeom prst="rect">
            <a:avLst/>
          </a:prstGeom>
          <a:noFill/>
          <a:ln/>
        </p:spPr>
        <p:txBody>
          <a:bodyPr wrap="square" lIns="0" tIns="0" rIns="0" bIns="0" rtlCol="0" anchor="t"/>
          <a:lstStyle/>
          <a:p>
            <a:pPr marL="0" indent="0">
              <a:buNone/>
            </a:pPr>
            <a:r>
              <a:rPr lang="en-US" sz="1400" b="1" dirty="0">
                <a:solidFill>
                  <a:srgbClr val="3987E5"/>
                </a:solidFill>
                <a:latin typeface="Arial" pitchFamily="34" charset="0"/>
                <a:ea typeface="Arial" pitchFamily="34" charset="-122"/>
                <a:cs typeface="Arial" pitchFamily="34" charset="-120"/>
              </a:rPr>
              <a:t>Practical: learn the hubs first</a:t>
            </a:r>
            <a:endParaRPr lang="en-US" sz="1400" dirty="0"/>
          </a:p>
        </p:txBody>
      </p:sp>
      <p:graphicFrame>
        <p:nvGraphicFramePr>
          <p:cNvPr id="14" name="Chart: hub coverage"/>
          <p:cNvGraphicFramePr/>
          <p:nvPr/>
        </p:nvGraphicFramePr>
        <p:xfrm>
          <a:off x="6299210" y="2114550"/>
          <a:ext cx="5080041"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15" name="Coverage callout"/>
          <p:cNvSpPr txBox="1"/>
          <p:nvPr/>
        </p:nvSpPr>
        <p:spPr>
          <a:xfrm>
            <a:off x="6299210" y="4476720"/>
            <a:ext cx="5080041" cy="444490"/>
          </a:xfrm>
          <a:prstGeom prst="rect">
            <a:avLst/>
          </a:prstGeom>
          <a:noFill/>
          <a:ln/>
        </p:spPr>
        <p:txBody>
          <a:bodyPr wrap="square" lIns="0" tIns="0" rIns="0" bIns="0" rtlCol="0" anchor="t"/>
          <a:lstStyle/>
          <a:p>
            <a:pPr marL="0" indent="0">
              <a:lnSpc>
                <a:spcPct val="125000"/>
              </a:lnSpc>
              <a:buNone/>
            </a:pPr>
            <a:r>
              <a:rPr lang="en-US" sz="1200" dirty="0">
                <a:solidFill>
                  <a:srgbClr val="F2F4F8"/>
                </a:solidFill>
                <a:latin typeface="Arial" pitchFamily="34" charset="0"/>
                <a:ea typeface="Arial" pitchFamily="34" charset="-122"/>
                <a:cs typeface="Arial" pitchFamily="34" charset="-120"/>
              </a:rPr>
              <a:t>100 hubs → 79% of uses, 50% of sentences</a:t>
            </a:r>
            <a:endParaRPr lang="en-US" sz="1200" dirty="0"/>
          </a:p>
          <a:p>
            <a:pPr marL="0" indent="0">
              <a:lnSpc>
                <a:spcPct val="125000"/>
              </a:lnSpc>
              <a:buNone/>
            </a:pPr>
            <a:r>
              <a:rPr lang="en-US" sz="1200" dirty="0">
                <a:solidFill>
                  <a:srgbClr val="F2F4F8"/>
                </a:solidFill>
                <a:latin typeface="Arial" pitchFamily="34" charset="0"/>
                <a:ea typeface="Arial" pitchFamily="34" charset="-122"/>
                <a:cs typeface="Arial" pitchFamily="34" charset="-120"/>
              </a:rPr>
              <a:t>200 hubs → 91% of uses, 81% of sentences</a:t>
            </a:r>
            <a:endParaRPr lang="en-US" sz="1200" dirty="0"/>
          </a:p>
        </p:txBody>
      </p:sp>
      <p:sp>
        <p:nvSpPr>
          <p:cNvPr id="16" name="Practical implications"/>
          <p:cNvSpPr txBox="1"/>
          <p:nvPr/>
        </p:nvSpPr>
        <p:spPr>
          <a:xfrm>
            <a:off x="6299210" y="5035509"/>
            <a:ext cx="5080041" cy="698510"/>
          </a:xfrm>
          <a:prstGeom prst="rect">
            <a:avLst/>
          </a:prstGeom>
          <a:noFill/>
          <a:ln/>
        </p:spPr>
        <p:txBody>
          <a:bodyPr wrap="square" lIns="0" tIns="0" rIns="0" bIns="0" rtlCol="0" anchor="t"/>
          <a:lstStyle/>
          <a:p>
            <a:pPr marL="0" indent="0">
              <a:lnSpc>
                <a:spcPct val="125000"/>
              </a:lnSpc>
              <a:spcAft>
                <a:spcPts val="600"/>
              </a:spcAft>
              <a:buNone/>
            </a:pPr>
            <a:r>
              <a:rPr lang="en-US" sz="1200" b="1" dirty="0">
                <a:solidFill>
                  <a:srgbClr val="F2F4F8"/>
                </a:solidFill>
                <a:latin typeface="Arial" pitchFamily="34" charset="0"/>
                <a:ea typeface="Arial" pitchFamily="34" charset="-122"/>
                <a:cs typeface="Arial" pitchFamily="34" charset="-120"/>
              </a:rPr>
              <a:t>Order study by degree: </a:t>
            </a:r>
            <a:r>
              <a:rPr lang="en-US" sz="1200" dirty="0">
                <a:solidFill>
                  <a:srgbClr val="B4BCCB"/>
                </a:solidFill>
                <a:latin typeface="Arial" pitchFamily="34" charset="0"/>
                <a:ea typeface="Arial" pitchFamily="34" charset="-122"/>
                <a:cs typeface="Arial" pitchFamily="34" charset="-120"/>
              </a:rPr>
              <a:t>drill hub characters first, then their neighbours.</a:t>
            </a:r>
            <a:endParaRPr lang="en-US" sz="1200" dirty="0"/>
          </a:p>
          <a:p>
            <a:pPr marL="0" indent="0">
              <a:lnSpc>
                <a:spcPct val="125000"/>
              </a:lnSpc>
              <a:spcAft>
                <a:spcPts val="600"/>
              </a:spcAft>
              <a:buNone/>
            </a:pPr>
            <a:r>
              <a:rPr lang="en-US" sz="1200" b="1" dirty="0">
                <a:solidFill>
                  <a:srgbClr val="F2F4F8"/>
                </a:solidFill>
                <a:latin typeface="Arial" pitchFamily="34" charset="0"/>
                <a:ea typeface="Arial" pitchFamily="34" charset="-122"/>
                <a:cs typeface="Arial" pitchFamily="34" charset="-120"/>
              </a:rPr>
              <a:t>Treat a weak hub as an attack: </a:t>
            </a:r>
            <a:r>
              <a:rPr lang="en-US" sz="1200" dirty="0">
                <a:solidFill>
                  <a:srgbClr val="B4BCCB"/>
                </a:solidFill>
                <a:latin typeface="Arial" pitchFamily="34" charset="0"/>
                <a:ea typeface="Arial" pitchFamily="34" charset="-122"/>
                <a:cs typeface="Arial" pitchFamily="34" charset="-120"/>
              </a:rPr>
              <a:t>re-teach it before moving on.</a:t>
            </a:r>
            <a:endParaRPr lang="en-US" sz="1200" dirty="0"/>
          </a:p>
        </p:txBody>
      </p:sp>
      <p:sp>
        <p:nvSpPr>
          <p:cNvPr id="25" name="Slide Number Placeholder 0"/>
          <p:cNvSpPr>
            <a:spLocks noGrp="1"/>
          </p:cNvSpPr>
          <p:nvPr>
            <p:ph type="sldNum" sz="quarter" idx="4294967295"/>
          </p:nvPr>
        </p:nvSpPr>
        <p:spPr>
          <a:xfrm>
            <a:off x="10109241" y="6235659"/>
            <a:ext cx="1270010" cy="21589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7C8699"/>
                </a:solidFill>
                <a:latin typeface="Consolas"/>
                <a:ea typeface="Consolas"/>
                <a:cs typeface="Consolas"/>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812810" y="1104870"/>
            <a:ext cx="10566441" cy="469910"/>
          </a:xfrm>
          <a:prstGeom prst="rect">
            <a:avLst/>
          </a:prstGeom>
          <a:noFill/>
          <a:ln/>
        </p:spPr>
        <p:txBody>
          <a:bodyPr wrap="square" lIns="0" tIns="0" rIns="0" bIns="0" rtlCol="0" anchor="t"/>
          <a:lstStyle/>
          <a:p>
            <a:pPr marL="0" indent="0" algn="l">
              <a:buNone/>
            </a:pPr>
            <a:r>
              <a:rPr lang="en-US" sz="3200" b="1" dirty="0">
                <a:solidFill>
                  <a:srgbClr val="F2F4F8"/>
                </a:solidFill>
                <a:latin typeface="Arial" pitchFamily="34" charset="0"/>
                <a:ea typeface="Arial" pitchFamily="34" charset="-122"/>
                <a:cs typeface="Arial" pitchFamily="34" charset="-120"/>
              </a:rPr>
              <a:t>Four questions, four answers</a:t>
            </a:r>
            <a:endParaRPr lang="en-US" sz="3200" dirty="0"/>
          </a:p>
        </p:txBody>
      </p:sp>
      <p:sp>
        <p:nvSpPr>
          <p:cNvPr id="3" name="Eyebrow"/>
          <p:cNvSpPr txBox="1"/>
          <p:nvPr/>
        </p:nvSpPr>
        <p:spPr>
          <a:xfrm>
            <a:off x="812810" y="812810"/>
            <a:ext cx="10566441" cy="215890"/>
          </a:xfrm>
          <a:prstGeom prst="rect">
            <a:avLst/>
          </a:prstGeom>
          <a:noFill/>
          <a:ln/>
        </p:spPr>
        <p:txBody>
          <a:bodyPr wrap="square" lIns="0" tIns="0" rIns="0" bIns="0" rtlCol="0" anchor="ctr"/>
          <a:lstStyle/>
          <a:p>
            <a:pPr marL="0" indent="0">
              <a:buNone/>
            </a:pPr>
            <a:r>
              <a:rPr lang="en-US" sz="1200" kern="0" spc="150" dirty="0">
                <a:solidFill>
                  <a:srgbClr val="6AA5EE"/>
                </a:solidFill>
                <a:latin typeface="Consolas" pitchFamily="34" charset="0"/>
                <a:ea typeface="Consolas" pitchFamily="34" charset="-122"/>
                <a:cs typeface="Consolas" pitchFamily="34" charset="-120"/>
              </a:rPr>
              <a:t>06 · CONCLUSION</a:t>
            </a:r>
            <a:endParaRPr lang="en-US" sz="1200" dirty="0"/>
          </a:p>
        </p:txBody>
      </p:sp>
      <p:sp>
        <p:nvSpPr>
          <p:cNvPr id="4" name="Answer 1"/>
          <p:cNvSpPr/>
          <p:nvPr/>
        </p:nvSpPr>
        <p:spPr>
          <a:xfrm>
            <a:off x="812810" y="1835109"/>
            <a:ext cx="5206959" cy="1365291"/>
          </a:xfrm>
          <a:prstGeom prst="roundRect">
            <a:avLst>
              <a:gd name="adj" fmla="val 7441"/>
            </a:avLst>
          </a:prstGeom>
          <a:solidFill>
            <a:srgbClr val="10141C"/>
          </a:solidFill>
          <a:ln w="9525">
            <a:solidFill>
              <a:srgbClr val="2A3A58"/>
            </a:solidFill>
            <a:prstDash val="solid"/>
          </a:ln>
        </p:spPr>
      </p:sp>
      <p:sp>
        <p:nvSpPr>
          <p:cNvPr id="5" name="Text 73"/>
          <p:cNvSpPr txBox="1"/>
          <p:nvPr/>
        </p:nvSpPr>
        <p:spPr>
          <a:xfrm>
            <a:off x="990570" y="1987540"/>
            <a:ext cx="4851441" cy="215890"/>
          </a:xfrm>
          <a:prstGeom prst="rect">
            <a:avLst/>
          </a:prstGeom>
          <a:noFill/>
          <a:ln/>
        </p:spPr>
        <p:txBody>
          <a:bodyPr wrap="square" lIns="0" tIns="0" rIns="0" bIns="0" rtlCol="0" anchor="ctr"/>
          <a:lstStyle/>
          <a:p>
            <a:pPr marL="0" indent="0">
              <a:buNone/>
            </a:pPr>
            <a:r>
              <a:rPr lang="en-US" sz="1200" dirty="0">
                <a:solidFill>
                  <a:srgbClr val="6AA5EE"/>
                </a:solidFill>
                <a:latin typeface="Consolas" pitchFamily="34" charset="0"/>
                <a:ea typeface="Consolas" pitchFamily="34" charset="-122"/>
                <a:cs typeface="Consolas" pitchFamily="34" charset="-120"/>
              </a:rPr>
              <a:t>Q1 · Structure</a:t>
            </a:r>
            <a:endParaRPr lang="en-US" sz="1200" dirty="0"/>
          </a:p>
        </p:txBody>
      </p:sp>
      <p:sp>
        <p:nvSpPr>
          <p:cNvPr id="6" name="Text 74"/>
          <p:cNvSpPr txBox="1"/>
          <p:nvPr/>
        </p:nvSpPr>
        <p:spPr>
          <a:xfrm>
            <a:off x="990570" y="2241560"/>
            <a:ext cx="4851441" cy="254020"/>
          </a:xfrm>
          <a:prstGeom prst="rect">
            <a:avLst/>
          </a:prstGeom>
          <a:noFill/>
          <a:ln/>
        </p:spPr>
        <p:txBody>
          <a:bodyPr wrap="square" lIns="0" tIns="0" rIns="0" bIns="0" rtlCol="0" anchor="t"/>
          <a:lstStyle/>
          <a:p>
            <a:pPr marL="0" indent="0">
              <a:buNone/>
            </a:pPr>
            <a:r>
              <a:rPr lang="en-US" sz="1400" b="1" dirty="0">
                <a:solidFill>
                  <a:srgbClr val="F2F4F8"/>
                </a:solidFill>
                <a:latin typeface="Arial" pitchFamily="34" charset="0"/>
                <a:ea typeface="Arial" pitchFamily="34" charset="-122"/>
                <a:cs typeface="Arial" pitchFamily="34" charset="-120"/>
              </a:rPr>
              <a:t>Heavy-tailed and small-world by σ</a:t>
            </a:r>
            <a:endParaRPr lang="en-US" sz="1400" dirty="0"/>
          </a:p>
        </p:txBody>
      </p:sp>
      <p:sp>
        <p:nvSpPr>
          <p:cNvPr id="7" name="Text 75"/>
          <p:cNvSpPr txBox="1"/>
          <p:nvPr/>
        </p:nvSpPr>
        <p:spPr>
          <a:xfrm>
            <a:off x="990570" y="2533620"/>
            <a:ext cx="4851441" cy="508041"/>
          </a:xfrm>
          <a:prstGeom prst="rect">
            <a:avLst/>
          </a:prstGeom>
          <a:noFill/>
          <a:ln/>
        </p:spPr>
        <p:txBody>
          <a:bodyPr wrap="square" lIns="0" tIns="0" rIns="0" bIns="0" rtlCol="0" anchor="t"/>
          <a:lstStyle/>
          <a:p>
            <a:pPr marL="0" indent="0">
              <a:lnSpc>
                <a:spcPct val="120000"/>
              </a:lnSpc>
              <a:buNone/>
            </a:pPr>
            <a:r>
              <a:rPr lang="en-US" sz="1200" dirty="0">
                <a:solidFill>
                  <a:srgbClr val="B4BCCB"/>
                </a:solidFill>
                <a:latin typeface="Arial" pitchFamily="34" charset="0"/>
                <a:ea typeface="Arial" pitchFamily="34" charset="-122"/>
                <a:cs typeface="Arial" pitchFamily="34" charset="-120"/>
              </a:rPr>
              <a:t>Tail α = 2.75; C is 79× random with L = 3.45. But ω = 0.84, and a lognormal fits the tail as well.</a:t>
            </a:r>
            <a:endParaRPr lang="en-US" sz="1200" dirty="0"/>
          </a:p>
        </p:txBody>
      </p:sp>
      <p:sp>
        <p:nvSpPr>
          <p:cNvPr id="8" name="Answer 2"/>
          <p:cNvSpPr/>
          <p:nvPr/>
        </p:nvSpPr>
        <p:spPr>
          <a:xfrm>
            <a:off x="6172200" y="1835109"/>
            <a:ext cx="5206959" cy="1365291"/>
          </a:xfrm>
          <a:prstGeom prst="roundRect">
            <a:avLst>
              <a:gd name="adj" fmla="val 7441"/>
            </a:avLst>
          </a:prstGeom>
          <a:solidFill>
            <a:srgbClr val="10141C"/>
          </a:solidFill>
          <a:ln w="9525">
            <a:solidFill>
              <a:srgbClr val="2A3A58"/>
            </a:solidFill>
            <a:prstDash val="solid"/>
          </a:ln>
        </p:spPr>
      </p:sp>
      <p:sp>
        <p:nvSpPr>
          <p:cNvPr id="9" name="Text 76"/>
          <p:cNvSpPr txBox="1"/>
          <p:nvPr/>
        </p:nvSpPr>
        <p:spPr>
          <a:xfrm>
            <a:off x="6349959" y="1987540"/>
            <a:ext cx="4851441" cy="215890"/>
          </a:xfrm>
          <a:prstGeom prst="rect">
            <a:avLst/>
          </a:prstGeom>
          <a:noFill/>
          <a:ln/>
        </p:spPr>
        <p:txBody>
          <a:bodyPr wrap="square" lIns="0" tIns="0" rIns="0" bIns="0" rtlCol="0" anchor="ctr"/>
          <a:lstStyle/>
          <a:p>
            <a:pPr marL="0" indent="0">
              <a:buNone/>
            </a:pPr>
            <a:r>
              <a:rPr lang="en-US" sz="1200" dirty="0">
                <a:solidFill>
                  <a:srgbClr val="6AA5EE"/>
                </a:solidFill>
                <a:latin typeface="Consolas" pitchFamily="34" charset="0"/>
                <a:ea typeface="Consolas" pitchFamily="34" charset="-122"/>
                <a:cs typeface="Consolas" pitchFamily="34" charset="-120"/>
              </a:rPr>
              <a:t>Q2 · Hubs</a:t>
            </a:r>
            <a:endParaRPr lang="en-US" sz="1200" dirty="0"/>
          </a:p>
        </p:txBody>
      </p:sp>
      <p:sp>
        <p:nvSpPr>
          <p:cNvPr id="10" name="Text 77"/>
          <p:cNvSpPr txBox="1"/>
          <p:nvPr/>
        </p:nvSpPr>
        <p:spPr>
          <a:xfrm>
            <a:off x="6349959" y="2241560"/>
            <a:ext cx="4851441" cy="254020"/>
          </a:xfrm>
          <a:prstGeom prst="rect">
            <a:avLst/>
          </a:prstGeom>
          <a:noFill/>
          <a:ln/>
        </p:spPr>
        <p:txBody>
          <a:bodyPr wrap="square" lIns="0" tIns="0" rIns="0" bIns="0" rtlCol="0" anchor="t"/>
          <a:lstStyle/>
          <a:p>
            <a:pPr marL="0" indent="0">
              <a:buNone/>
            </a:pPr>
            <a:r>
              <a:rPr lang="en-US" sz="1400" b="1" dirty="0">
                <a:solidFill>
                  <a:srgbClr val="F2F4F8"/>
                </a:solidFill>
                <a:latin typeface="Arial" pitchFamily="34" charset="0"/>
                <a:ea typeface="Arial" pitchFamily="34" charset="-122"/>
                <a:cs typeface="Arial" pitchFamily="34" charset="-120"/>
              </a:rPr>
              <a:t>Four function words top every centrality</a:t>
            </a:r>
            <a:endParaRPr lang="en-US" sz="1400" dirty="0"/>
          </a:p>
        </p:txBody>
      </p:sp>
      <p:sp>
        <p:nvSpPr>
          <p:cNvPr id="11" name="Text 78"/>
          <p:cNvSpPr txBox="1"/>
          <p:nvPr/>
        </p:nvSpPr>
        <p:spPr>
          <a:xfrm>
            <a:off x="6349959" y="2533620"/>
            <a:ext cx="4851441" cy="508041"/>
          </a:xfrm>
          <a:prstGeom prst="rect">
            <a:avLst/>
          </a:prstGeom>
          <a:noFill/>
          <a:ln/>
        </p:spPr>
        <p:txBody>
          <a:bodyPr wrap="square" lIns="0" tIns="0" rIns="0" bIns="0" rtlCol="0" anchor="t"/>
          <a:lstStyle/>
          <a:p>
            <a:pPr marL="0" indent="0">
              <a:lnSpc>
                <a:spcPct val="120000"/>
              </a:lnSpc>
              <a:buNone/>
            </a:pPr>
            <a:r>
              <a:rPr lang="en-US" sz="1200" dirty="0">
                <a:solidFill>
                  <a:srgbClr val="B4BCCB"/>
                </a:solidFill>
                <a:latin typeface="Arial" pitchFamily="34" charset="0"/>
                <a:ea typeface="Arial" pitchFamily="34" charset="-122"/>
                <a:cs typeface="Arial" pitchFamily="34" charset="-120"/>
              </a:rPr>
              <a:t>我, 你, 的 and 了; Spearman ρ of 0.73–0.97 with degree; the k = 9 core holds 26% of nodes.</a:t>
            </a:r>
            <a:endParaRPr lang="en-US" sz="1200" dirty="0"/>
          </a:p>
        </p:txBody>
      </p:sp>
      <p:sp>
        <p:nvSpPr>
          <p:cNvPr id="12" name="Answer 3"/>
          <p:cNvSpPr/>
          <p:nvPr/>
        </p:nvSpPr>
        <p:spPr>
          <a:xfrm>
            <a:off x="812810" y="3352830"/>
            <a:ext cx="5206959" cy="1365291"/>
          </a:xfrm>
          <a:prstGeom prst="roundRect">
            <a:avLst>
              <a:gd name="adj" fmla="val 7441"/>
            </a:avLst>
          </a:prstGeom>
          <a:solidFill>
            <a:srgbClr val="10141C"/>
          </a:solidFill>
          <a:ln w="9525">
            <a:solidFill>
              <a:srgbClr val="2A3A58"/>
            </a:solidFill>
            <a:prstDash val="solid"/>
          </a:ln>
        </p:spPr>
      </p:sp>
      <p:sp>
        <p:nvSpPr>
          <p:cNvPr id="13" name="Text 79"/>
          <p:cNvSpPr txBox="1"/>
          <p:nvPr/>
        </p:nvSpPr>
        <p:spPr>
          <a:xfrm>
            <a:off x="990570" y="3505170"/>
            <a:ext cx="4851441" cy="215890"/>
          </a:xfrm>
          <a:prstGeom prst="rect">
            <a:avLst/>
          </a:prstGeom>
          <a:noFill/>
          <a:ln/>
        </p:spPr>
        <p:txBody>
          <a:bodyPr wrap="square" lIns="0" tIns="0" rIns="0" bIns="0" rtlCol="0" anchor="ctr"/>
          <a:lstStyle/>
          <a:p>
            <a:pPr marL="0" indent="0">
              <a:buNone/>
            </a:pPr>
            <a:r>
              <a:rPr lang="en-US" sz="1200" dirty="0">
                <a:solidFill>
                  <a:srgbClr val="6AA5EE"/>
                </a:solidFill>
                <a:latin typeface="Consolas" pitchFamily="34" charset="0"/>
                <a:ea typeface="Consolas" pitchFamily="34" charset="-122"/>
                <a:cs typeface="Consolas" pitchFamily="34" charset="-120"/>
              </a:rPr>
              <a:t>Q3 · Communities</a:t>
            </a:r>
            <a:endParaRPr lang="en-US" sz="1200" dirty="0"/>
          </a:p>
        </p:txBody>
      </p:sp>
      <p:sp>
        <p:nvSpPr>
          <p:cNvPr id="14" name="Text 80"/>
          <p:cNvSpPr txBox="1"/>
          <p:nvPr/>
        </p:nvSpPr>
        <p:spPr>
          <a:xfrm>
            <a:off x="990570" y="3759190"/>
            <a:ext cx="4851441" cy="254020"/>
          </a:xfrm>
          <a:prstGeom prst="rect">
            <a:avLst/>
          </a:prstGeom>
          <a:noFill/>
          <a:ln/>
        </p:spPr>
        <p:txBody>
          <a:bodyPr wrap="square" lIns="0" tIns="0" rIns="0" bIns="0" rtlCol="0" anchor="t"/>
          <a:lstStyle/>
          <a:p>
            <a:pPr marL="0" indent="0">
              <a:buNone/>
            </a:pPr>
            <a:r>
              <a:rPr lang="en-US" sz="1400" b="1" dirty="0">
                <a:solidFill>
                  <a:srgbClr val="F2F4F8"/>
                </a:solidFill>
                <a:latin typeface="Arial" pitchFamily="34" charset="0"/>
                <a:ea typeface="Arial" pitchFamily="34" charset="-122"/>
                <a:cs typeface="Arial" pitchFamily="34" charset="-120"/>
              </a:rPr>
              <a:t>Loose modules that track lessons, not levels</a:t>
            </a:r>
            <a:endParaRPr lang="en-US" sz="1400" dirty="0"/>
          </a:p>
        </p:txBody>
      </p:sp>
      <p:sp>
        <p:nvSpPr>
          <p:cNvPr id="15" name="Text 81"/>
          <p:cNvSpPr txBox="1"/>
          <p:nvPr/>
        </p:nvSpPr>
        <p:spPr>
          <a:xfrm>
            <a:off x="990570" y="4051341"/>
            <a:ext cx="4851441" cy="508041"/>
          </a:xfrm>
          <a:prstGeom prst="rect">
            <a:avLst/>
          </a:prstGeom>
          <a:noFill/>
          <a:ln/>
        </p:spPr>
        <p:txBody>
          <a:bodyPr wrap="square" lIns="0" tIns="0" rIns="0" bIns="0" rtlCol="0" anchor="t"/>
          <a:lstStyle/>
          <a:p>
            <a:pPr marL="0" indent="0">
              <a:lnSpc>
                <a:spcPct val="120000"/>
              </a:lnSpc>
              <a:buNone/>
            </a:pPr>
            <a:r>
              <a:rPr lang="en-US" sz="1200" dirty="0">
                <a:solidFill>
                  <a:srgbClr val="B4BCCB"/>
                </a:solidFill>
                <a:latin typeface="Arial" pitchFamily="34" charset="0"/>
                <a:ea typeface="Arial" pitchFamily="34" charset="-122"/>
                <a:cs typeface="Arial" pitchFamily="34" charset="-120"/>
              </a:rPr>
              <a:t>Q = 0.36 for 8 communities, none strong; NMI 0.39 with lesson vs 0.10 with HSK level.</a:t>
            </a:r>
            <a:endParaRPr lang="en-US" sz="1200" dirty="0"/>
          </a:p>
        </p:txBody>
      </p:sp>
      <p:sp>
        <p:nvSpPr>
          <p:cNvPr id="16" name="Answer 4"/>
          <p:cNvSpPr/>
          <p:nvPr/>
        </p:nvSpPr>
        <p:spPr>
          <a:xfrm>
            <a:off x="6172200" y="3352830"/>
            <a:ext cx="5206959" cy="1365291"/>
          </a:xfrm>
          <a:prstGeom prst="roundRect">
            <a:avLst>
              <a:gd name="adj" fmla="val 7441"/>
            </a:avLst>
          </a:prstGeom>
          <a:solidFill>
            <a:srgbClr val="10141C"/>
          </a:solidFill>
          <a:ln w="9525">
            <a:solidFill>
              <a:srgbClr val="2A3A58"/>
            </a:solidFill>
            <a:prstDash val="solid"/>
          </a:ln>
        </p:spPr>
      </p:sp>
      <p:sp>
        <p:nvSpPr>
          <p:cNvPr id="17" name="Text 82"/>
          <p:cNvSpPr txBox="1"/>
          <p:nvPr/>
        </p:nvSpPr>
        <p:spPr>
          <a:xfrm>
            <a:off x="6349959" y="3505170"/>
            <a:ext cx="4851441" cy="215890"/>
          </a:xfrm>
          <a:prstGeom prst="rect">
            <a:avLst/>
          </a:prstGeom>
          <a:noFill/>
          <a:ln/>
        </p:spPr>
        <p:txBody>
          <a:bodyPr wrap="square" lIns="0" tIns="0" rIns="0" bIns="0" rtlCol="0" anchor="ctr"/>
          <a:lstStyle/>
          <a:p>
            <a:pPr marL="0" indent="0">
              <a:buNone/>
            </a:pPr>
            <a:r>
              <a:rPr lang="en-US" sz="1200" dirty="0">
                <a:solidFill>
                  <a:srgbClr val="6AA5EE"/>
                </a:solidFill>
                <a:latin typeface="Consolas" pitchFamily="34" charset="0"/>
                <a:ea typeface="Consolas" pitchFamily="34" charset="-122"/>
                <a:cs typeface="Consolas" pitchFamily="34" charset="-120"/>
              </a:rPr>
              <a:t>Q4 · Robustness</a:t>
            </a:r>
            <a:endParaRPr lang="en-US" sz="1200" dirty="0"/>
          </a:p>
        </p:txBody>
      </p:sp>
      <p:sp>
        <p:nvSpPr>
          <p:cNvPr id="18" name="Text 83"/>
          <p:cNvSpPr txBox="1"/>
          <p:nvPr/>
        </p:nvSpPr>
        <p:spPr>
          <a:xfrm>
            <a:off x="6349959" y="3759190"/>
            <a:ext cx="4851441" cy="254020"/>
          </a:xfrm>
          <a:prstGeom prst="rect">
            <a:avLst/>
          </a:prstGeom>
          <a:noFill/>
          <a:ln/>
        </p:spPr>
        <p:txBody>
          <a:bodyPr wrap="square" lIns="0" tIns="0" rIns="0" bIns="0" rtlCol="0" anchor="t"/>
          <a:lstStyle/>
          <a:p>
            <a:pPr marL="0" indent="0">
              <a:buNone/>
            </a:pPr>
            <a:r>
              <a:rPr lang="en-US" sz="1400" b="1" dirty="0">
                <a:solidFill>
                  <a:srgbClr val="F2F4F8"/>
                </a:solidFill>
                <a:latin typeface="Arial" pitchFamily="34" charset="0"/>
                <a:ea typeface="Arial" pitchFamily="34" charset="-122"/>
                <a:cs typeface="Arial" pitchFamily="34" charset="-120"/>
              </a:rPr>
              <a:t>Robust to random gaps, fragile to hub loss</a:t>
            </a:r>
            <a:endParaRPr lang="en-US" sz="1400" dirty="0"/>
          </a:p>
        </p:txBody>
      </p:sp>
      <p:sp>
        <p:nvSpPr>
          <p:cNvPr id="19" name="Text 84"/>
          <p:cNvSpPr txBox="1"/>
          <p:nvPr/>
        </p:nvSpPr>
        <p:spPr>
          <a:xfrm>
            <a:off x="6349959" y="4051341"/>
            <a:ext cx="4851441" cy="508041"/>
          </a:xfrm>
          <a:prstGeom prst="rect">
            <a:avLst/>
          </a:prstGeom>
          <a:noFill/>
          <a:ln/>
        </p:spPr>
        <p:txBody>
          <a:bodyPr wrap="square" lIns="0" tIns="0" rIns="0" bIns="0" rtlCol="0" anchor="t"/>
          <a:lstStyle/>
          <a:p>
            <a:pPr marL="0" indent="0">
              <a:lnSpc>
                <a:spcPct val="120000"/>
              </a:lnSpc>
              <a:buNone/>
            </a:pPr>
            <a:r>
              <a:rPr lang="en-US" sz="1200" dirty="0">
                <a:solidFill>
                  <a:srgbClr val="B4BCCB"/>
                </a:solidFill>
                <a:latin typeface="Arial" pitchFamily="34" charset="0"/>
                <a:ea typeface="Arial" pitchFamily="34" charset="-122"/>
                <a:cs typeface="Arial" pitchFamily="34" charset="-120"/>
              </a:rPr>
              <a:t>With 20% of nodes removed: 78% stays connected at random, 44% under degree attack, 2% under adaptive attack.</a:t>
            </a:r>
            <a:endParaRPr lang="en-US" sz="1200" dirty="0"/>
          </a:p>
        </p:txBody>
      </p:sp>
      <p:sp>
        <p:nvSpPr>
          <p:cNvPr id="20" name="Limits and next steps"/>
          <p:cNvSpPr txBox="1"/>
          <p:nvPr/>
        </p:nvSpPr>
        <p:spPr>
          <a:xfrm>
            <a:off x="812810" y="4921209"/>
            <a:ext cx="10566441" cy="698510"/>
          </a:xfrm>
          <a:prstGeom prst="rect">
            <a:avLst/>
          </a:prstGeom>
          <a:noFill/>
          <a:ln/>
        </p:spPr>
        <p:txBody>
          <a:bodyPr wrap="square" lIns="0" tIns="0" rIns="0" bIns="0" rtlCol="0" anchor="t"/>
          <a:lstStyle/>
          <a:p>
            <a:pPr marL="0" indent="0">
              <a:lnSpc>
                <a:spcPct val="125000"/>
              </a:lnSpc>
              <a:buNone/>
            </a:pPr>
            <a:r>
              <a:rPr lang="en-US" sz="1200" b="1" dirty="0">
                <a:solidFill>
                  <a:srgbClr val="F2F4F8"/>
                </a:solidFill>
                <a:latin typeface="Arial" pitchFamily="34" charset="0"/>
                <a:ea typeface="Arial" pitchFamily="34" charset="-122"/>
                <a:cs typeface="Arial" pitchFamily="34" charset="-120"/>
              </a:rPr>
              <a:t>Limits: </a:t>
            </a:r>
            <a:r>
              <a:rPr lang="en-US" sz="1200" dirty="0">
                <a:solidFill>
                  <a:srgbClr val="B4BCCB"/>
                </a:solidFill>
                <a:latin typeface="Arial" pitchFamily="34" charset="0"/>
                <a:ea typeface="Arial" pitchFamily="34" charset="-122"/>
                <a:cs typeface="Arial" pitchFamily="34" charset="-120"/>
              </a:rPr>
              <a:t>18% of links come from string matching and 3% from a language model; grammar points are under-linked; lesson links in the Louvain weights inflate lesson NMI; one static snapshot. </a:t>
            </a:r>
            <a:r>
              <a:rPr lang="en-US" sz="1200" b="1" dirty="0">
                <a:solidFill>
                  <a:srgbClr val="F2F4F8"/>
                </a:solidFill>
                <a:latin typeface="Arial" pitchFamily="34" charset="0"/>
                <a:ea typeface="Arial" pitchFamily="34" charset="-122"/>
                <a:cs typeface="Arial" pitchFamily="34" charset="-120"/>
              </a:rPr>
              <a:t>Next: </a:t>
            </a:r>
            <a:r>
              <a:rPr lang="en-US" sz="1200" dirty="0">
                <a:solidFill>
                  <a:srgbClr val="B4BCCB"/>
                </a:solidFill>
                <a:latin typeface="Arial" pitchFamily="34" charset="0"/>
                <a:ea typeface="Arial" pitchFamily="34" charset="-122"/>
                <a:cs typeface="Arial" pitchFamily="34" charset="-120"/>
              </a:rPr>
              <a:t>weighted and directed links, lesson-by-lesson growth to test preferential attachment, and HSK 4–6.</a:t>
            </a:r>
            <a:endParaRPr lang="en-US" sz="1200" dirty="0"/>
          </a:p>
        </p:txBody>
      </p:sp>
      <p:sp>
        <p:nvSpPr>
          <p:cNvPr id="25" name="Slide Number Placeholder 0"/>
          <p:cNvSpPr>
            <a:spLocks noGrp="1"/>
          </p:cNvSpPr>
          <p:nvPr>
            <p:ph type="sldNum" sz="quarter" idx="4294967295"/>
          </p:nvPr>
        </p:nvSpPr>
        <p:spPr>
          <a:xfrm>
            <a:off x="10109241" y="6235659"/>
            <a:ext cx="1270010" cy="21589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7C8699"/>
                </a:solidFill>
                <a:latin typeface="Consolas"/>
                <a:ea typeface="Consolas"/>
                <a:cs typeface="Consolas"/>
              </a:defRPr>
            </a:lvl1pPr>
          </a:lstStyle>
          <a:p>
            <a:pPr algn="r"/>
            <a:fld id="{F7021451-1387-4CA6-816F-3879F97B5CBC}" type="slidenum">
              <a:rPr lang="en-US" b="0"/>
              <a:t>11</a:t>
            </a:fld>
            <a:endParaRPr lang="en-US"/>
          </a:p>
        </p:txBody>
      </p:sp>
    </p:spTree>
  </p:cSld>
  <p:clrMapOvr>
    <a:masterClrMapping/>
  </p:clrMapOvr>
</p:sld>
</file>

<file path=ppt/theme/theme1.xml><?xml version="1.0" encoding="utf-8"?>
<a:theme xmlns:a="http://schemas.openxmlformats.org/drawingml/2006/main" name="HSK-ShiFu Network">
  <a:themeElements>
    <a:clrScheme name="HSK-ShiFu Network">
      <a:dk1>
        <a:srgbClr val="07090E"/>
      </a:dk1>
      <a:lt1>
        <a:srgbClr val="F2F4F8"/>
      </a:lt1>
      <a:dk2>
        <a:srgbClr val="10141C"/>
      </a:dk2>
      <a:lt2>
        <a:srgbClr val="B4BCCB"/>
      </a:lt2>
      <a:accent1>
        <a:srgbClr val="3987E5"/>
      </a:accent1>
      <a:accent2>
        <a:srgbClr val="D95926"/>
      </a:accent2>
      <a:accent3>
        <a:srgbClr val="199E70"/>
      </a:accent3>
      <a:accent4>
        <a:srgbClr val="C98500"/>
      </a:accent4>
      <a:accent5>
        <a:srgbClr val="D55181"/>
      </a:accent5>
      <a:accent6>
        <a:srgbClr val="9085E9"/>
      </a:accent6>
      <a:hlink>
        <a:srgbClr val="6AA5EE"/>
      </a:hlink>
      <a:folHlink>
        <a:srgbClr val="9085E9"/>
      </a:folHlink>
    </a:clrScheme>
    <a:fontScheme name="HSK-ShiFu Networ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TotalTime>
  <Words>3089</Words>
  <Application>Microsoft Office PowerPoint</Application>
  <PresentationFormat>Widescreen</PresentationFormat>
  <Paragraphs>271</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Consolas</vt:lpstr>
      <vt:lpstr>HSK-ShiFu Network</vt:lpstr>
      <vt:lpstr>PowerPoint Presentation</vt:lpstr>
      <vt:lpstr>Is a textbook a complex network?</vt:lpstr>
      <vt:lpstr>5,379 teaching units, 32,076 relations</vt:lpstr>
      <vt:lpstr>The indicators, and how each was tested</vt:lpstr>
      <vt:lpstr>A few function words are the hubs</vt:lpstr>
      <vt:lpstr>Any two units are about 3.5 steps apart</vt:lpstr>
      <vt:lpstr>The same hubs win on every measure</vt:lpstr>
      <vt:lpstr>Communities follow lessons, not levels</vt:lpstr>
      <vt:lpstr>Robust to failure, fragile to attack</vt:lpstr>
      <vt:lpstr>What the structure means for learning</vt:lpstr>
      <vt:lpstr>Four questions, four answers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HSK-ShiFu: Network Science Final Project</dc:title>
  <dc:subject>Introduction to Network Science, final project</dc:subject>
  <dc:creator>M Samiul Hasnat</dc:creator>
  <cp:lastModifiedBy>sam</cp:lastModifiedBy>
  <cp:revision>2</cp:revision>
  <dcterms:created xsi:type="dcterms:W3CDTF">2026-10-26T02:45:52Z</dcterms:created>
  <dcterms:modified xsi:type="dcterms:W3CDTF">2026-10-26T03:28:39Z</dcterms:modified>
</cp:coreProperties>
</file>